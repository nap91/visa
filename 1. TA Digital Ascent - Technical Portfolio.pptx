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TA Digital Ascent — what the platform is, what it is made of, and how it was sold and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Ascent is both a product and a platform. Knowledge of it is not knowledge of any single Adobe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components, one system. A change in any one propagates through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technologies integrated within Ascent, grouped by the function they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each dependent on the one above and below it. The complexity is vertical, not lateral.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price, fixed scope, fixed duration. Measurement and data architecture had to be right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Ascent's commercial record: fixed-price, fixed-scope engagements sold across six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across thirteen two-week sprints. Data Architect was a defined, scoped role in the packaged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Company-built assets. Knowledge of them exists only through work at TA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Ascent was an established, Adobe-validated platform before I joined. What I acquired after joining was the company-specific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my role in Ascent, and how the company-specific knowledge was developed.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Architect. The data layer could not be designed or debugged without understanding the three Ascent components it connected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distinction. Industry knowledge versus company-specific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architecture immersion. What the stage focused on, and what I could not yet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the point at which industry knowledge converted into company-specific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advanced cross-functional responsibility, and what had changed since stage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four: subject-matter expertise and knowledge transfer. Approximately 27 months of sustained full-time Ascent experience underpin the progression.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areas of advanced knowledge, set out using the company's own capability taxonomy.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is organised using the company's own capability taxonomy rather than generic industry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Capture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value can be technically valid at one point in the chain and still produce a semantically incorrect result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Management and Profiling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technically demanding area. Configuring a merge policy is not the difficult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Activation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audience is the visible output of a long chain. Understanding the dependencies is what constituted advanced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Intelligence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architecture had to be correct at design time; there was no commercial provision for rebuilding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connective layer: integration surfaces radiating out from Ascent.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Ascent components against five capability areas. Cells are left open for the dependency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 working knowledge across all three components; deepest in the layers that connect the solution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contribution by component and by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Legend for the section: the four modes of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at the intersection of the AEM application and the wider Ascent data and marketing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Movement, transformation, validation and integration of data between commerce and the wider Ascent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Closest to my deepest specialization.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as Technical Architect on a proposed account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Estimating a fixed-price implementation required knowing what the integrated build actually involves.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interconnected capabilities: Audience, Behavior, Paid Marketing Activities, Conversions and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what I did, what made it difficult, how I acquired it, and why it is not quickly transferable.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Behavioural measurement crossed several layers; a technically valid value at one layer could still create a semantically incorrect result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Paid marketing was not isolated from the rest of Ascent.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conversion and acquisition data moved through Ascent's integrated architecture, and what depended on it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technical review and approval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Recurring quality gates within Ascent development, maintenance, customization, code review and release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defined review procedures and what each protects.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error diagnostics and source-to-CDP sanity testing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Merge-policy review, content-variation validation, and events/data-elements/data-layer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could not be approved for deployment when a critical quality gate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seven: why this knowledge is advanced.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this section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contrast: what an experienced Adobe engineer knows, and what Ascent-specific knowledge additionally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Representative problem one: data ingestion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Representative problem two: unified profile and merge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Representative problem three: behavioural tracking and targeting inconsistency.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arguments why product training is not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length of the transfer list is itself the point. It is the same list a replacement would have to work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eight: from Ascent expertise to continued technical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Ascent is where this specialized knowledge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Ascent knowledge continues to be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direction of Ascent's evolution is toward precisely the layers in which my specialization is deepest.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seven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evidence source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5F6"/>
        </a:solidFill>
      </p:bgPr>
    </p:bg>
    <p:spTree>
      <p:nvGrpSpPr>
        <p:cNvPr id="1" name=""/>
        <p:cNvGrpSpPr/>
        <p:nvPr/>
      </p:nvGrpSpPr>
      <p:grpSpPr>
        <a:xfrm>
          <a:off x="0" y="0"/>
          <a:ext cx="0" cy="0"/>
          <a:chOff x="0" y="0"/>
          <a:chExt cx="0" cy="0"/>
        </a:xfrm>
      </p:grpSpPr>
      <p:sp>
        <p:nvSpPr>
          <p:cNvPr id="2" name="Text 0"/>
          <p:cNvSpPr/>
          <p:nvPr/>
        </p:nvSpPr>
        <p:spPr>
          <a:xfrm>
            <a:off x="800100" y="800100"/>
            <a:ext cx="222155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spc="-15" kern="0" dirty="0">
                <a:solidFill>
                  <a:srgbClr val="131313"/>
                </a:solidFill>
                <a:latin typeface="Arial" pitchFamily="34" charset="0"/>
                <a:ea typeface="Arial" pitchFamily="34" charset="-122"/>
                <a:cs typeface="Arial" pitchFamily="34" charset="-120"/>
              </a:rPr>
              <a:t>Navdeep Pandey</a:t>
            </a:r>
            <a:endParaRPr lang="en-US" sz="2100" dirty="0"/>
          </a:p>
        </p:txBody>
      </p:sp>
      <p:sp>
        <p:nvSpPr>
          <p:cNvPr id="3" name="Text 1"/>
          <p:cNvSpPr/>
          <p:nvPr/>
        </p:nvSpPr>
        <p:spPr>
          <a:xfrm>
            <a:off x="800100" y="1685925"/>
            <a:ext cx="15087600" cy="742950"/>
          </a:xfrm>
          <a:prstGeom prst="rect">
            <a:avLst/>
          </a:prstGeom>
          <a:noFill/>
          <a:ln/>
        </p:spPr>
        <p:txBody>
          <a:bodyPr wrap="square" lIns="25400" tIns="25400" rIns="25400" bIns="25400" rtlCol="0" anchor="t">
            <a:normAutofit/>
          </a:bodyPr>
          <a:lstStyle/>
          <a:p>
            <a:pPr algn="l" indent="0" marL="0">
              <a:lnSpc>
                <a:spcPct val="100324"/>
              </a:lnSpc>
              <a:buNone/>
            </a:pPr>
            <a:r>
              <a:rPr lang="en-US" sz="4800" b="1" spc="-112" kern="0" dirty="0">
                <a:solidFill>
                  <a:srgbClr val="131313"/>
                </a:solidFill>
                <a:latin typeface="Arial" pitchFamily="34" charset="0"/>
                <a:ea typeface="Arial" pitchFamily="34" charset="-122"/>
                <a:cs typeface="Arial" pitchFamily="34" charset="-120"/>
              </a:rPr>
              <a:t>TA DIGITAL ASCENT</a:t>
            </a:r>
            <a:endParaRPr lang="en-US" sz="4800" dirty="0"/>
          </a:p>
        </p:txBody>
      </p:sp>
      <p:sp>
        <p:nvSpPr>
          <p:cNvPr id="4" name="Text 2"/>
          <p:cNvSpPr/>
          <p:nvPr/>
        </p:nvSpPr>
        <p:spPr>
          <a:xfrm>
            <a:off x="800100" y="2524125"/>
            <a:ext cx="15087600" cy="742950"/>
          </a:xfrm>
          <a:prstGeom prst="rect">
            <a:avLst/>
          </a:prstGeom>
          <a:noFill/>
          <a:ln/>
        </p:spPr>
        <p:txBody>
          <a:bodyPr wrap="square" lIns="25400" tIns="25400" rIns="25400" bIns="25400" rtlCol="0" anchor="t">
            <a:normAutofit/>
          </a:bodyPr>
          <a:lstStyle/>
          <a:p>
            <a:pPr algn="l" indent="0" marL="0">
              <a:lnSpc>
                <a:spcPct val="100324"/>
              </a:lnSpc>
              <a:buNone/>
            </a:pPr>
            <a:r>
              <a:rPr lang="en-US" sz="4800" b="1" spc="-112" kern="0" dirty="0">
                <a:solidFill>
                  <a:srgbClr val="131313"/>
                </a:solidFill>
                <a:latin typeface="Arial" pitchFamily="34" charset="0"/>
                <a:ea typeface="Arial" pitchFamily="34" charset="-122"/>
                <a:cs typeface="Arial" pitchFamily="34" charset="-120"/>
              </a:rPr>
              <a:t>Specialized Knowledge Technical Portfolio</a:t>
            </a:r>
            <a:endParaRPr lang="en-US" sz="4800" dirty="0"/>
          </a:p>
        </p:txBody>
      </p:sp>
      <p:pic>
        <p:nvPicPr>
          <p:cNvPr id="5" name="Image 0" descr="preencoded.png">    </p:cNvPr>
          <p:cNvPicPr>
            <a:picLocks noChangeAspect="1"/>
          </p:cNvPicPr>
          <p:nvPr/>
        </p:nvPicPr>
        <p:blipFill>
          <a:blip r:embed="rId1"/>
          <a:stretch>
            <a:fillRect/>
          </a:stretch>
        </p:blipFill>
        <p:spPr>
          <a:xfrm>
            <a:off x="800100" y="7572375"/>
            <a:ext cx="16383000" cy="2617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02</a:t>
            </a:r>
            <a:endParaRPr lang="en-US" sz="9900" dirty="0"/>
          </a:p>
        </p:txBody>
      </p:sp>
      <p:sp>
        <p:nvSpPr>
          <p:cNvPr id="5" name="Text 2"/>
          <p:cNvSpPr/>
          <p:nvPr/>
        </p:nvSpPr>
        <p:spPr>
          <a:xfrm>
            <a:off x="800100" y="5581650"/>
            <a:ext cx="13391674" cy="33147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TA Digital Ascent</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What Ascent is</a:t>
            </a:r>
            <a:endParaRPr lang="en-US" sz="3900" dirty="0"/>
          </a:p>
        </p:txBody>
      </p:sp>
      <p:sp>
        <p:nvSpPr>
          <p:cNvPr id="5" name="Shape 2"/>
          <p:cNvSpPr/>
          <p:nvPr/>
        </p:nvSpPr>
        <p:spPr>
          <a:xfrm>
            <a:off x="800100" y="2133600"/>
            <a:ext cx="7620000" cy="4400550"/>
          </a:xfrm>
          <a:prstGeom prst="rect">
            <a:avLst/>
          </a:prstGeom>
          <a:solidFill>
            <a:srgbClr val="F2F5F6"/>
          </a:solidFill>
          <a:ln/>
        </p:spPr>
      </p:sp>
      <p:sp>
        <p:nvSpPr>
          <p:cNvPr id="6" name="Text 3"/>
          <p:cNvSpPr/>
          <p:nvPr/>
        </p:nvSpPr>
        <p:spPr>
          <a:xfrm>
            <a:off x="1333500" y="2667000"/>
            <a:ext cx="6749796" cy="2838450"/>
          </a:xfrm>
          <a:prstGeom prst="rect">
            <a:avLst/>
          </a:prstGeom>
          <a:noFill/>
          <a:ln/>
        </p:spPr>
        <p:txBody>
          <a:bodyPr wrap="square" lIns="25400" tIns="25400" rIns="25400" bIns="25400" rtlCol="0" anchor="t">
            <a:normAutofit/>
          </a:bodyPr>
          <a:lstStyle/>
          <a:p>
            <a:pPr algn="l" indent="0" marL="0">
              <a:lnSpc>
                <a:spcPct val="125294"/>
              </a:lnSpc>
              <a:buNone/>
            </a:pPr>
            <a:r>
              <a:rPr lang="en-US" sz="2250" spc="-22" kern="0" dirty="0">
                <a:solidFill>
                  <a:srgbClr val="131313"/>
                </a:solidFill>
                <a:latin typeface="Arial" pitchFamily="34" charset="0"/>
                <a:ea typeface="Arial" pitchFamily="34" charset="-122"/>
                <a:cs typeface="Arial" pitchFamily="34" charset="-120"/>
              </a:rPr>
              <a:t>“TA Digital Ascent is both a proprietary product of TA Digital and a proprietary tool used by TA Digital’s employees. It is an eCommerce Web Application based on industry-leading practices… Among the components of TA Digital Ascent are an eCommerce AEM web application, an eCommerce Connector, and a digital marketing connector.”</a:t>
            </a:r>
            <a:endParaRPr lang="en-US" sz="2250" dirty="0"/>
          </a:p>
        </p:txBody>
      </p:sp>
      <p:sp>
        <p:nvSpPr>
          <p:cNvPr id="7" name="Text 4"/>
          <p:cNvSpPr/>
          <p:nvPr/>
        </p:nvSpPr>
        <p:spPr>
          <a:xfrm>
            <a:off x="1333500" y="5810250"/>
            <a:ext cx="720852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a:t>
            </a:r>
            <a:endParaRPr lang="en-US" sz="1500" dirty="0"/>
          </a:p>
        </p:txBody>
      </p:sp>
      <p:sp>
        <p:nvSpPr>
          <p:cNvPr id="8" name="Text 5"/>
          <p:cNvSpPr/>
          <p:nvPr/>
        </p:nvSpPr>
        <p:spPr>
          <a:xfrm>
            <a:off x="9220200" y="2133600"/>
            <a:ext cx="909447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30" kern="0" dirty="0">
                <a:solidFill>
                  <a:srgbClr val="131313"/>
                </a:solidFill>
                <a:latin typeface="Arial" pitchFamily="34" charset="0"/>
                <a:ea typeface="Arial" pitchFamily="34" charset="-122"/>
                <a:cs typeface="Arial" pitchFamily="34" charset="-120"/>
              </a:rPr>
              <a:t>Two things follow from that definition, and both matter.</a:t>
            </a:r>
            <a:endParaRPr lang="en-US" sz="2400" dirty="0"/>
          </a:p>
        </p:txBody>
      </p:sp>
      <p:sp>
        <p:nvSpPr>
          <p:cNvPr id="9" name="Text 6"/>
          <p:cNvSpPr/>
          <p:nvPr/>
        </p:nvSpPr>
        <p:spPr>
          <a:xfrm>
            <a:off x="9220200" y="2828925"/>
            <a:ext cx="8515731"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Ascent is a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product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 a pre-built, company-owned software asset that TA Digital engineers apply and customise to client requirements. It is also a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platform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on which fixed-price, fixed-scope packaged offerings are sold.</a:t>
            </a:r>
            <a:endParaRPr lang="en-US" sz="1800" dirty="0"/>
          </a:p>
        </p:txBody>
      </p:sp>
      <p:sp>
        <p:nvSpPr>
          <p:cNvPr id="10" name="Text 7"/>
          <p:cNvSpPr/>
          <p:nvPr/>
        </p:nvSpPr>
        <p:spPr>
          <a:xfrm>
            <a:off x="9220200" y="4162425"/>
            <a:ext cx="8515731"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Knowledge of Ascent is therefore not knowledge of any single Adobe application. It is knowledge of how one company assembled, connected, customised and operated many of them as a single proprietary solution.</a:t>
            </a:r>
            <a:endParaRPr lang="en-US" sz="1800" dirty="0"/>
          </a:p>
        </p:txBody>
      </p:sp>
      <p:sp>
        <p:nvSpPr>
          <p:cNvPr id="11" name="Text 8"/>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2" name="Text 9"/>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3" name="Text 10"/>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three components</a:t>
            </a:r>
            <a:endParaRPr lang="en-US" sz="3900" dirty="0"/>
          </a:p>
        </p:txBody>
      </p:sp>
      <p:sp>
        <p:nvSpPr>
          <p:cNvPr id="5" name="Shape 2"/>
          <p:cNvSpPr/>
          <p:nvPr/>
        </p:nvSpPr>
        <p:spPr>
          <a:xfrm>
            <a:off x="800100" y="2133600"/>
            <a:ext cx="5334000" cy="4305300"/>
          </a:xfrm>
          <a:prstGeom prst="rect">
            <a:avLst/>
          </a:prstGeom>
          <a:solidFill>
            <a:srgbClr val="F2F5F6"/>
          </a:solidFill>
          <a:ln/>
        </p:spPr>
      </p:sp>
      <p:sp>
        <p:nvSpPr>
          <p:cNvPr id="6" name="Shape 3"/>
          <p:cNvSpPr/>
          <p:nvPr/>
        </p:nvSpPr>
        <p:spPr>
          <a:xfrm>
            <a:off x="1257300" y="2590800"/>
            <a:ext cx="200025" cy="200025"/>
          </a:xfrm>
          <a:prstGeom prst="rect">
            <a:avLst/>
          </a:prstGeom>
          <a:solidFill>
            <a:srgbClr val="FF532C"/>
          </a:solidFill>
          <a:ln/>
        </p:spPr>
      </p:sp>
      <p:sp>
        <p:nvSpPr>
          <p:cNvPr id="7" name="Text 4"/>
          <p:cNvSpPr/>
          <p:nvPr/>
        </p:nvSpPr>
        <p:spPr>
          <a:xfrm>
            <a:off x="1257300" y="3095625"/>
            <a:ext cx="4552188"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eCommerce AEM Web Application</a:t>
            </a:r>
            <a:endParaRPr lang="en-US" sz="2400" dirty="0"/>
          </a:p>
        </p:txBody>
      </p:sp>
      <p:sp>
        <p:nvSpPr>
          <p:cNvPr id="8" name="Text 5"/>
          <p:cNvSpPr/>
          <p:nvPr/>
        </p:nvSpPr>
        <p:spPr>
          <a:xfrm>
            <a:off x="1257300" y="4124325"/>
            <a:ext cx="4552188" cy="17526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 customer-facing experience layer, built on Adobe Experience Manager and deployed on Adobe Managed Services, extending Adobe core components with TA Digital’s own accelerator component library</a:t>
            </a:r>
            <a:endParaRPr lang="en-US" sz="1800" dirty="0"/>
          </a:p>
        </p:txBody>
      </p:sp>
      <p:sp>
        <p:nvSpPr>
          <p:cNvPr id="9" name="Shape 6"/>
          <p:cNvSpPr/>
          <p:nvPr/>
        </p:nvSpPr>
        <p:spPr>
          <a:xfrm>
            <a:off x="6477000" y="2133600"/>
            <a:ext cx="5334000" cy="4305300"/>
          </a:xfrm>
          <a:prstGeom prst="rect">
            <a:avLst/>
          </a:prstGeom>
          <a:solidFill>
            <a:srgbClr val="F2F5F6"/>
          </a:solidFill>
          <a:ln/>
        </p:spPr>
      </p:sp>
      <p:sp>
        <p:nvSpPr>
          <p:cNvPr id="10" name="Shape 7"/>
          <p:cNvSpPr/>
          <p:nvPr/>
        </p:nvSpPr>
        <p:spPr>
          <a:xfrm>
            <a:off x="6934200" y="2590800"/>
            <a:ext cx="200025" cy="200025"/>
          </a:xfrm>
          <a:prstGeom prst="rect">
            <a:avLst/>
          </a:prstGeom>
          <a:solidFill>
            <a:srgbClr val="FF532C"/>
          </a:solidFill>
          <a:ln/>
        </p:spPr>
      </p:sp>
      <p:sp>
        <p:nvSpPr>
          <p:cNvPr id="11" name="Text 8"/>
          <p:cNvSpPr/>
          <p:nvPr/>
        </p:nvSpPr>
        <p:spPr>
          <a:xfrm>
            <a:off x="6934200" y="3095625"/>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eCommerce Connector</a:t>
            </a:r>
            <a:endParaRPr lang="en-US" sz="2400" dirty="0"/>
          </a:p>
        </p:txBody>
      </p:sp>
      <p:sp>
        <p:nvSpPr>
          <p:cNvPr id="12" name="Text 9"/>
          <p:cNvSpPr/>
          <p:nvPr/>
        </p:nvSpPr>
        <p:spPr>
          <a:xfrm>
            <a:off x="6934200" y="3743325"/>
            <a:ext cx="4552188" cy="14097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 integration layer moving commerce and customer-interaction data between the storefront, the data platform and downstream systems</a:t>
            </a:r>
            <a:endParaRPr lang="en-US" sz="1800" dirty="0"/>
          </a:p>
        </p:txBody>
      </p:sp>
      <p:sp>
        <p:nvSpPr>
          <p:cNvPr id="13" name="Shape 10"/>
          <p:cNvSpPr/>
          <p:nvPr/>
        </p:nvSpPr>
        <p:spPr>
          <a:xfrm>
            <a:off x="12153900" y="2133600"/>
            <a:ext cx="5334000" cy="4305300"/>
          </a:xfrm>
          <a:prstGeom prst="rect">
            <a:avLst/>
          </a:prstGeom>
          <a:solidFill>
            <a:srgbClr val="F2F5F6"/>
          </a:solidFill>
          <a:ln/>
        </p:spPr>
      </p:sp>
      <p:sp>
        <p:nvSpPr>
          <p:cNvPr id="14" name="Shape 11"/>
          <p:cNvSpPr/>
          <p:nvPr/>
        </p:nvSpPr>
        <p:spPr>
          <a:xfrm>
            <a:off x="12611100" y="2590800"/>
            <a:ext cx="200025" cy="200025"/>
          </a:xfrm>
          <a:prstGeom prst="rect">
            <a:avLst/>
          </a:prstGeom>
          <a:solidFill>
            <a:srgbClr val="FF532C"/>
          </a:solidFill>
          <a:ln/>
        </p:spPr>
      </p:sp>
      <p:sp>
        <p:nvSpPr>
          <p:cNvPr id="15" name="Text 12"/>
          <p:cNvSpPr/>
          <p:nvPr/>
        </p:nvSpPr>
        <p:spPr>
          <a:xfrm>
            <a:off x="12611100" y="3095625"/>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Digital Marketing Connector</a:t>
            </a:r>
            <a:endParaRPr lang="en-US" sz="2400" dirty="0"/>
          </a:p>
        </p:txBody>
      </p:sp>
      <p:sp>
        <p:nvSpPr>
          <p:cNvPr id="16" name="Text 13"/>
          <p:cNvSpPr/>
          <p:nvPr/>
        </p:nvSpPr>
        <p:spPr>
          <a:xfrm>
            <a:off x="12611100" y="3743325"/>
            <a:ext cx="4552188" cy="14097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 marketing, measurement and activation layer connecting analytics, customer data, identity, audience, personalization and campaign technologies</a:t>
            </a:r>
            <a:endParaRPr lang="en-US" sz="1800" dirty="0"/>
          </a:p>
        </p:txBody>
      </p:sp>
      <p:sp>
        <p:nvSpPr>
          <p:cNvPr id="17" name="Text 14"/>
          <p:cNvSpPr/>
          <p:nvPr/>
        </p:nvSpPr>
        <p:spPr>
          <a:xfrm>
            <a:off x="800100" y="6781800"/>
            <a:ext cx="343220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a:t>
            </a:r>
            <a:endParaRPr lang="en-US" sz="1500" dirty="0"/>
          </a:p>
        </p:txBody>
      </p:sp>
      <p:sp>
        <p:nvSpPr>
          <p:cNvPr id="18" name="Text 15"/>
          <p:cNvSpPr/>
          <p:nvPr/>
        </p:nvSpPr>
        <p:spPr>
          <a:xfrm>
            <a:off x="800100" y="7353300"/>
            <a:ext cx="1373505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These are not three independent products. A change in any one propagates through the other two. That propagation behaviour is the substance of Ascent-specific knowledge.</a:t>
            </a:r>
            <a:endParaRPr lang="en-US" sz="1800" dirty="0"/>
          </a:p>
        </p:txBody>
      </p:sp>
      <p:sp>
        <p:nvSpPr>
          <p:cNvPr id="19" name="Text 1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0" name="Text 1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1" name="Text 18"/>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integrated technology stack</a:t>
            </a:r>
            <a:endParaRPr lang="en-US" sz="3900" dirty="0"/>
          </a:p>
        </p:txBody>
      </p:sp>
      <p:sp>
        <p:nvSpPr>
          <p:cNvPr id="5" name="Shape 2"/>
          <p:cNvSpPr/>
          <p:nvPr/>
        </p:nvSpPr>
        <p:spPr>
          <a:xfrm>
            <a:off x="800100" y="2486025"/>
            <a:ext cx="4381500" cy="19050"/>
          </a:xfrm>
          <a:prstGeom prst="rect">
            <a:avLst/>
          </a:prstGeom>
          <a:solidFill>
            <a:srgbClr val="131313"/>
          </a:solidFill>
          <a:ln/>
        </p:spPr>
      </p:sp>
      <p:sp>
        <p:nvSpPr>
          <p:cNvPr id="6" name="Text 3"/>
          <p:cNvSpPr/>
          <p:nvPr/>
        </p:nvSpPr>
        <p:spPr>
          <a:xfrm>
            <a:off x="800100" y="2057400"/>
            <a:ext cx="4512945"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FUNCTION</a:t>
            </a:r>
            <a:endParaRPr lang="en-US" sz="1650" dirty="0"/>
          </a:p>
        </p:txBody>
      </p:sp>
      <p:sp>
        <p:nvSpPr>
          <p:cNvPr id="7" name="Shape 4"/>
          <p:cNvSpPr/>
          <p:nvPr/>
        </p:nvSpPr>
        <p:spPr>
          <a:xfrm>
            <a:off x="5181600" y="2486025"/>
            <a:ext cx="12306300" cy="19050"/>
          </a:xfrm>
          <a:prstGeom prst="rect">
            <a:avLst/>
          </a:prstGeom>
          <a:solidFill>
            <a:srgbClr val="131313"/>
          </a:solidFill>
          <a:ln/>
        </p:spPr>
      </p:sp>
      <p:sp>
        <p:nvSpPr>
          <p:cNvPr id="8" name="Text 5"/>
          <p:cNvSpPr/>
          <p:nvPr/>
        </p:nvSpPr>
        <p:spPr>
          <a:xfrm>
            <a:off x="5562600" y="2057400"/>
            <a:ext cx="1229448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TECHNOLOGIES INTEGRATED WITHIN ASCENT</a:t>
            </a:r>
            <a:endParaRPr lang="en-US" sz="1650" dirty="0"/>
          </a:p>
        </p:txBody>
      </p:sp>
      <p:sp>
        <p:nvSpPr>
          <p:cNvPr id="9" name="Shape 6"/>
          <p:cNvSpPr/>
          <p:nvPr/>
        </p:nvSpPr>
        <p:spPr>
          <a:xfrm>
            <a:off x="800100" y="3314700"/>
            <a:ext cx="4381500" cy="9525"/>
          </a:xfrm>
          <a:prstGeom prst="rect">
            <a:avLst/>
          </a:prstGeom>
          <a:solidFill>
            <a:srgbClr val="131313">
              <a:alpha val="14000"/>
            </a:srgbClr>
          </a:solidFill>
          <a:ln/>
        </p:spPr>
      </p:sp>
      <p:sp>
        <p:nvSpPr>
          <p:cNvPr id="10" name="Text 7"/>
          <p:cNvSpPr/>
          <p:nvPr/>
        </p:nvSpPr>
        <p:spPr>
          <a:xfrm>
            <a:off x="800100" y="275272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Content and experience</a:t>
            </a:r>
            <a:endParaRPr lang="en-US" sz="1800" dirty="0"/>
          </a:p>
        </p:txBody>
      </p:sp>
      <p:sp>
        <p:nvSpPr>
          <p:cNvPr id="11" name="Shape 8"/>
          <p:cNvSpPr/>
          <p:nvPr/>
        </p:nvSpPr>
        <p:spPr>
          <a:xfrm>
            <a:off x="5181600" y="3314700"/>
            <a:ext cx="12306300" cy="9525"/>
          </a:xfrm>
          <a:prstGeom prst="rect">
            <a:avLst/>
          </a:prstGeom>
          <a:solidFill>
            <a:srgbClr val="131313">
              <a:alpha val="14000"/>
            </a:srgbClr>
          </a:solidFill>
          <a:ln/>
        </p:spPr>
      </p:sp>
      <p:sp>
        <p:nvSpPr>
          <p:cNvPr id="12" name="Text 9"/>
          <p:cNvSpPr/>
          <p:nvPr/>
        </p:nvSpPr>
        <p:spPr>
          <a:xfrm>
            <a:off x="5562600" y="275272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Experience Manager · Apache Solr</a:t>
            </a:r>
            <a:endParaRPr lang="en-US" sz="1800" dirty="0"/>
          </a:p>
        </p:txBody>
      </p:sp>
      <p:sp>
        <p:nvSpPr>
          <p:cNvPr id="13" name="Shape 10"/>
          <p:cNvSpPr/>
          <p:nvPr/>
        </p:nvSpPr>
        <p:spPr>
          <a:xfrm>
            <a:off x="800100" y="4133850"/>
            <a:ext cx="4381500" cy="9525"/>
          </a:xfrm>
          <a:prstGeom prst="rect">
            <a:avLst/>
          </a:prstGeom>
          <a:solidFill>
            <a:srgbClr val="131313">
              <a:alpha val="14000"/>
            </a:srgbClr>
          </a:solidFill>
          <a:ln/>
        </p:spPr>
      </p:sp>
      <p:sp>
        <p:nvSpPr>
          <p:cNvPr id="14" name="Text 11"/>
          <p:cNvSpPr/>
          <p:nvPr/>
        </p:nvSpPr>
        <p:spPr>
          <a:xfrm>
            <a:off x="800100" y="357187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Commerce</a:t>
            </a:r>
            <a:endParaRPr lang="en-US" sz="1800" dirty="0"/>
          </a:p>
        </p:txBody>
      </p:sp>
      <p:sp>
        <p:nvSpPr>
          <p:cNvPr id="15" name="Shape 12"/>
          <p:cNvSpPr/>
          <p:nvPr/>
        </p:nvSpPr>
        <p:spPr>
          <a:xfrm>
            <a:off x="5181600" y="4133850"/>
            <a:ext cx="12306300" cy="9525"/>
          </a:xfrm>
          <a:prstGeom prst="rect">
            <a:avLst/>
          </a:prstGeom>
          <a:solidFill>
            <a:srgbClr val="131313">
              <a:alpha val="14000"/>
            </a:srgbClr>
          </a:solidFill>
          <a:ln/>
        </p:spPr>
      </p:sp>
      <p:sp>
        <p:nvSpPr>
          <p:cNvPr id="16" name="Text 13"/>
          <p:cNvSpPr/>
          <p:nvPr/>
        </p:nvSpPr>
        <p:spPr>
          <a:xfrm>
            <a:off x="5562600" y="357187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Commerce / Magento</a:t>
            </a:r>
            <a:endParaRPr lang="en-US" sz="1800" dirty="0"/>
          </a:p>
        </p:txBody>
      </p:sp>
      <p:sp>
        <p:nvSpPr>
          <p:cNvPr id="17" name="Shape 14"/>
          <p:cNvSpPr/>
          <p:nvPr/>
        </p:nvSpPr>
        <p:spPr>
          <a:xfrm>
            <a:off x="800100" y="4953000"/>
            <a:ext cx="4381500" cy="9525"/>
          </a:xfrm>
          <a:prstGeom prst="rect">
            <a:avLst/>
          </a:prstGeom>
          <a:solidFill>
            <a:srgbClr val="131313">
              <a:alpha val="14000"/>
            </a:srgbClr>
          </a:solidFill>
          <a:ln/>
        </p:spPr>
      </p:sp>
      <p:sp>
        <p:nvSpPr>
          <p:cNvPr id="18" name="Text 15"/>
          <p:cNvSpPr/>
          <p:nvPr/>
        </p:nvSpPr>
        <p:spPr>
          <a:xfrm>
            <a:off x="800100" y="439102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Data collection</a:t>
            </a:r>
            <a:endParaRPr lang="en-US" sz="1800" dirty="0"/>
          </a:p>
        </p:txBody>
      </p:sp>
      <p:sp>
        <p:nvSpPr>
          <p:cNvPr id="19" name="Shape 16"/>
          <p:cNvSpPr/>
          <p:nvPr/>
        </p:nvSpPr>
        <p:spPr>
          <a:xfrm>
            <a:off x="5181600" y="4953000"/>
            <a:ext cx="12306300" cy="9525"/>
          </a:xfrm>
          <a:prstGeom prst="rect">
            <a:avLst/>
          </a:prstGeom>
          <a:solidFill>
            <a:srgbClr val="131313">
              <a:alpha val="14000"/>
            </a:srgbClr>
          </a:solidFill>
          <a:ln/>
        </p:spPr>
      </p:sp>
      <p:sp>
        <p:nvSpPr>
          <p:cNvPr id="20" name="Text 17"/>
          <p:cNvSpPr/>
          <p:nvPr/>
        </p:nvSpPr>
        <p:spPr>
          <a:xfrm>
            <a:off x="5562600" y="439102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Launch / Data Collection · web and mobile SDK · data layer</a:t>
            </a:r>
            <a:endParaRPr lang="en-US" sz="1800" dirty="0"/>
          </a:p>
        </p:txBody>
      </p:sp>
      <p:sp>
        <p:nvSpPr>
          <p:cNvPr id="21" name="Shape 18"/>
          <p:cNvSpPr/>
          <p:nvPr/>
        </p:nvSpPr>
        <p:spPr>
          <a:xfrm>
            <a:off x="800100" y="5772150"/>
            <a:ext cx="4381500" cy="9525"/>
          </a:xfrm>
          <a:prstGeom prst="rect">
            <a:avLst/>
          </a:prstGeom>
          <a:solidFill>
            <a:srgbClr val="131313">
              <a:alpha val="14000"/>
            </a:srgbClr>
          </a:solidFill>
          <a:ln/>
        </p:spPr>
      </p:sp>
      <p:sp>
        <p:nvSpPr>
          <p:cNvPr id="22" name="Text 19"/>
          <p:cNvSpPr/>
          <p:nvPr/>
        </p:nvSpPr>
        <p:spPr>
          <a:xfrm>
            <a:off x="800100" y="521017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Analytics and measurement</a:t>
            </a:r>
            <a:endParaRPr lang="en-US" sz="1800" dirty="0"/>
          </a:p>
        </p:txBody>
      </p:sp>
      <p:sp>
        <p:nvSpPr>
          <p:cNvPr id="23" name="Shape 20"/>
          <p:cNvSpPr/>
          <p:nvPr/>
        </p:nvSpPr>
        <p:spPr>
          <a:xfrm>
            <a:off x="5181600" y="5772150"/>
            <a:ext cx="12306300" cy="9525"/>
          </a:xfrm>
          <a:prstGeom prst="rect">
            <a:avLst/>
          </a:prstGeom>
          <a:solidFill>
            <a:srgbClr val="131313">
              <a:alpha val="14000"/>
            </a:srgbClr>
          </a:solidFill>
          <a:ln/>
        </p:spPr>
      </p:sp>
      <p:sp>
        <p:nvSpPr>
          <p:cNvPr id="24" name="Text 21"/>
          <p:cNvSpPr/>
          <p:nvPr/>
        </p:nvSpPr>
        <p:spPr>
          <a:xfrm>
            <a:off x="5562600" y="521017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Analytics · Customer Journey Analytics</a:t>
            </a:r>
            <a:endParaRPr lang="en-US" sz="1800" dirty="0"/>
          </a:p>
        </p:txBody>
      </p:sp>
      <p:sp>
        <p:nvSpPr>
          <p:cNvPr id="25" name="Shape 22"/>
          <p:cNvSpPr/>
          <p:nvPr/>
        </p:nvSpPr>
        <p:spPr>
          <a:xfrm>
            <a:off x="800100" y="6591300"/>
            <a:ext cx="4381500" cy="9525"/>
          </a:xfrm>
          <a:prstGeom prst="rect">
            <a:avLst/>
          </a:prstGeom>
          <a:solidFill>
            <a:srgbClr val="131313">
              <a:alpha val="14000"/>
            </a:srgbClr>
          </a:solidFill>
          <a:ln/>
        </p:spPr>
      </p:sp>
      <p:sp>
        <p:nvSpPr>
          <p:cNvPr id="26" name="Text 23"/>
          <p:cNvSpPr/>
          <p:nvPr/>
        </p:nvSpPr>
        <p:spPr>
          <a:xfrm>
            <a:off x="800100" y="602932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Customer data and identity</a:t>
            </a:r>
            <a:endParaRPr lang="en-US" sz="1800" dirty="0"/>
          </a:p>
        </p:txBody>
      </p:sp>
      <p:sp>
        <p:nvSpPr>
          <p:cNvPr id="27" name="Shape 24"/>
          <p:cNvSpPr/>
          <p:nvPr/>
        </p:nvSpPr>
        <p:spPr>
          <a:xfrm>
            <a:off x="5181600" y="6591300"/>
            <a:ext cx="12306300" cy="9525"/>
          </a:xfrm>
          <a:prstGeom prst="rect">
            <a:avLst/>
          </a:prstGeom>
          <a:solidFill>
            <a:srgbClr val="131313">
              <a:alpha val="14000"/>
            </a:srgbClr>
          </a:solidFill>
          <a:ln/>
        </p:spPr>
      </p:sp>
      <p:sp>
        <p:nvSpPr>
          <p:cNvPr id="28" name="Text 25"/>
          <p:cNvSpPr/>
          <p:nvPr/>
        </p:nvSpPr>
        <p:spPr>
          <a:xfrm>
            <a:off x="5562600" y="602932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Experience Platform · Real-Time CDP · Adobe Audience Manager</a:t>
            </a:r>
            <a:endParaRPr lang="en-US" sz="1800" dirty="0"/>
          </a:p>
        </p:txBody>
      </p:sp>
      <p:sp>
        <p:nvSpPr>
          <p:cNvPr id="29" name="Shape 26"/>
          <p:cNvSpPr/>
          <p:nvPr/>
        </p:nvSpPr>
        <p:spPr>
          <a:xfrm>
            <a:off x="800100" y="7410450"/>
            <a:ext cx="4381500" cy="9525"/>
          </a:xfrm>
          <a:prstGeom prst="rect">
            <a:avLst/>
          </a:prstGeom>
          <a:solidFill>
            <a:srgbClr val="131313">
              <a:alpha val="14000"/>
            </a:srgbClr>
          </a:solidFill>
          <a:ln/>
        </p:spPr>
      </p:sp>
      <p:sp>
        <p:nvSpPr>
          <p:cNvPr id="30" name="Text 27"/>
          <p:cNvSpPr/>
          <p:nvPr/>
        </p:nvSpPr>
        <p:spPr>
          <a:xfrm>
            <a:off x="800100" y="684847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Personalization and activation</a:t>
            </a:r>
            <a:endParaRPr lang="en-US" sz="1800" dirty="0"/>
          </a:p>
        </p:txBody>
      </p:sp>
      <p:sp>
        <p:nvSpPr>
          <p:cNvPr id="31" name="Shape 28"/>
          <p:cNvSpPr/>
          <p:nvPr/>
        </p:nvSpPr>
        <p:spPr>
          <a:xfrm>
            <a:off x="5181600" y="7410450"/>
            <a:ext cx="12306300" cy="9525"/>
          </a:xfrm>
          <a:prstGeom prst="rect">
            <a:avLst/>
          </a:prstGeom>
          <a:solidFill>
            <a:srgbClr val="131313">
              <a:alpha val="14000"/>
            </a:srgbClr>
          </a:solidFill>
          <a:ln/>
        </p:spPr>
      </p:sp>
      <p:sp>
        <p:nvSpPr>
          <p:cNvPr id="32" name="Text 29"/>
          <p:cNvSpPr/>
          <p:nvPr/>
        </p:nvSpPr>
        <p:spPr>
          <a:xfrm>
            <a:off x="5562600" y="684847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Target · Adobe Journey Optimizer · Adobe Campaign · Marketo</a:t>
            </a:r>
            <a:endParaRPr lang="en-US" sz="1800" dirty="0"/>
          </a:p>
        </p:txBody>
      </p:sp>
      <p:sp>
        <p:nvSpPr>
          <p:cNvPr id="33" name="Shape 30"/>
          <p:cNvSpPr/>
          <p:nvPr/>
        </p:nvSpPr>
        <p:spPr>
          <a:xfrm>
            <a:off x="800100" y="8229600"/>
            <a:ext cx="4381500" cy="9525"/>
          </a:xfrm>
          <a:prstGeom prst="rect">
            <a:avLst/>
          </a:prstGeom>
          <a:solidFill>
            <a:srgbClr val="131313">
              <a:alpha val="14000"/>
            </a:srgbClr>
          </a:solidFill>
          <a:ln/>
        </p:spPr>
      </p:sp>
      <p:sp>
        <p:nvSpPr>
          <p:cNvPr id="34" name="Text 31"/>
          <p:cNvSpPr/>
          <p:nvPr/>
        </p:nvSpPr>
        <p:spPr>
          <a:xfrm>
            <a:off x="800100" y="7667625"/>
            <a:ext cx="451294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Intelligence</a:t>
            </a:r>
            <a:endParaRPr lang="en-US" sz="1800" dirty="0"/>
          </a:p>
        </p:txBody>
      </p:sp>
      <p:sp>
        <p:nvSpPr>
          <p:cNvPr id="35" name="Shape 32"/>
          <p:cNvSpPr/>
          <p:nvPr/>
        </p:nvSpPr>
        <p:spPr>
          <a:xfrm>
            <a:off x="5181600" y="8229600"/>
            <a:ext cx="12306300" cy="9525"/>
          </a:xfrm>
          <a:prstGeom prst="rect">
            <a:avLst/>
          </a:prstGeom>
          <a:solidFill>
            <a:srgbClr val="131313">
              <a:alpha val="14000"/>
            </a:srgbClr>
          </a:solidFill>
          <a:ln/>
        </p:spPr>
      </p:sp>
      <p:sp>
        <p:nvSpPr>
          <p:cNvPr id="36" name="Text 33"/>
          <p:cNvSpPr/>
          <p:nvPr/>
        </p:nvSpPr>
        <p:spPr>
          <a:xfrm>
            <a:off x="5562600" y="7667625"/>
            <a:ext cx="1229448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Sensei</a:t>
            </a:r>
            <a:endParaRPr lang="en-US" sz="1800" dirty="0"/>
          </a:p>
        </p:txBody>
      </p:sp>
      <p:sp>
        <p:nvSpPr>
          <p:cNvPr id="37" name="Text 34"/>
          <p:cNvSpPr/>
          <p:nvPr/>
        </p:nvSpPr>
        <p:spPr>
          <a:xfrm>
            <a:off x="800100" y="8763000"/>
            <a:ext cx="5928628"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 TA Digital Ascent Offering</a:t>
            </a:r>
            <a:endParaRPr lang="en-US" sz="1500" dirty="0"/>
          </a:p>
        </p:txBody>
      </p:sp>
      <p:sp>
        <p:nvSpPr>
          <p:cNvPr id="38" name="Text 3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9" name="Text 3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0" name="Text 37"/>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Conceptual architecture</a:t>
            </a:r>
            <a:endParaRPr lang="en-US" sz="3900" dirty="0"/>
          </a:p>
        </p:txBody>
      </p:sp>
      <p:sp>
        <p:nvSpPr>
          <p:cNvPr id="5" name="Shape 2"/>
          <p:cNvSpPr/>
          <p:nvPr/>
        </p:nvSpPr>
        <p:spPr>
          <a:xfrm>
            <a:off x="800100" y="1866900"/>
            <a:ext cx="16687800" cy="733425"/>
          </a:xfrm>
          <a:prstGeom prst="rect">
            <a:avLst/>
          </a:prstGeom>
          <a:solidFill>
            <a:srgbClr val="F2F5F6"/>
          </a:solidFill>
          <a:ln/>
        </p:spPr>
      </p:sp>
      <p:sp>
        <p:nvSpPr>
          <p:cNvPr id="6" name="Text 3"/>
          <p:cNvSpPr/>
          <p:nvPr/>
        </p:nvSpPr>
        <p:spPr>
          <a:xfrm>
            <a:off x="1181100" y="2109788"/>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EXPERIENCE</a:t>
            </a:r>
            <a:endParaRPr lang="en-US" sz="1650" dirty="0"/>
          </a:p>
        </p:txBody>
      </p:sp>
      <p:sp>
        <p:nvSpPr>
          <p:cNvPr id="7" name="Text 4"/>
          <p:cNvSpPr/>
          <p:nvPr/>
        </p:nvSpPr>
        <p:spPr>
          <a:xfrm>
            <a:off x="4991100" y="2076450"/>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AEM Web Application · Commerce Storefront</a:t>
            </a:r>
            <a:endParaRPr lang="en-US" sz="1800" dirty="0"/>
          </a:p>
        </p:txBody>
      </p:sp>
      <p:sp>
        <p:nvSpPr>
          <p:cNvPr id="8" name="Text 5"/>
          <p:cNvSpPr/>
          <p:nvPr/>
        </p:nvSpPr>
        <p:spPr>
          <a:xfrm>
            <a:off x="2609850" y="2600325"/>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9" name="Shape 6"/>
          <p:cNvSpPr/>
          <p:nvPr/>
        </p:nvSpPr>
        <p:spPr>
          <a:xfrm>
            <a:off x="800100" y="2924175"/>
            <a:ext cx="16687800" cy="733425"/>
          </a:xfrm>
          <a:prstGeom prst="rect">
            <a:avLst/>
          </a:prstGeom>
          <a:solidFill>
            <a:srgbClr val="F2F5F6"/>
          </a:solidFill>
          <a:ln/>
        </p:spPr>
      </p:sp>
      <p:sp>
        <p:nvSpPr>
          <p:cNvPr id="10" name="Text 7"/>
          <p:cNvSpPr/>
          <p:nvPr/>
        </p:nvSpPr>
        <p:spPr>
          <a:xfrm>
            <a:off x="1181100" y="3167063"/>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COLLECTION</a:t>
            </a:r>
            <a:endParaRPr lang="en-US" sz="1650" dirty="0"/>
          </a:p>
        </p:txBody>
      </p:sp>
      <p:sp>
        <p:nvSpPr>
          <p:cNvPr id="11" name="Text 8"/>
          <p:cNvSpPr/>
          <p:nvPr/>
        </p:nvSpPr>
        <p:spPr>
          <a:xfrm>
            <a:off x="4991100" y="3133725"/>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Data Layer · Events &amp; Data Elements · Launch / SDK</a:t>
            </a:r>
            <a:endParaRPr lang="en-US" sz="1800" dirty="0"/>
          </a:p>
        </p:txBody>
      </p:sp>
      <p:sp>
        <p:nvSpPr>
          <p:cNvPr id="12" name="Text 9"/>
          <p:cNvSpPr/>
          <p:nvPr/>
        </p:nvSpPr>
        <p:spPr>
          <a:xfrm>
            <a:off x="2609850" y="3657600"/>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3" name="Shape 10"/>
          <p:cNvSpPr/>
          <p:nvPr/>
        </p:nvSpPr>
        <p:spPr>
          <a:xfrm>
            <a:off x="800100" y="3981450"/>
            <a:ext cx="16687800" cy="733425"/>
          </a:xfrm>
          <a:prstGeom prst="rect">
            <a:avLst/>
          </a:prstGeom>
          <a:solidFill>
            <a:srgbClr val="F2F5F6"/>
          </a:solidFill>
          <a:ln/>
        </p:spPr>
      </p:sp>
      <p:sp>
        <p:nvSpPr>
          <p:cNvPr id="14" name="Text 11"/>
          <p:cNvSpPr/>
          <p:nvPr/>
        </p:nvSpPr>
        <p:spPr>
          <a:xfrm>
            <a:off x="1181100" y="4224338"/>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INTEGRATION</a:t>
            </a:r>
            <a:endParaRPr lang="en-US" sz="1650" dirty="0"/>
          </a:p>
        </p:txBody>
      </p:sp>
      <p:sp>
        <p:nvSpPr>
          <p:cNvPr id="15" name="Text 12"/>
          <p:cNvSpPr/>
          <p:nvPr/>
        </p:nvSpPr>
        <p:spPr>
          <a:xfrm>
            <a:off x="4991100" y="4191000"/>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eCommerce Connector · Digital Marketing Connector · APIs</a:t>
            </a:r>
            <a:endParaRPr lang="en-US" sz="1800" dirty="0"/>
          </a:p>
        </p:txBody>
      </p:sp>
      <p:sp>
        <p:nvSpPr>
          <p:cNvPr id="16" name="Text 13"/>
          <p:cNvSpPr/>
          <p:nvPr/>
        </p:nvSpPr>
        <p:spPr>
          <a:xfrm>
            <a:off x="2609850" y="4714875"/>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7" name="Shape 14"/>
          <p:cNvSpPr/>
          <p:nvPr/>
        </p:nvSpPr>
        <p:spPr>
          <a:xfrm>
            <a:off x="800100" y="5038725"/>
            <a:ext cx="16687800" cy="733425"/>
          </a:xfrm>
          <a:prstGeom prst="rect">
            <a:avLst/>
          </a:prstGeom>
          <a:solidFill>
            <a:srgbClr val="F2F5F6"/>
          </a:solidFill>
          <a:ln/>
        </p:spPr>
      </p:sp>
      <p:sp>
        <p:nvSpPr>
          <p:cNvPr id="18" name="Text 15"/>
          <p:cNvSpPr/>
          <p:nvPr/>
        </p:nvSpPr>
        <p:spPr>
          <a:xfrm>
            <a:off x="1181100" y="5281613"/>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DATA</a:t>
            </a:r>
            <a:endParaRPr lang="en-US" sz="1650" dirty="0"/>
          </a:p>
        </p:txBody>
      </p:sp>
      <p:sp>
        <p:nvSpPr>
          <p:cNvPr id="19" name="Text 16"/>
          <p:cNvSpPr/>
          <p:nvPr/>
        </p:nvSpPr>
        <p:spPr>
          <a:xfrm>
            <a:off x="4991100" y="5248275"/>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AEP / Real-Time CDP · Data Lake · Identity · Merge Policies</a:t>
            </a:r>
            <a:endParaRPr lang="en-US" sz="1800" dirty="0"/>
          </a:p>
        </p:txBody>
      </p:sp>
      <p:sp>
        <p:nvSpPr>
          <p:cNvPr id="20" name="Text 17"/>
          <p:cNvSpPr/>
          <p:nvPr/>
        </p:nvSpPr>
        <p:spPr>
          <a:xfrm>
            <a:off x="2609850" y="5772150"/>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1" name="Shape 18"/>
          <p:cNvSpPr/>
          <p:nvPr/>
        </p:nvSpPr>
        <p:spPr>
          <a:xfrm>
            <a:off x="800100" y="6096000"/>
            <a:ext cx="16687800" cy="733425"/>
          </a:xfrm>
          <a:prstGeom prst="rect">
            <a:avLst/>
          </a:prstGeom>
          <a:solidFill>
            <a:srgbClr val="F2F5F6"/>
          </a:solidFill>
          <a:ln/>
        </p:spPr>
      </p:sp>
      <p:sp>
        <p:nvSpPr>
          <p:cNvPr id="22" name="Text 19"/>
          <p:cNvSpPr/>
          <p:nvPr/>
        </p:nvSpPr>
        <p:spPr>
          <a:xfrm>
            <a:off x="1181100" y="6338888"/>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INTELLIGENCE</a:t>
            </a:r>
            <a:endParaRPr lang="en-US" sz="1650" dirty="0"/>
          </a:p>
        </p:txBody>
      </p:sp>
      <p:sp>
        <p:nvSpPr>
          <p:cNvPr id="23" name="Text 20"/>
          <p:cNvSpPr/>
          <p:nvPr/>
        </p:nvSpPr>
        <p:spPr>
          <a:xfrm>
            <a:off x="4991100" y="6305550"/>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Analytics · CJA · Sensei · Segmentation</a:t>
            </a:r>
            <a:endParaRPr lang="en-US" sz="1800" dirty="0"/>
          </a:p>
        </p:txBody>
      </p:sp>
      <p:sp>
        <p:nvSpPr>
          <p:cNvPr id="24" name="Text 21"/>
          <p:cNvSpPr/>
          <p:nvPr/>
        </p:nvSpPr>
        <p:spPr>
          <a:xfrm>
            <a:off x="2609850" y="6829425"/>
            <a:ext cx="16546830" cy="361950"/>
          </a:xfrm>
          <a:prstGeom prst="rect">
            <a:avLst/>
          </a:prstGeom>
          <a:noFill/>
          <a:ln/>
        </p:spPr>
        <p:txBody>
          <a:bodyPr wrap="square" lIns="25400" tIns="25400" rIns="25400" bIns="25400" rtlCol="0" anchor="ctr">
            <a:normAutofit/>
          </a:bodyPr>
          <a:lstStyle/>
          <a:p>
            <a:pPr algn="l" indent="0" marL="0">
              <a:lnSpc>
                <a:spcPct val="83871"/>
              </a:lnSpc>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5" name="Shape 22"/>
          <p:cNvSpPr/>
          <p:nvPr/>
        </p:nvSpPr>
        <p:spPr>
          <a:xfrm>
            <a:off x="800100" y="7153275"/>
            <a:ext cx="16687800" cy="733425"/>
          </a:xfrm>
          <a:prstGeom prst="rect">
            <a:avLst/>
          </a:prstGeom>
          <a:solidFill>
            <a:srgbClr val="F2F5F6"/>
          </a:solidFill>
          <a:ln/>
        </p:spPr>
      </p:sp>
      <p:sp>
        <p:nvSpPr>
          <p:cNvPr id="26" name="Text 23"/>
          <p:cNvSpPr/>
          <p:nvPr/>
        </p:nvSpPr>
        <p:spPr>
          <a:xfrm>
            <a:off x="1181100" y="7396162"/>
            <a:ext cx="4191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ACTIVATION</a:t>
            </a:r>
            <a:endParaRPr lang="en-US" sz="1650" dirty="0"/>
          </a:p>
        </p:txBody>
      </p:sp>
      <p:sp>
        <p:nvSpPr>
          <p:cNvPr id="27" name="Text 24"/>
          <p:cNvSpPr/>
          <p:nvPr/>
        </p:nvSpPr>
        <p:spPr>
          <a:xfrm>
            <a:off x="4991100" y="7362825"/>
            <a:ext cx="13327380"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Target · AJO · Campaign · Marketo · Audience Manager · Paid Destinations</a:t>
            </a:r>
            <a:endParaRPr lang="en-US" sz="1800" dirty="0"/>
          </a:p>
        </p:txBody>
      </p:sp>
      <p:sp>
        <p:nvSpPr>
          <p:cNvPr id="28" name="Text 25"/>
          <p:cNvSpPr/>
          <p:nvPr/>
        </p:nvSpPr>
        <p:spPr>
          <a:xfrm>
            <a:off x="800100" y="83058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Ascent’s complexity is not in any single layer. It is in the vertical dependencies between them — and in the fact that a technically valid value at one layer can still produce a semantically incorrect outcome several layers below.</a:t>
            </a:r>
            <a:endParaRPr lang="en-US" sz="1800" dirty="0"/>
          </a:p>
        </p:txBody>
      </p:sp>
      <p:sp>
        <p:nvSpPr>
          <p:cNvPr id="29" name="Text 2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0" name="Text 2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1" name="Text 28"/>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6</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Commercial packaging and scale</a:t>
            </a:r>
            <a:endParaRPr lang="en-US" sz="3900" dirty="0"/>
          </a:p>
        </p:txBody>
      </p:sp>
      <p:sp>
        <p:nvSpPr>
          <p:cNvPr id="5" name="Text 2"/>
          <p:cNvSpPr/>
          <p:nvPr/>
        </p:nvSpPr>
        <p:spPr>
          <a:xfrm>
            <a:off x="800100" y="1905000"/>
            <a:ext cx="381773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STANDARD OFFERING PRICING</a:t>
            </a:r>
            <a:endParaRPr lang="en-US" sz="1650" dirty="0"/>
          </a:p>
        </p:txBody>
      </p:sp>
      <p:sp>
        <p:nvSpPr>
          <p:cNvPr id="6" name="Shape 3"/>
          <p:cNvSpPr/>
          <p:nvPr/>
        </p:nvSpPr>
        <p:spPr>
          <a:xfrm>
            <a:off x="800100" y="2867025"/>
            <a:ext cx="6096000" cy="19050"/>
          </a:xfrm>
          <a:prstGeom prst="rect">
            <a:avLst/>
          </a:prstGeom>
          <a:solidFill>
            <a:srgbClr val="131313"/>
          </a:solidFill>
          <a:ln/>
        </p:spPr>
      </p:sp>
      <p:sp>
        <p:nvSpPr>
          <p:cNvPr id="7" name="Text 4"/>
          <p:cNvSpPr/>
          <p:nvPr/>
        </p:nvSpPr>
        <p:spPr>
          <a:xfrm>
            <a:off x="800100" y="2438400"/>
            <a:ext cx="627888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OFFERING</a:t>
            </a:r>
            <a:endParaRPr lang="en-US" sz="1650" dirty="0"/>
          </a:p>
        </p:txBody>
      </p:sp>
      <p:sp>
        <p:nvSpPr>
          <p:cNvPr id="8" name="Shape 5"/>
          <p:cNvSpPr/>
          <p:nvPr/>
        </p:nvSpPr>
        <p:spPr>
          <a:xfrm>
            <a:off x="6896100" y="2867025"/>
            <a:ext cx="2667000" cy="19050"/>
          </a:xfrm>
          <a:prstGeom prst="rect">
            <a:avLst/>
          </a:prstGeom>
          <a:solidFill>
            <a:srgbClr val="131313"/>
          </a:solidFill>
          <a:ln/>
        </p:spPr>
      </p:sp>
      <p:sp>
        <p:nvSpPr>
          <p:cNvPr id="9" name="Text 6"/>
          <p:cNvSpPr/>
          <p:nvPr/>
        </p:nvSpPr>
        <p:spPr>
          <a:xfrm>
            <a:off x="6896100" y="2438400"/>
            <a:ext cx="274701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DURATION</a:t>
            </a:r>
            <a:endParaRPr lang="en-US" sz="1650" dirty="0"/>
          </a:p>
        </p:txBody>
      </p:sp>
      <p:sp>
        <p:nvSpPr>
          <p:cNvPr id="10" name="Shape 7"/>
          <p:cNvSpPr/>
          <p:nvPr/>
        </p:nvSpPr>
        <p:spPr>
          <a:xfrm>
            <a:off x="9563100" y="2867025"/>
            <a:ext cx="4000500" cy="19050"/>
          </a:xfrm>
          <a:prstGeom prst="rect">
            <a:avLst/>
          </a:prstGeom>
          <a:solidFill>
            <a:srgbClr val="131313"/>
          </a:solidFill>
          <a:ln/>
        </p:spPr>
      </p:sp>
      <p:sp>
        <p:nvSpPr>
          <p:cNvPr id="11" name="Text 8"/>
          <p:cNvSpPr/>
          <p:nvPr/>
        </p:nvSpPr>
        <p:spPr>
          <a:xfrm>
            <a:off x="9563100" y="2438400"/>
            <a:ext cx="4120515"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IMPLEMENTATION COST</a:t>
            </a:r>
            <a:endParaRPr lang="en-US" sz="1650" dirty="0"/>
          </a:p>
        </p:txBody>
      </p:sp>
      <p:sp>
        <p:nvSpPr>
          <p:cNvPr id="12" name="Shape 9"/>
          <p:cNvSpPr/>
          <p:nvPr/>
        </p:nvSpPr>
        <p:spPr>
          <a:xfrm>
            <a:off x="13563600" y="2867025"/>
            <a:ext cx="3924300" cy="19050"/>
          </a:xfrm>
          <a:prstGeom prst="rect">
            <a:avLst/>
          </a:prstGeom>
          <a:solidFill>
            <a:srgbClr val="131313"/>
          </a:solidFill>
          <a:ln/>
        </p:spPr>
      </p:sp>
      <p:sp>
        <p:nvSpPr>
          <p:cNvPr id="13" name="Text 10"/>
          <p:cNvSpPr/>
          <p:nvPr/>
        </p:nvSpPr>
        <p:spPr>
          <a:xfrm>
            <a:off x="13563600" y="2438400"/>
            <a:ext cx="404202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DELIVERY SMES</a:t>
            </a:r>
            <a:endParaRPr lang="en-US" sz="1650" dirty="0"/>
          </a:p>
        </p:txBody>
      </p:sp>
      <p:sp>
        <p:nvSpPr>
          <p:cNvPr id="14" name="Shape 11"/>
          <p:cNvSpPr/>
          <p:nvPr/>
        </p:nvSpPr>
        <p:spPr>
          <a:xfrm>
            <a:off x="800100" y="3524250"/>
            <a:ext cx="6096000" cy="9525"/>
          </a:xfrm>
          <a:prstGeom prst="rect">
            <a:avLst/>
          </a:prstGeom>
          <a:solidFill>
            <a:srgbClr val="131313">
              <a:alpha val="14000"/>
            </a:srgbClr>
          </a:solidFill>
          <a:ln/>
        </p:spPr>
      </p:sp>
      <p:sp>
        <p:nvSpPr>
          <p:cNvPr id="15" name="Text 12"/>
          <p:cNvSpPr/>
          <p:nvPr/>
        </p:nvSpPr>
        <p:spPr>
          <a:xfrm>
            <a:off x="800100" y="30384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Enterprise B2B</a:t>
            </a:r>
            <a:endParaRPr lang="en-US" sz="1950" dirty="0"/>
          </a:p>
        </p:txBody>
      </p:sp>
      <p:sp>
        <p:nvSpPr>
          <p:cNvPr id="16" name="Shape 13"/>
          <p:cNvSpPr/>
          <p:nvPr/>
        </p:nvSpPr>
        <p:spPr>
          <a:xfrm>
            <a:off x="6896100" y="3524250"/>
            <a:ext cx="2667000" cy="9525"/>
          </a:xfrm>
          <a:prstGeom prst="rect">
            <a:avLst/>
          </a:prstGeom>
          <a:solidFill>
            <a:srgbClr val="131313">
              <a:alpha val="14000"/>
            </a:srgbClr>
          </a:solidFill>
          <a:ln/>
        </p:spPr>
      </p:sp>
      <p:sp>
        <p:nvSpPr>
          <p:cNvPr id="17" name="Text 14"/>
          <p:cNvSpPr/>
          <p:nvPr/>
        </p:nvSpPr>
        <p:spPr>
          <a:xfrm>
            <a:off x="6896100" y="30384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26 weeks</a:t>
            </a:r>
            <a:endParaRPr lang="en-US" sz="1950" dirty="0"/>
          </a:p>
        </p:txBody>
      </p:sp>
      <p:sp>
        <p:nvSpPr>
          <p:cNvPr id="18" name="Shape 15"/>
          <p:cNvSpPr/>
          <p:nvPr/>
        </p:nvSpPr>
        <p:spPr>
          <a:xfrm>
            <a:off x="9563100" y="3524250"/>
            <a:ext cx="4000500" cy="9525"/>
          </a:xfrm>
          <a:prstGeom prst="rect">
            <a:avLst/>
          </a:prstGeom>
          <a:solidFill>
            <a:srgbClr val="131313">
              <a:alpha val="14000"/>
            </a:srgbClr>
          </a:solidFill>
          <a:ln/>
        </p:spPr>
      </p:sp>
      <p:sp>
        <p:nvSpPr>
          <p:cNvPr id="19" name="Text 16"/>
          <p:cNvSpPr/>
          <p:nvPr/>
        </p:nvSpPr>
        <p:spPr>
          <a:xfrm>
            <a:off x="9563100" y="30384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$1,168,200</a:t>
            </a:r>
            <a:endParaRPr lang="en-US" sz="1950" dirty="0"/>
          </a:p>
        </p:txBody>
      </p:sp>
      <p:sp>
        <p:nvSpPr>
          <p:cNvPr id="20" name="Shape 17"/>
          <p:cNvSpPr/>
          <p:nvPr/>
        </p:nvSpPr>
        <p:spPr>
          <a:xfrm>
            <a:off x="13563600" y="3524250"/>
            <a:ext cx="3924300" cy="9525"/>
          </a:xfrm>
          <a:prstGeom prst="rect">
            <a:avLst/>
          </a:prstGeom>
          <a:solidFill>
            <a:srgbClr val="131313">
              <a:alpha val="14000"/>
            </a:srgbClr>
          </a:solidFill>
          <a:ln/>
        </p:spPr>
      </p:sp>
      <p:sp>
        <p:nvSpPr>
          <p:cNvPr id="21" name="Text 18"/>
          <p:cNvSpPr/>
          <p:nvPr/>
        </p:nvSpPr>
        <p:spPr>
          <a:xfrm>
            <a:off x="13563600" y="30384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42</a:t>
            </a:r>
            <a:endParaRPr lang="en-US" sz="1950" dirty="0"/>
          </a:p>
        </p:txBody>
      </p:sp>
      <p:sp>
        <p:nvSpPr>
          <p:cNvPr id="22" name="Shape 19"/>
          <p:cNvSpPr/>
          <p:nvPr/>
        </p:nvSpPr>
        <p:spPr>
          <a:xfrm>
            <a:off x="800100" y="4171950"/>
            <a:ext cx="6096000" cy="9525"/>
          </a:xfrm>
          <a:prstGeom prst="rect">
            <a:avLst/>
          </a:prstGeom>
          <a:solidFill>
            <a:srgbClr val="131313">
              <a:alpha val="14000"/>
            </a:srgbClr>
          </a:solidFill>
          <a:ln/>
        </p:spPr>
      </p:sp>
      <p:sp>
        <p:nvSpPr>
          <p:cNvPr id="23" name="Text 20"/>
          <p:cNvSpPr/>
          <p:nvPr/>
        </p:nvSpPr>
        <p:spPr>
          <a:xfrm>
            <a:off x="800100" y="36861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Enterprise B2C</a:t>
            </a:r>
            <a:endParaRPr lang="en-US" sz="1950" dirty="0"/>
          </a:p>
        </p:txBody>
      </p:sp>
      <p:sp>
        <p:nvSpPr>
          <p:cNvPr id="24" name="Shape 21"/>
          <p:cNvSpPr/>
          <p:nvPr/>
        </p:nvSpPr>
        <p:spPr>
          <a:xfrm>
            <a:off x="6896100" y="4171950"/>
            <a:ext cx="2667000" cy="9525"/>
          </a:xfrm>
          <a:prstGeom prst="rect">
            <a:avLst/>
          </a:prstGeom>
          <a:solidFill>
            <a:srgbClr val="131313">
              <a:alpha val="14000"/>
            </a:srgbClr>
          </a:solidFill>
          <a:ln/>
        </p:spPr>
      </p:sp>
      <p:sp>
        <p:nvSpPr>
          <p:cNvPr id="25" name="Text 22"/>
          <p:cNvSpPr/>
          <p:nvPr/>
        </p:nvSpPr>
        <p:spPr>
          <a:xfrm>
            <a:off x="6896100" y="36861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26 weeks</a:t>
            </a:r>
            <a:endParaRPr lang="en-US" sz="1950" dirty="0"/>
          </a:p>
        </p:txBody>
      </p:sp>
      <p:sp>
        <p:nvSpPr>
          <p:cNvPr id="26" name="Shape 23"/>
          <p:cNvSpPr/>
          <p:nvPr/>
        </p:nvSpPr>
        <p:spPr>
          <a:xfrm>
            <a:off x="9563100" y="4171950"/>
            <a:ext cx="4000500" cy="9525"/>
          </a:xfrm>
          <a:prstGeom prst="rect">
            <a:avLst/>
          </a:prstGeom>
          <a:solidFill>
            <a:srgbClr val="131313">
              <a:alpha val="14000"/>
            </a:srgbClr>
          </a:solidFill>
          <a:ln/>
        </p:spPr>
      </p:sp>
      <p:sp>
        <p:nvSpPr>
          <p:cNvPr id="27" name="Text 24"/>
          <p:cNvSpPr/>
          <p:nvPr/>
        </p:nvSpPr>
        <p:spPr>
          <a:xfrm>
            <a:off x="9563100" y="36861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$1,102,600</a:t>
            </a:r>
            <a:endParaRPr lang="en-US" sz="1950" dirty="0"/>
          </a:p>
        </p:txBody>
      </p:sp>
      <p:sp>
        <p:nvSpPr>
          <p:cNvPr id="28" name="Shape 25"/>
          <p:cNvSpPr/>
          <p:nvPr/>
        </p:nvSpPr>
        <p:spPr>
          <a:xfrm>
            <a:off x="13563600" y="4171950"/>
            <a:ext cx="3924300" cy="9525"/>
          </a:xfrm>
          <a:prstGeom prst="rect">
            <a:avLst/>
          </a:prstGeom>
          <a:solidFill>
            <a:srgbClr val="131313">
              <a:alpha val="14000"/>
            </a:srgbClr>
          </a:solidFill>
          <a:ln/>
        </p:spPr>
      </p:sp>
      <p:sp>
        <p:nvSpPr>
          <p:cNvPr id="29" name="Text 26"/>
          <p:cNvSpPr/>
          <p:nvPr/>
        </p:nvSpPr>
        <p:spPr>
          <a:xfrm>
            <a:off x="13563600" y="36861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42</a:t>
            </a:r>
            <a:endParaRPr lang="en-US" sz="1950" dirty="0"/>
          </a:p>
        </p:txBody>
      </p:sp>
      <p:sp>
        <p:nvSpPr>
          <p:cNvPr id="30" name="Shape 27"/>
          <p:cNvSpPr/>
          <p:nvPr/>
        </p:nvSpPr>
        <p:spPr>
          <a:xfrm>
            <a:off x="800100" y="4819650"/>
            <a:ext cx="6096000" cy="9525"/>
          </a:xfrm>
          <a:prstGeom prst="rect">
            <a:avLst/>
          </a:prstGeom>
          <a:solidFill>
            <a:srgbClr val="131313">
              <a:alpha val="14000"/>
            </a:srgbClr>
          </a:solidFill>
          <a:ln/>
        </p:spPr>
      </p:sp>
      <p:sp>
        <p:nvSpPr>
          <p:cNvPr id="31" name="Text 28"/>
          <p:cNvSpPr/>
          <p:nvPr/>
        </p:nvSpPr>
        <p:spPr>
          <a:xfrm>
            <a:off x="800100" y="43338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Midmarket Content + Commerce</a:t>
            </a:r>
            <a:endParaRPr lang="en-US" sz="1950" dirty="0"/>
          </a:p>
        </p:txBody>
      </p:sp>
      <p:sp>
        <p:nvSpPr>
          <p:cNvPr id="32" name="Shape 29"/>
          <p:cNvSpPr/>
          <p:nvPr/>
        </p:nvSpPr>
        <p:spPr>
          <a:xfrm>
            <a:off x="6896100" y="4819650"/>
            <a:ext cx="2667000" cy="9525"/>
          </a:xfrm>
          <a:prstGeom prst="rect">
            <a:avLst/>
          </a:prstGeom>
          <a:solidFill>
            <a:srgbClr val="131313">
              <a:alpha val="14000"/>
            </a:srgbClr>
          </a:solidFill>
          <a:ln/>
        </p:spPr>
      </p:sp>
      <p:sp>
        <p:nvSpPr>
          <p:cNvPr id="33" name="Text 30"/>
          <p:cNvSpPr/>
          <p:nvPr/>
        </p:nvSpPr>
        <p:spPr>
          <a:xfrm>
            <a:off x="6896100" y="43338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20 weeks</a:t>
            </a:r>
            <a:endParaRPr lang="en-US" sz="1950" dirty="0"/>
          </a:p>
        </p:txBody>
      </p:sp>
      <p:sp>
        <p:nvSpPr>
          <p:cNvPr id="34" name="Shape 31"/>
          <p:cNvSpPr/>
          <p:nvPr/>
        </p:nvSpPr>
        <p:spPr>
          <a:xfrm>
            <a:off x="9563100" y="4819650"/>
            <a:ext cx="4000500" cy="9525"/>
          </a:xfrm>
          <a:prstGeom prst="rect">
            <a:avLst/>
          </a:prstGeom>
          <a:solidFill>
            <a:srgbClr val="131313">
              <a:alpha val="14000"/>
            </a:srgbClr>
          </a:solidFill>
          <a:ln/>
        </p:spPr>
      </p:sp>
      <p:sp>
        <p:nvSpPr>
          <p:cNvPr id="35" name="Text 32"/>
          <p:cNvSpPr/>
          <p:nvPr/>
        </p:nvSpPr>
        <p:spPr>
          <a:xfrm>
            <a:off x="9563100" y="43338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$688,600</a:t>
            </a:r>
            <a:endParaRPr lang="en-US" sz="1950" dirty="0"/>
          </a:p>
        </p:txBody>
      </p:sp>
      <p:sp>
        <p:nvSpPr>
          <p:cNvPr id="36" name="Shape 33"/>
          <p:cNvSpPr/>
          <p:nvPr/>
        </p:nvSpPr>
        <p:spPr>
          <a:xfrm>
            <a:off x="13563600" y="4819650"/>
            <a:ext cx="3924300" cy="9525"/>
          </a:xfrm>
          <a:prstGeom prst="rect">
            <a:avLst/>
          </a:prstGeom>
          <a:solidFill>
            <a:srgbClr val="131313">
              <a:alpha val="14000"/>
            </a:srgbClr>
          </a:solidFill>
          <a:ln/>
        </p:spPr>
      </p:sp>
      <p:sp>
        <p:nvSpPr>
          <p:cNvPr id="37" name="Text 34"/>
          <p:cNvSpPr/>
          <p:nvPr/>
        </p:nvSpPr>
        <p:spPr>
          <a:xfrm>
            <a:off x="13563600" y="43338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32</a:t>
            </a:r>
            <a:endParaRPr lang="en-US" sz="1950" dirty="0"/>
          </a:p>
        </p:txBody>
      </p:sp>
      <p:sp>
        <p:nvSpPr>
          <p:cNvPr id="38" name="Shape 35"/>
          <p:cNvSpPr/>
          <p:nvPr/>
        </p:nvSpPr>
        <p:spPr>
          <a:xfrm>
            <a:off x="800100" y="5467350"/>
            <a:ext cx="6096000" cy="9525"/>
          </a:xfrm>
          <a:prstGeom prst="rect">
            <a:avLst/>
          </a:prstGeom>
          <a:solidFill>
            <a:srgbClr val="131313">
              <a:alpha val="14000"/>
            </a:srgbClr>
          </a:solidFill>
          <a:ln/>
        </p:spPr>
      </p:sp>
      <p:sp>
        <p:nvSpPr>
          <p:cNvPr id="39" name="Text 36"/>
          <p:cNvSpPr/>
          <p:nvPr/>
        </p:nvSpPr>
        <p:spPr>
          <a:xfrm>
            <a:off x="800100" y="49815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Midmarket Commerce</a:t>
            </a:r>
            <a:endParaRPr lang="en-US" sz="1950" dirty="0"/>
          </a:p>
        </p:txBody>
      </p:sp>
      <p:sp>
        <p:nvSpPr>
          <p:cNvPr id="40" name="Shape 37"/>
          <p:cNvSpPr/>
          <p:nvPr/>
        </p:nvSpPr>
        <p:spPr>
          <a:xfrm>
            <a:off x="6896100" y="5467350"/>
            <a:ext cx="2667000" cy="9525"/>
          </a:xfrm>
          <a:prstGeom prst="rect">
            <a:avLst/>
          </a:prstGeom>
          <a:solidFill>
            <a:srgbClr val="131313">
              <a:alpha val="14000"/>
            </a:srgbClr>
          </a:solidFill>
          <a:ln/>
        </p:spPr>
      </p:sp>
      <p:sp>
        <p:nvSpPr>
          <p:cNvPr id="41" name="Text 38"/>
          <p:cNvSpPr/>
          <p:nvPr/>
        </p:nvSpPr>
        <p:spPr>
          <a:xfrm>
            <a:off x="6896100" y="49815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18 weeks</a:t>
            </a:r>
            <a:endParaRPr lang="en-US" sz="1950" dirty="0"/>
          </a:p>
        </p:txBody>
      </p:sp>
      <p:sp>
        <p:nvSpPr>
          <p:cNvPr id="42" name="Shape 39"/>
          <p:cNvSpPr/>
          <p:nvPr/>
        </p:nvSpPr>
        <p:spPr>
          <a:xfrm>
            <a:off x="9563100" y="5467350"/>
            <a:ext cx="4000500" cy="9525"/>
          </a:xfrm>
          <a:prstGeom prst="rect">
            <a:avLst/>
          </a:prstGeom>
          <a:solidFill>
            <a:srgbClr val="131313">
              <a:alpha val="14000"/>
            </a:srgbClr>
          </a:solidFill>
          <a:ln/>
        </p:spPr>
      </p:sp>
      <p:sp>
        <p:nvSpPr>
          <p:cNvPr id="43" name="Text 40"/>
          <p:cNvSpPr/>
          <p:nvPr/>
        </p:nvSpPr>
        <p:spPr>
          <a:xfrm>
            <a:off x="9563100" y="49815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$519,200</a:t>
            </a:r>
            <a:endParaRPr lang="en-US" sz="1950" dirty="0"/>
          </a:p>
        </p:txBody>
      </p:sp>
      <p:sp>
        <p:nvSpPr>
          <p:cNvPr id="44" name="Shape 41"/>
          <p:cNvSpPr/>
          <p:nvPr/>
        </p:nvSpPr>
        <p:spPr>
          <a:xfrm>
            <a:off x="13563600" y="5467350"/>
            <a:ext cx="3924300" cy="9525"/>
          </a:xfrm>
          <a:prstGeom prst="rect">
            <a:avLst/>
          </a:prstGeom>
          <a:solidFill>
            <a:srgbClr val="131313">
              <a:alpha val="14000"/>
            </a:srgbClr>
          </a:solidFill>
          <a:ln/>
        </p:spPr>
      </p:sp>
      <p:sp>
        <p:nvSpPr>
          <p:cNvPr id="45" name="Text 42"/>
          <p:cNvSpPr/>
          <p:nvPr/>
        </p:nvSpPr>
        <p:spPr>
          <a:xfrm>
            <a:off x="13563600" y="49815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23</a:t>
            </a:r>
            <a:endParaRPr lang="en-US" sz="1950" dirty="0"/>
          </a:p>
        </p:txBody>
      </p:sp>
      <p:sp>
        <p:nvSpPr>
          <p:cNvPr id="46" name="Shape 43"/>
          <p:cNvSpPr/>
          <p:nvPr/>
        </p:nvSpPr>
        <p:spPr>
          <a:xfrm>
            <a:off x="800100" y="6115050"/>
            <a:ext cx="6096000" cy="9525"/>
          </a:xfrm>
          <a:prstGeom prst="rect">
            <a:avLst/>
          </a:prstGeom>
          <a:solidFill>
            <a:srgbClr val="131313">
              <a:alpha val="14000"/>
            </a:srgbClr>
          </a:solidFill>
          <a:ln/>
        </p:spPr>
      </p:sp>
      <p:sp>
        <p:nvSpPr>
          <p:cNvPr id="47" name="Text 44"/>
          <p:cNvSpPr/>
          <p:nvPr/>
        </p:nvSpPr>
        <p:spPr>
          <a:xfrm>
            <a:off x="800100" y="5629275"/>
            <a:ext cx="627888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b="1" dirty="0">
                <a:solidFill>
                  <a:srgbClr val="131313"/>
                </a:solidFill>
                <a:latin typeface="Arial" pitchFamily="34" charset="0"/>
                <a:ea typeface="Arial" pitchFamily="34" charset="-122"/>
                <a:cs typeface="Arial" pitchFamily="34" charset="-120"/>
              </a:rPr>
              <a:t>Midmarket Content</a:t>
            </a:r>
            <a:endParaRPr lang="en-US" sz="1950" dirty="0"/>
          </a:p>
        </p:txBody>
      </p:sp>
      <p:sp>
        <p:nvSpPr>
          <p:cNvPr id="48" name="Shape 45"/>
          <p:cNvSpPr/>
          <p:nvPr/>
        </p:nvSpPr>
        <p:spPr>
          <a:xfrm>
            <a:off x="6896100" y="6115050"/>
            <a:ext cx="2667000" cy="9525"/>
          </a:xfrm>
          <a:prstGeom prst="rect">
            <a:avLst/>
          </a:prstGeom>
          <a:solidFill>
            <a:srgbClr val="131313">
              <a:alpha val="14000"/>
            </a:srgbClr>
          </a:solidFill>
          <a:ln/>
        </p:spPr>
      </p:sp>
      <p:sp>
        <p:nvSpPr>
          <p:cNvPr id="49" name="Text 46"/>
          <p:cNvSpPr/>
          <p:nvPr/>
        </p:nvSpPr>
        <p:spPr>
          <a:xfrm>
            <a:off x="6896100" y="5629275"/>
            <a:ext cx="2747010"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14 weeks</a:t>
            </a:r>
            <a:endParaRPr lang="en-US" sz="1950" dirty="0"/>
          </a:p>
        </p:txBody>
      </p:sp>
      <p:sp>
        <p:nvSpPr>
          <p:cNvPr id="50" name="Shape 47"/>
          <p:cNvSpPr/>
          <p:nvPr/>
        </p:nvSpPr>
        <p:spPr>
          <a:xfrm>
            <a:off x="9563100" y="6115050"/>
            <a:ext cx="4000500" cy="9525"/>
          </a:xfrm>
          <a:prstGeom prst="rect">
            <a:avLst/>
          </a:prstGeom>
          <a:solidFill>
            <a:srgbClr val="131313">
              <a:alpha val="14000"/>
            </a:srgbClr>
          </a:solidFill>
          <a:ln/>
        </p:spPr>
      </p:sp>
      <p:sp>
        <p:nvSpPr>
          <p:cNvPr id="51" name="Text 48"/>
          <p:cNvSpPr/>
          <p:nvPr/>
        </p:nvSpPr>
        <p:spPr>
          <a:xfrm>
            <a:off x="9563100" y="5629275"/>
            <a:ext cx="4120515"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$402,300</a:t>
            </a:r>
            <a:endParaRPr lang="en-US" sz="1950" dirty="0"/>
          </a:p>
        </p:txBody>
      </p:sp>
      <p:sp>
        <p:nvSpPr>
          <p:cNvPr id="52" name="Shape 49"/>
          <p:cNvSpPr/>
          <p:nvPr/>
        </p:nvSpPr>
        <p:spPr>
          <a:xfrm>
            <a:off x="13563600" y="6115050"/>
            <a:ext cx="3924300" cy="9525"/>
          </a:xfrm>
          <a:prstGeom prst="rect">
            <a:avLst/>
          </a:prstGeom>
          <a:solidFill>
            <a:srgbClr val="131313">
              <a:alpha val="14000"/>
            </a:srgbClr>
          </a:solidFill>
          <a:ln/>
        </p:spPr>
      </p:sp>
      <p:sp>
        <p:nvSpPr>
          <p:cNvPr id="53" name="Text 50"/>
          <p:cNvSpPr/>
          <p:nvPr/>
        </p:nvSpPr>
        <p:spPr>
          <a:xfrm>
            <a:off x="13563600" y="5629275"/>
            <a:ext cx="4042029" cy="371475"/>
          </a:xfrm>
          <a:prstGeom prst="rect">
            <a:avLst/>
          </a:prstGeom>
          <a:noFill/>
          <a:ln/>
        </p:spPr>
        <p:txBody>
          <a:bodyPr wrap="square" lIns="25400" tIns="25400" rIns="25400" bIns="25400" rtlCol="0" anchor="ctr">
            <a:normAutofit/>
          </a:bodyPr>
          <a:lstStyle/>
          <a:p>
            <a:pPr algn="l" indent="0" marL="0">
              <a:lnSpc>
                <a:spcPct val="113226"/>
              </a:lnSpc>
              <a:buNone/>
            </a:pPr>
            <a:r>
              <a:rPr lang="en-US" sz="1950" dirty="0">
                <a:solidFill>
                  <a:srgbClr val="131313"/>
                </a:solidFill>
                <a:latin typeface="Arial" pitchFamily="34" charset="0"/>
                <a:ea typeface="Arial" pitchFamily="34" charset="-122"/>
                <a:cs typeface="Arial" pitchFamily="34" charset="-120"/>
              </a:rPr>
              <a:t>23</a:t>
            </a:r>
            <a:endParaRPr lang="en-US" sz="1950" dirty="0"/>
          </a:p>
        </p:txBody>
      </p:sp>
      <p:sp>
        <p:nvSpPr>
          <p:cNvPr id="54" name="Text 51"/>
          <p:cNvSpPr/>
          <p:nvPr/>
        </p:nvSpPr>
        <p:spPr>
          <a:xfrm>
            <a:off x="800100" y="6324600"/>
            <a:ext cx="1110615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Offering</a:t>
            </a:r>
            <a:endParaRPr lang="en-US" sz="1500" dirty="0"/>
          </a:p>
        </p:txBody>
      </p:sp>
      <p:sp>
        <p:nvSpPr>
          <p:cNvPr id="55" name="Text 52"/>
          <p:cNvSpPr/>
          <p:nvPr/>
        </p:nvSpPr>
        <p:spPr>
          <a:xfrm>
            <a:off x="800100" y="6781800"/>
            <a:ext cx="10399395" cy="17526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Fixed-price, fixed-scope, fixed-duration commitments. Delivery ran to a defined technical scope — a fixed number of key business requirements, workspace reports, Target activities, audience segments, destinations and offline data sources — which meant measurement and data architecture had to be right the first time. There was no commercial room to rebuild a data model mid-engagement.</a:t>
            </a:r>
            <a:endParaRPr lang="en-US" sz="1800" dirty="0"/>
          </a:p>
        </p:txBody>
      </p:sp>
      <p:sp>
        <p:nvSpPr>
          <p:cNvPr id="56" name="Shape 53"/>
          <p:cNvSpPr/>
          <p:nvPr/>
        </p:nvSpPr>
        <p:spPr>
          <a:xfrm>
            <a:off x="11239500" y="6324600"/>
            <a:ext cx="6248400" cy="3448050"/>
          </a:xfrm>
          <a:prstGeom prst="rect">
            <a:avLst/>
          </a:prstGeom>
          <a:solidFill>
            <a:srgbClr val="F2F5F6"/>
          </a:solidFill>
          <a:ln/>
        </p:spPr>
      </p:sp>
      <p:sp>
        <p:nvSpPr>
          <p:cNvPr id="57" name="Text 54"/>
          <p:cNvSpPr/>
          <p:nvPr/>
        </p:nvSpPr>
        <p:spPr>
          <a:xfrm>
            <a:off x="11582400" y="6629400"/>
            <a:ext cx="611886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DEPLOYED COMMERCIALLY</a:t>
            </a:r>
            <a:endParaRPr lang="en-US" sz="1650" dirty="0"/>
          </a:p>
        </p:txBody>
      </p:sp>
      <p:sp>
        <p:nvSpPr>
          <p:cNvPr id="58" name="Text 55"/>
          <p:cNvSpPr/>
          <p:nvPr/>
        </p:nvSpPr>
        <p:spPr>
          <a:xfrm>
            <a:off x="11582400" y="7067550"/>
            <a:ext cx="5729478" cy="19812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Ascent packages were proposed and priced for named enterprise and public-sector clients. A representative Mid-Market AEM Foundation engagement was scoped at $349,500 across 14 weeks with 21 TA Digital subject-matter experts, delivering a live implementation at the end of that period.</a:t>
            </a:r>
            <a:endParaRPr lang="en-US" sz="1800" dirty="0"/>
          </a:p>
        </p:txBody>
      </p:sp>
      <p:sp>
        <p:nvSpPr>
          <p:cNvPr id="59" name="Text 56"/>
          <p:cNvSpPr/>
          <p:nvPr/>
        </p:nvSpPr>
        <p:spPr>
          <a:xfrm>
            <a:off x="11582400" y="9201150"/>
            <a:ext cx="611886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State of South Carolina Ascent Proposal</a:t>
            </a:r>
            <a:endParaRPr lang="en-US" sz="1500" dirty="0"/>
          </a:p>
        </p:txBody>
      </p:sp>
      <p:sp>
        <p:nvSpPr>
          <p:cNvPr id="60" name="Text 57"/>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61" name="Text 58"/>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62" name="Text 59"/>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7</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Ascent in commercial deployment</a:t>
            </a:r>
            <a:endParaRPr lang="en-US" sz="3900" dirty="0"/>
          </a:p>
        </p:txBody>
      </p:sp>
      <p:sp>
        <p:nvSpPr>
          <p:cNvPr id="5" name="Text 2"/>
          <p:cNvSpPr/>
          <p:nvPr/>
        </p:nvSpPr>
        <p:spPr>
          <a:xfrm>
            <a:off x="800100" y="2476500"/>
            <a:ext cx="15697200" cy="1009650"/>
          </a:xfrm>
          <a:prstGeom prst="rect">
            <a:avLst/>
          </a:prstGeom>
          <a:noFill/>
          <a:ln/>
        </p:spPr>
        <p:txBody>
          <a:bodyPr wrap="square" lIns="25400" tIns="25400" rIns="25400" bIns="25400" rtlCol="0" anchor="t">
            <a:normAutofit/>
          </a:bodyPr>
          <a:lstStyle/>
          <a:p>
            <a:pPr algn="l" indent="0" marL="0">
              <a:lnSpc>
                <a:spcPct val="119302"/>
              </a:lnSpc>
              <a:buNone/>
            </a:pPr>
            <a:r>
              <a:rPr lang="en-US" sz="2850" spc="-37" kern="0" dirty="0">
                <a:solidFill>
                  <a:srgbClr val="131313"/>
                </a:solidFill>
                <a:latin typeface="Arial" pitchFamily="34" charset="0"/>
                <a:ea typeface="Arial" pitchFamily="34" charset="-122"/>
                <a:cs typeface="Arial" pitchFamily="34" charset="-120"/>
              </a:rPr>
              <a:t>Ascent was proposed, priced and sold to named clients across public sector, retail, healthcare, financial services, technology and telecommunications.</a:t>
            </a:r>
            <a:endParaRPr lang="en-US" sz="2850" dirty="0"/>
          </a:p>
        </p:txBody>
      </p:sp>
      <p:sp>
        <p:nvSpPr>
          <p:cNvPr id="6" name="Shape 3"/>
          <p:cNvSpPr/>
          <p:nvPr/>
        </p:nvSpPr>
        <p:spPr>
          <a:xfrm>
            <a:off x="800100" y="3981450"/>
            <a:ext cx="5460950" cy="876300"/>
          </a:xfrm>
          <a:prstGeom prst="rect">
            <a:avLst/>
          </a:prstGeom>
          <a:solidFill>
            <a:srgbClr val="F2F5F6"/>
          </a:solidFill>
          <a:ln/>
        </p:spPr>
      </p:sp>
      <p:sp>
        <p:nvSpPr>
          <p:cNvPr id="7" name="Text 4"/>
          <p:cNvSpPr/>
          <p:nvPr/>
        </p:nvSpPr>
        <p:spPr>
          <a:xfrm>
            <a:off x="1104900" y="4248150"/>
            <a:ext cx="501517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Public sector</a:t>
            </a:r>
            <a:endParaRPr lang="en-US" sz="2100" dirty="0"/>
          </a:p>
        </p:txBody>
      </p:sp>
      <p:sp>
        <p:nvSpPr>
          <p:cNvPr id="8" name="Shape 5"/>
          <p:cNvSpPr/>
          <p:nvPr/>
        </p:nvSpPr>
        <p:spPr>
          <a:xfrm>
            <a:off x="6413450" y="3981450"/>
            <a:ext cx="5460950" cy="876300"/>
          </a:xfrm>
          <a:prstGeom prst="rect">
            <a:avLst/>
          </a:prstGeom>
          <a:solidFill>
            <a:srgbClr val="F2F5F6"/>
          </a:solidFill>
          <a:ln/>
        </p:spPr>
      </p:sp>
      <p:sp>
        <p:nvSpPr>
          <p:cNvPr id="9" name="Text 6"/>
          <p:cNvSpPr/>
          <p:nvPr/>
        </p:nvSpPr>
        <p:spPr>
          <a:xfrm>
            <a:off x="6718250" y="4248150"/>
            <a:ext cx="501517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Retail</a:t>
            </a:r>
            <a:endParaRPr lang="en-US" sz="2100" dirty="0"/>
          </a:p>
        </p:txBody>
      </p:sp>
      <p:sp>
        <p:nvSpPr>
          <p:cNvPr id="10" name="Shape 7"/>
          <p:cNvSpPr/>
          <p:nvPr/>
        </p:nvSpPr>
        <p:spPr>
          <a:xfrm>
            <a:off x="12026801" y="3981450"/>
            <a:ext cx="5461099" cy="876300"/>
          </a:xfrm>
          <a:prstGeom prst="rect">
            <a:avLst/>
          </a:prstGeom>
          <a:solidFill>
            <a:srgbClr val="F2F5F6"/>
          </a:solidFill>
          <a:ln/>
        </p:spPr>
      </p:sp>
      <p:sp>
        <p:nvSpPr>
          <p:cNvPr id="11" name="Text 8"/>
          <p:cNvSpPr/>
          <p:nvPr/>
        </p:nvSpPr>
        <p:spPr>
          <a:xfrm>
            <a:off x="12331601" y="4248150"/>
            <a:ext cx="501533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Healthcare</a:t>
            </a:r>
            <a:endParaRPr lang="en-US" sz="2100" dirty="0"/>
          </a:p>
        </p:txBody>
      </p:sp>
      <p:sp>
        <p:nvSpPr>
          <p:cNvPr id="12" name="Shape 9"/>
          <p:cNvSpPr/>
          <p:nvPr/>
        </p:nvSpPr>
        <p:spPr>
          <a:xfrm>
            <a:off x="800100" y="5010150"/>
            <a:ext cx="5460950" cy="876300"/>
          </a:xfrm>
          <a:prstGeom prst="rect">
            <a:avLst/>
          </a:prstGeom>
          <a:solidFill>
            <a:srgbClr val="F2F5F6"/>
          </a:solidFill>
          <a:ln/>
        </p:spPr>
      </p:sp>
      <p:sp>
        <p:nvSpPr>
          <p:cNvPr id="13" name="Text 10"/>
          <p:cNvSpPr/>
          <p:nvPr/>
        </p:nvSpPr>
        <p:spPr>
          <a:xfrm>
            <a:off x="1104900" y="5276850"/>
            <a:ext cx="501517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Financial services</a:t>
            </a:r>
            <a:endParaRPr lang="en-US" sz="2100" dirty="0"/>
          </a:p>
        </p:txBody>
      </p:sp>
      <p:sp>
        <p:nvSpPr>
          <p:cNvPr id="14" name="Shape 11"/>
          <p:cNvSpPr/>
          <p:nvPr/>
        </p:nvSpPr>
        <p:spPr>
          <a:xfrm>
            <a:off x="6413450" y="5010150"/>
            <a:ext cx="5460950" cy="876300"/>
          </a:xfrm>
          <a:prstGeom prst="rect">
            <a:avLst/>
          </a:prstGeom>
          <a:solidFill>
            <a:srgbClr val="F2F5F6"/>
          </a:solidFill>
          <a:ln/>
        </p:spPr>
      </p:sp>
      <p:sp>
        <p:nvSpPr>
          <p:cNvPr id="15" name="Text 12"/>
          <p:cNvSpPr/>
          <p:nvPr/>
        </p:nvSpPr>
        <p:spPr>
          <a:xfrm>
            <a:off x="6718250" y="5276850"/>
            <a:ext cx="501517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Technology</a:t>
            </a:r>
            <a:endParaRPr lang="en-US" sz="2100" dirty="0"/>
          </a:p>
        </p:txBody>
      </p:sp>
      <p:sp>
        <p:nvSpPr>
          <p:cNvPr id="16" name="Shape 13"/>
          <p:cNvSpPr/>
          <p:nvPr/>
        </p:nvSpPr>
        <p:spPr>
          <a:xfrm>
            <a:off x="12026801" y="5010150"/>
            <a:ext cx="5461099" cy="876300"/>
          </a:xfrm>
          <a:prstGeom prst="rect">
            <a:avLst/>
          </a:prstGeom>
          <a:solidFill>
            <a:srgbClr val="F2F5F6"/>
          </a:solidFill>
          <a:ln/>
        </p:spPr>
      </p:sp>
      <p:sp>
        <p:nvSpPr>
          <p:cNvPr id="17" name="Text 14"/>
          <p:cNvSpPr/>
          <p:nvPr/>
        </p:nvSpPr>
        <p:spPr>
          <a:xfrm>
            <a:off x="12331601" y="5276850"/>
            <a:ext cx="501533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Telecommunications</a:t>
            </a:r>
            <a:endParaRPr lang="en-US" sz="2100" dirty="0"/>
          </a:p>
        </p:txBody>
      </p:sp>
      <p:sp>
        <p:nvSpPr>
          <p:cNvPr id="18" name="Text 15"/>
          <p:cNvSpPr/>
          <p:nvPr/>
        </p:nvSpPr>
        <p:spPr>
          <a:xfrm>
            <a:off x="800100" y="641985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Engagements were fixed-price, fixed-scope and fixed-duration. At least one pursuit was co-sold with Adobe.</a:t>
            </a:r>
            <a:endParaRPr lang="en-US" sz="1800" dirty="0"/>
          </a:p>
        </p:txBody>
      </p:sp>
      <p:sp>
        <p:nvSpPr>
          <p:cNvPr id="19" name="Text 1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0" name="Text 1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1" name="Text 18"/>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8</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Delivery model</a:t>
            </a:r>
            <a:endParaRPr lang="en-US" sz="3900" dirty="0"/>
          </a:p>
        </p:txBody>
      </p:sp>
      <p:sp>
        <p:nvSpPr>
          <p:cNvPr id="5" name="Shape 2"/>
          <p:cNvSpPr/>
          <p:nvPr/>
        </p:nvSpPr>
        <p:spPr>
          <a:xfrm>
            <a:off x="800100" y="2057400"/>
            <a:ext cx="1213247" cy="133350"/>
          </a:xfrm>
          <a:prstGeom prst="rect">
            <a:avLst/>
          </a:prstGeom>
          <a:solidFill>
            <a:srgbClr val="FF532C"/>
          </a:solidFill>
          <a:ln/>
        </p:spPr>
      </p:sp>
      <p:sp>
        <p:nvSpPr>
          <p:cNvPr id="6" name="Shape 3"/>
          <p:cNvSpPr/>
          <p:nvPr/>
        </p:nvSpPr>
        <p:spPr>
          <a:xfrm>
            <a:off x="2089547" y="2057400"/>
            <a:ext cx="1213396" cy="133350"/>
          </a:xfrm>
          <a:prstGeom prst="rect">
            <a:avLst/>
          </a:prstGeom>
          <a:solidFill>
            <a:srgbClr val="FF532C"/>
          </a:solidFill>
          <a:ln/>
        </p:spPr>
      </p:sp>
      <p:sp>
        <p:nvSpPr>
          <p:cNvPr id="7" name="Shape 4"/>
          <p:cNvSpPr/>
          <p:nvPr/>
        </p:nvSpPr>
        <p:spPr>
          <a:xfrm>
            <a:off x="3379143" y="2057400"/>
            <a:ext cx="1213247" cy="133350"/>
          </a:xfrm>
          <a:prstGeom prst="rect">
            <a:avLst/>
          </a:prstGeom>
          <a:solidFill>
            <a:srgbClr val="FF532C"/>
          </a:solidFill>
          <a:ln/>
        </p:spPr>
      </p:sp>
      <p:sp>
        <p:nvSpPr>
          <p:cNvPr id="8" name="Shape 5"/>
          <p:cNvSpPr/>
          <p:nvPr/>
        </p:nvSpPr>
        <p:spPr>
          <a:xfrm>
            <a:off x="4668589" y="2057400"/>
            <a:ext cx="1213396" cy="133350"/>
          </a:xfrm>
          <a:prstGeom prst="rect">
            <a:avLst/>
          </a:prstGeom>
          <a:solidFill>
            <a:srgbClr val="131313"/>
          </a:solidFill>
          <a:ln/>
        </p:spPr>
      </p:sp>
      <p:sp>
        <p:nvSpPr>
          <p:cNvPr id="9" name="Shape 6"/>
          <p:cNvSpPr/>
          <p:nvPr/>
        </p:nvSpPr>
        <p:spPr>
          <a:xfrm>
            <a:off x="5958185" y="2057400"/>
            <a:ext cx="1213396" cy="133350"/>
          </a:xfrm>
          <a:prstGeom prst="rect">
            <a:avLst/>
          </a:prstGeom>
          <a:solidFill>
            <a:srgbClr val="131313"/>
          </a:solidFill>
          <a:ln/>
        </p:spPr>
      </p:sp>
      <p:sp>
        <p:nvSpPr>
          <p:cNvPr id="10" name="Shape 7"/>
          <p:cNvSpPr/>
          <p:nvPr/>
        </p:nvSpPr>
        <p:spPr>
          <a:xfrm>
            <a:off x="7247781" y="2057400"/>
            <a:ext cx="1213247" cy="133350"/>
          </a:xfrm>
          <a:prstGeom prst="rect">
            <a:avLst/>
          </a:prstGeom>
          <a:solidFill>
            <a:srgbClr val="131313"/>
          </a:solidFill>
          <a:ln/>
        </p:spPr>
      </p:sp>
      <p:sp>
        <p:nvSpPr>
          <p:cNvPr id="11" name="Shape 8"/>
          <p:cNvSpPr/>
          <p:nvPr/>
        </p:nvSpPr>
        <p:spPr>
          <a:xfrm>
            <a:off x="8537228" y="2057400"/>
            <a:ext cx="1213396" cy="133350"/>
          </a:xfrm>
          <a:prstGeom prst="rect">
            <a:avLst/>
          </a:prstGeom>
          <a:solidFill>
            <a:srgbClr val="131313"/>
          </a:solidFill>
          <a:ln/>
        </p:spPr>
      </p:sp>
      <p:sp>
        <p:nvSpPr>
          <p:cNvPr id="12" name="Shape 9"/>
          <p:cNvSpPr/>
          <p:nvPr/>
        </p:nvSpPr>
        <p:spPr>
          <a:xfrm>
            <a:off x="9826823" y="2057400"/>
            <a:ext cx="1213247" cy="133350"/>
          </a:xfrm>
          <a:prstGeom prst="rect">
            <a:avLst/>
          </a:prstGeom>
          <a:solidFill>
            <a:srgbClr val="131313"/>
          </a:solidFill>
          <a:ln/>
        </p:spPr>
      </p:sp>
      <p:sp>
        <p:nvSpPr>
          <p:cNvPr id="13" name="Shape 10"/>
          <p:cNvSpPr/>
          <p:nvPr/>
        </p:nvSpPr>
        <p:spPr>
          <a:xfrm>
            <a:off x="11116270" y="2057400"/>
            <a:ext cx="1213396" cy="133350"/>
          </a:xfrm>
          <a:prstGeom prst="rect">
            <a:avLst/>
          </a:prstGeom>
          <a:solidFill>
            <a:srgbClr val="131313"/>
          </a:solidFill>
          <a:ln/>
        </p:spPr>
      </p:sp>
      <p:sp>
        <p:nvSpPr>
          <p:cNvPr id="14" name="Shape 11"/>
          <p:cNvSpPr/>
          <p:nvPr/>
        </p:nvSpPr>
        <p:spPr>
          <a:xfrm>
            <a:off x="12405866" y="2057400"/>
            <a:ext cx="1213396" cy="133350"/>
          </a:xfrm>
          <a:prstGeom prst="rect">
            <a:avLst/>
          </a:prstGeom>
          <a:solidFill>
            <a:srgbClr val="131313"/>
          </a:solidFill>
          <a:ln/>
        </p:spPr>
      </p:sp>
      <p:sp>
        <p:nvSpPr>
          <p:cNvPr id="15" name="Shape 12"/>
          <p:cNvSpPr/>
          <p:nvPr/>
        </p:nvSpPr>
        <p:spPr>
          <a:xfrm>
            <a:off x="13695462" y="2057400"/>
            <a:ext cx="1213247" cy="133350"/>
          </a:xfrm>
          <a:prstGeom prst="rect">
            <a:avLst/>
          </a:prstGeom>
          <a:solidFill>
            <a:srgbClr val="131313">
              <a:alpha val="28000"/>
            </a:srgbClr>
          </a:solidFill>
          <a:ln/>
        </p:spPr>
      </p:sp>
      <p:sp>
        <p:nvSpPr>
          <p:cNvPr id="16" name="Shape 13"/>
          <p:cNvSpPr/>
          <p:nvPr/>
        </p:nvSpPr>
        <p:spPr>
          <a:xfrm>
            <a:off x="14984909" y="2057400"/>
            <a:ext cx="1213396" cy="133350"/>
          </a:xfrm>
          <a:prstGeom prst="rect">
            <a:avLst/>
          </a:prstGeom>
          <a:solidFill>
            <a:srgbClr val="131313">
              <a:alpha val="28000"/>
            </a:srgbClr>
          </a:solidFill>
          <a:ln/>
        </p:spPr>
      </p:sp>
      <p:sp>
        <p:nvSpPr>
          <p:cNvPr id="17" name="Shape 14"/>
          <p:cNvSpPr/>
          <p:nvPr/>
        </p:nvSpPr>
        <p:spPr>
          <a:xfrm>
            <a:off x="16274504" y="2057400"/>
            <a:ext cx="1213396" cy="133350"/>
          </a:xfrm>
          <a:prstGeom prst="rect">
            <a:avLst/>
          </a:prstGeom>
          <a:solidFill>
            <a:srgbClr val="131313">
              <a:alpha val="28000"/>
            </a:srgbClr>
          </a:solidFill>
          <a:ln/>
        </p:spPr>
      </p:sp>
      <p:sp>
        <p:nvSpPr>
          <p:cNvPr id="18" name="Text 15"/>
          <p:cNvSpPr/>
          <p:nvPr/>
        </p:nvSpPr>
        <p:spPr>
          <a:xfrm>
            <a:off x="800100" y="2343150"/>
            <a:ext cx="18356580" cy="257175"/>
          </a:xfrm>
          <a:prstGeom prst="rect">
            <a:avLst/>
          </a:prstGeom>
          <a:noFill/>
          <a:ln/>
        </p:spPr>
        <p:txBody>
          <a:bodyPr wrap="square" lIns="25400" tIns="25400" rIns="25400" bIns="25400" rtlCol="0" anchor="t">
            <a:normAutofit/>
          </a:bodyPr>
          <a:lstStyle/>
          <a:p>
            <a:pPr algn="l" indent="0" marL="0">
              <a:buNone/>
            </a:pPr>
            <a:r>
              <a:rPr lang="en-US" sz="1500" spc="38" kern="0" dirty="0">
                <a:solidFill>
                  <a:srgbClr val="777777"/>
                </a:solidFill>
                <a:latin typeface="Arial" pitchFamily="34" charset="0"/>
                <a:ea typeface="Arial" pitchFamily="34" charset="-122"/>
                <a:cs typeface="Arial" pitchFamily="34" charset="-120"/>
              </a:rPr>
              <a:t>Thirteen two-week sprints</a:t>
            </a:r>
            <a:endParaRPr lang="en-US" sz="1500" dirty="0"/>
          </a:p>
        </p:txBody>
      </p:sp>
      <p:sp>
        <p:nvSpPr>
          <p:cNvPr id="19" name="Shape 16"/>
          <p:cNvSpPr/>
          <p:nvPr/>
        </p:nvSpPr>
        <p:spPr>
          <a:xfrm>
            <a:off x="800100" y="2857500"/>
            <a:ext cx="3792289" cy="2857500"/>
          </a:xfrm>
          <a:prstGeom prst="rect">
            <a:avLst/>
          </a:prstGeom>
          <a:solidFill>
            <a:srgbClr val="F2F5F6"/>
          </a:solidFill>
          <a:ln/>
        </p:spPr>
      </p:sp>
      <p:sp>
        <p:nvSpPr>
          <p:cNvPr id="20" name="Text 17"/>
          <p:cNvSpPr/>
          <p:nvPr/>
        </p:nvSpPr>
        <p:spPr>
          <a:xfrm>
            <a:off x="1104900" y="3162300"/>
            <a:ext cx="350095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DEFINE</a:t>
            </a:r>
            <a:endParaRPr lang="en-US" sz="1650" dirty="0"/>
          </a:p>
        </p:txBody>
      </p:sp>
      <p:sp>
        <p:nvSpPr>
          <p:cNvPr id="21" name="Text 18"/>
          <p:cNvSpPr/>
          <p:nvPr/>
        </p:nvSpPr>
        <p:spPr>
          <a:xfrm>
            <a:off x="1104900" y="3638550"/>
            <a:ext cx="3500958"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Requirements</a:t>
            </a:r>
            <a:endParaRPr lang="en-US" sz="1800" dirty="0"/>
          </a:p>
        </p:txBody>
      </p:sp>
      <p:sp>
        <p:nvSpPr>
          <p:cNvPr id="22" name="Shape 19"/>
          <p:cNvSpPr/>
          <p:nvPr/>
        </p:nvSpPr>
        <p:spPr>
          <a:xfrm>
            <a:off x="4668589" y="2857500"/>
            <a:ext cx="8950672" cy="2857500"/>
          </a:xfrm>
          <a:prstGeom prst="rect">
            <a:avLst/>
          </a:prstGeom>
          <a:solidFill>
            <a:srgbClr val="F2F5F6"/>
          </a:solidFill>
          <a:ln/>
        </p:spPr>
      </p:sp>
      <p:sp>
        <p:nvSpPr>
          <p:cNvPr id="23" name="Text 20"/>
          <p:cNvSpPr/>
          <p:nvPr/>
        </p:nvSpPr>
        <p:spPr>
          <a:xfrm>
            <a:off x="4973389" y="3162300"/>
            <a:ext cx="917517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DEVELOP</a:t>
            </a:r>
            <a:endParaRPr lang="en-US" sz="1650" dirty="0"/>
          </a:p>
        </p:txBody>
      </p:sp>
      <p:sp>
        <p:nvSpPr>
          <p:cNvPr id="24" name="Text 21"/>
          <p:cNvSpPr/>
          <p:nvPr/>
        </p:nvSpPr>
        <p:spPr>
          <a:xfrm>
            <a:off x="4973389" y="3638550"/>
            <a:ext cx="8591304"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AEM development and QA · Commerce development and QA · Marketing automation development and QA · Analytics · Target · Audience Manager</a:t>
            </a:r>
            <a:endParaRPr lang="en-US" sz="1800" dirty="0"/>
          </a:p>
        </p:txBody>
      </p:sp>
      <p:sp>
        <p:nvSpPr>
          <p:cNvPr id="25" name="Shape 22"/>
          <p:cNvSpPr/>
          <p:nvPr/>
        </p:nvSpPr>
        <p:spPr>
          <a:xfrm>
            <a:off x="13695462" y="2857500"/>
            <a:ext cx="3792438" cy="2857500"/>
          </a:xfrm>
          <a:prstGeom prst="rect">
            <a:avLst/>
          </a:prstGeom>
          <a:solidFill>
            <a:srgbClr val="F2F5F6"/>
          </a:solidFill>
          <a:ln/>
        </p:spPr>
      </p:sp>
      <p:sp>
        <p:nvSpPr>
          <p:cNvPr id="26" name="Text 23"/>
          <p:cNvSpPr/>
          <p:nvPr/>
        </p:nvSpPr>
        <p:spPr>
          <a:xfrm>
            <a:off x="14000262" y="3162300"/>
            <a:ext cx="350112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LAUNCH</a:t>
            </a:r>
            <a:endParaRPr lang="en-US" sz="1650" dirty="0"/>
          </a:p>
        </p:txBody>
      </p:sp>
      <p:sp>
        <p:nvSpPr>
          <p:cNvPr id="27" name="Text 24"/>
          <p:cNvSpPr/>
          <p:nvPr/>
        </p:nvSpPr>
        <p:spPr>
          <a:xfrm>
            <a:off x="14000262" y="3638550"/>
            <a:ext cx="3501122"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Hardening · Go-live</a:t>
            </a:r>
            <a:endParaRPr lang="en-US" sz="1800" dirty="0"/>
          </a:p>
        </p:txBody>
      </p:sp>
      <p:sp>
        <p:nvSpPr>
          <p:cNvPr id="28" name="Text 25"/>
          <p:cNvSpPr/>
          <p:nvPr/>
        </p:nvSpPr>
        <p:spPr>
          <a:xfrm>
            <a:off x="800100" y="6400800"/>
            <a:ext cx="642942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NAMED DELIVERY ROLES IN THE PACKAGED MODEL</a:t>
            </a:r>
            <a:endParaRPr lang="en-US" sz="1650" dirty="0"/>
          </a:p>
        </p:txBody>
      </p:sp>
      <p:sp>
        <p:nvSpPr>
          <p:cNvPr id="29" name="Shape 26"/>
          <p:cNvSpPr/>
          <p:nvPr/>
        </p:nvSpPr>
        <p:spPr>
          <a:xfrm>
            <a:off x="800100" y="6858000"/>
            <a:ext cx="2547193" cy="619125"/>
          </a:xfrm>
          <a:prstGeom prst="rect">
            <a:avLst/>
          </a:prstGeom>
          <a:ln w="9525">
            <a:solidFill>
              <a:srgbClr val="131313">
                <a:alpha val="20000"/>
              </a:srgbClr>
            </a:solidFill>
            <a:prstDash val="solid"/>
          </a:ln>
        </p:spPr>
      </p:sp>
      <p:sp>
        <p:nvSpPr>
          <p:cNvPr id="30" name="Text 27"/>
          <p:cNvSpPr/>
          <p:nvPr/>
        </p:nvSpPr>
        <p:spPr>
          <a:xfrm>
            <a:off x="1076325" y="7019925"/>
            <a:ext cx="207115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Enterprise Architect</a:t>
            </a:r>
            <a:endParaRPr lang="en-US" sz="1800" dirty="0"/>
          </a:p>
        </p:txBody>
      </p:sp>
      <p:sp>
        <p:nvSpPr>
          <p:cNvPr id="31" name="Shape 28"/>
          <p:cNvSpPr/>
          <p:nvPr/>
        </p:nvSpPr>
        <p:spPr>
          <a:xfrm>
            <a:off x="3499693" y="6858000"/>
            <a:ext cx="2102346" cy="619125"/>
          </a:xfrm>
          <a:prstGeom prst="rect">
            <a:avLst/>
          </a:prstGeom>
          <a:solidFill>
            <a:srgbClr val="131313"/>
          </a:solidFill>
          <a:ln w="9525">
            <a:solidFill>
              <a:srgbClr val="131313"/>
            </a:solidFill>
            <a:prstDash val="solid"/>
          </a:ln>
        </p:spPr>
      </p:sp>
      <p:sp>
        <p:nvSpPr>
          <p:cNvPr id="32" name="Text 29"/>
          <p:cNvSpPr/>
          <p:nvPr/>
        </p:nvSpPr>
        <p:spPr>
          <a:xfrm>
            <a:off x="3775918" y="7019925"/>
            <a:ext cx="162609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Architect</a:t>
            </a:r>
            <a:endParaRPr lang="en-US" sz="1800" dirty="0"/>
          </a:p>
        </p:txBody>
      </p:sp>
      <p:sp>
        <p:nvSpPr>
          <p:cNvPr id="33" name="Shape 30"/>
          <p:cNvSpPr/>
          <p:nvPr/>
        </p:nvSpPr>
        <p:spPr>
          <a:xfrm>
            <a:off x="5754439" y="6858000"/>
            <a:ext cx="2039243" cy="619125"/>
          </a:xfrm>
          <a:prstGeom prst="rect">
            <a:avLst/>
          </a:prstGeom>
          <a:ln w="9525">
            <a:solidFill>
              <a:srgbClr val="131313">
                <a:alpha val="20000"/>
              </a:srgbClr>
            </a:solidFill>
            <a:prstDash val="solid"/>
          </a:ln>
        </p:spPr>
      </p:sp>
      <p:sp>
        <p:nvSpPr>
          <p:cNvPr id="34" name="Text 31"/>
          <p:cNvSpPr/>
          <p:nvPr/>
        </p:nvSpPr>
        <p:spPr>
          <a:xfrm>
            <a:off x="6030664" y="7019925"/>
            <a:ext cx="15629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Analytics Lead</a:t>
            </a:r>
            <a:endParaRPr lang="en-US" sz="1800" dirty="0"/>
          </a:p>
        </p:txBody>
      </p:sp>
      <p:sp>
        <p:nvSpPr>
          <p:cNvPr id="35" name="Shape 32"/>
          <p:cNvSpPr/>
          <p:nvPr/>
        </p:nvSpPr>
        <p:spPr>
          <a:xfrm>
            <a:off x="7946082" y="6858000"/>
            <a:ext cx="2064544" cy="619125"/>
          </a:xfrm>
          <a:prstGeom prst="rect">
            <a:avLst/>
          </a:prstGeom>
          <a:ln w="9525">
            <a:solidFill>
              <a:srgbClr val="131313">
                <a:alpha val="20000"/>
              </a:srgbClr>
            </a:solidFill>
            <a:prstDash val="solid"/>
          </a:ln>
        </p:spPr>
      </p:sp>
      <p:sp>
        <p:nvSpPr>
          <p:cNvPr id="36" name="Text 33"/>
          <p:cNvSpPr/>
          <p:nvPr/>
        </p:nvSpPr>
        <p:spPr>
          <a:xfrm>
            <a:off x="8222307" y="7019925"/>
            <a:ext cx="158829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Strategist</a:t>
            </a:r>
            <a:endParaRPr lang="en-US" sz="1800" dirty="0"/>
          </a:p>
        </p:txBody>
      </p:sp>
      <p:sp>
        <p:nvSpPr>
          <p:cNvPr id="37" name="Shape 34"/>
          <p:cNvSpPr/>
          <p:nvPr/>
        </p:nvSpPr>
        <p:spPr>
          <a:xfrm>
            <a:off x="10163026" y="6858000"/>
            <a:ext cx="2013942" cy="619125"/>
          </a:xfrm>
          <a:prstGeom prst="rect">
            <a:avLst/>
          </a:prstGeom>
          <a:ln w="9525">
            <a:solidFill>
              <a:srgbClr val="131313">
                <a:alpha val="20000"/>
              </a:srgbClr>
            </a:solidFill>
            <a:prstDash val="solid"/>
          </a:ln>
        </p:spPr>
      </p:sp>
      <p:sp>
        <p:nvSpPr>
          <p:cNvPr id="38" name="Text 35"/>
          <p:cNvSpPr/>
          <p:nvPr/>
        </p:nvSpPr>
        <p:spPr>
          <a:xfrm>
            <a:off x="10439251" y="7019925"/>
            <a:ext cx="153769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Engineer</a:t>
            </a:r>
            <a:endParaRPr lang="en-US" sz="1800" dirty="0"/>
          </a:p>
        </p:txBody>
      </p:sp>
      <p:sp>
        <p:nvSpPr>
          <p:cNvPr id="39" name="Shape 36"/>
          <p:cNvSpPr/>
          <p:nvPr/>
        </p:nvSpPr>
        <p:spPr>
          <a:xfrm>
            <a:off x="12329368" y="6858000"/>
            <a:ext cx="2229743" cy="619125"/>
          </a:xfrm>
          <a:prstGeom prst="rect">
            <a:avLst/>
          </a:prstGeom>
          <a:ln w="9525">
            <a:solidFill>
              <a:srgbClr val="131313">
                <a:alpha val="20000"/>
              </a:srgbClr>
            </a:solidFill>
            <a:prstDash val="solid"/>
          </a:ln>
        </p:spPr>
      </p:sp>
      <p:sp>
        <p:nvSpPr>
          <p:cNvPr id="40" name="Text 37"/>
          <p:cNvSpPr/>
          <p:nvPr/>
        </p:nvSpPr>
        <p:spPr>
          <a:xfrm>
            <a:off x="12605593" y="7019925"/>
            <a:ext cx="17534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Project Manager</a:t>
            </a:r>
            <a:endParaRPr lang="en-US" sz="1800" dirty="0"/>
          </a:p>
        </p:txBody>
      </p:sp>
      <p:sp>
        <p:nvSpPr>
          <p:cNvPr id="41" name="Text 38"/>
          <p:cNvSpPr/>
          <p:nvPr/>
        </p:nvSpPr>
        <p:spPr>
          <a:xfrm>
            <a:off x="800100" y="7848600"/>
            <a:ext cx="3160276"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Offering</a:t>
            </a:r>
            <a:endParaRPr lang="en-US" sz="1500" dirty="0"/>
          </a:p>
        </p:txBody>
      </p:sp>
      <p:sp>
        <p:nvSpPr>
          <p:cNvPr id="42" name="Text 39"/>
          <p:cNvSpPr/>
          <p:nvPr/>
        </p:nvSpPr>
        <p:spPr>
          <a:xfrm>
            <a:off x="800100" y="830580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Data Architect was a defined, scoped role in how Ascent engagements were staffed and sold — not a general resource assignment.</a:t>
            </a:r>
            <a:endParaRPr lang="en-US" sz="1800" dirty="0"/>
          </a:p>
        </p:txBody>
      </p:sp>
      <p:sp>
        <p:nvSpPr>
          <p:cNvPr id="43" name="Text 4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4" name="Text 4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5" name="Text 42"/>
          <p:cNvSpPr/>
          <p:nvPr/>
        </p:nvSpPr>
        <p:spPr>
          <a:xfrm>
            <a:off x="17865626" y="9820275"/>
            <a:ext cx="155674"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9</a:t>
            </a:r>
            <a:endParaRPr lang="en-US" sz="11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Proprietary accelerators</a:t>
            </a:r>
            <a:endParaRPr lang="en-US" sz="3900" dirty="0"/>
          </a:p>
        </p:txBody>
      </p:sp>
      <p:sp>
        <p:nvSpPr>
          <p:cNvPr id="5" name="Shape 2"/>
          <p:cNvSpPr/>
          <p:nvPr/>
        </p:nvSpPr>
        <p:spPr>
          <a:xfrm>
            <a:off x="800100" y="2362200"/>
            <a:ext cx="5334000" cy="4000500"/>
          </a:xfrm>
          <a:prstGeom prst="rect">
            <a:avLst/>
          </a:prstGeom>
          <a:solidFill>
            <a:srgbClr val="F2F5F6"/>
          </a:solidFill>
          <a:ln/>
        </p:spPr>
      </p:sp>
      <p:sp>
        <p:nvSpPr>
          <p:cNvPr id="6" name="Shape 3"/>
          <p:cNvSpPr/>
          <p:nvPr/>
        </p:nvSpPr>
        <p:spPr>
          <a:xfrm>
            <a:off x="1257300" y="2819400"/>
            <a:ext cx="200025" cy="200025"/>
          </a:xfrm>
          <a:prstGeom prst="rect">
            <a:avLst/>
          </a:prstGeom>
          <a:solidFill>
            <a:srgbClr val="FF532C"/>
          </a:solidFill>
          <a:ln/>
        </p:spPr>
      </p:sp>
      <p:sp>
        <p:nvSpPr>
          <p:cNvPr id="7" name="Text 4"/>
          <p:cNvSpPr/>
          <p:nvPr/>
        </p:nvSpPr>
        <p:spPr>
          <a:xfrm>
            <a:off x="1257300" y="3324225"/>
            <a:ext cx="4552188"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FastForward component library</a:t>
            </a:r>
            <a:endParaRPr lang="en-US" sz="2400" dirty="0"/>
          </a:p>
        </p:txBody>
      </p:sp>
      <p:sp>
        <p:nvSpPr>
          <p:cNvPr id="8" name="Text 5"/>
          <p:cNvSpPr/>
          <p:nvPr/>
        </p:nvSpPr>
        <p:spPr>
          <a:xfrm>
            <a:off x="1257300" y="4352925"/>
            <a:ext cx="4552188"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Over fifty custom AEM components extending Adobe’s core set, reducing bespoke development per engagement</a:t>
            </a:r>
            <a:endParaRPr lang="en-US" sz="1800" dirty="0"/>
          </a:p>
        </p:txBody>
      </p:sp>
      <p:sp>
        <p:nvSpPr>
          <p:cNvPr id="9" name="Shape 6"/>
          <p:cNvSpPr/>
          <p:nvPr/>
        </p:nvSpPr>
        <p:spPr>
          <a:xfrm>
            <a:off x="6477000" y="2362200"/>
            <a:ext cx="5334000" cy="4000500"/>
          </a:xfrm>
          <a:prstGeom prst="rect">
            <a:avLst/>
          </a:prstGeom>
          <a:solidFill>
            <a:srgbClr val="F2F5F6"/>
          </a:solidFill>
          <a:ln/>
        </p:spPr>
      </p:sp>
      <p:sp>
        <p:nvSpPr>
          <p:cNvPr id="10" name="Shape 7"/>
          <p:cNvSpPr/>
          <p:nvPr/>
        </p:nvSpPr>
        <p:spPr>
          <a:xfrm>
            <a:off x="6934200" y="2819400"/>
            <a:ext cx="200025" cy="200025"/>
          </a:xfrm>
          <a:prstGeom prst="rect">
            <a:avLst/>
          </a:prstGeom>
          <a:solidFill>
            <a:srgbClr val="FF532C"/>
          </a:solidFill>
          <a:ln/>
        </p:spPr>
      </p:sp>
      <p:sp>
        <p:nvSpPr>
          <p:cNvPr id="11" name="Text 8"/>
          <p:cNvSpPr/>
          <p:nvPr/>
        </p:nvSpPr>
        <p:spPr>
          <a:xfrm>
            <a:off x="6934200" y="3324225"/>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CMS Bridge</a:t>
            </a:r>
            <a:endParaRPr lang="en-US" sz="2400" dirty="0"/>
          </a:p>
        </p:txBody>
      </p:sp>
      <p:sp>
        <p:nvSpPr>
          <p:cNvPr id="12" name="Text 9"/>
          <p:cNvSpPr/>
          <p:nvPr/>
        </p:nvSpPr>
        <p:spPr>
          <a:xfrm>
            <a:off x="6934200" y="3971925"/>
            <a:ext cx="4552188"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Machine-learning-assisted migration of content from an existing site into AEM</a:t>
            </a:r>
            <a:endParaRPr lang="en-US" sz="1800" dirty="0"/>
          </a:p>
        </p:txBody>
      </p:sp>
      <p:sp>
        <p:nvSpPr>
          <p:cNvPr id="13" name="Shape 10"/>
          <p:cNvSpPr/>
          <p:nvPr/>
        </p:nvSpPr>
        <p:spPr>
          <a:xfrm>
            <a:off x="12153900" y="2362200"/>
            <a:ext cx="5334000" cy="4000500"/>
          </a:xfrm>
          <a:prstGeom prst="rect">
            <a:avLst/>
          </a:prstGeom>
          <a:solidFill>
            <a:srgbClr val="F2F5F6"/>
          </a:solidFill>
          <a:ln/>
        </p:spPr>
      </p:sp>
      <p:sp>
        <p:nvSpPr>
          <p:cNvPr id="14" name="Shape 11"/>
          <p:cNvSpPr/>
          <p:nvPr/>
        </p:nvSpPr>
        <p:spPr>
          <a:xfrm>
            <a:off x="12611100" y="2819400"/>
            <a:ext cx="200025" cy="200025"/>
          </a:xfrm>
          <a:prstGeom prst="rect">
            <a:avLst/>
          </a:prstGeom>
          <a:solidFill>
            <a:srgbClr val="FF532C"/>
          </a:solidFill>
          <a:ln/>
        </p:spPr>
      </p:sp>
      <p:sp>
        <p:nvSpPr>
          <p:cNvPr id="15" name="Text 12"/>
          <p:cNvSpPr/>
          <p:nvPr/>
        </p:nvSpPr>
        <p:spPr>
          <a:xfrm>
            <a:off x="12611100" y="3324225"/>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Solr native AEM integration</a:t>
            </a:r>
            <a:endParaRPr lang="en-US" sz="2400" dirty="0"/>
          </a:p>
        </p:txBody>
      </p:sp>
      <p:sp>
        <p:nvSpPr>
          <p:cNvPr id="16" name="Text 13"/>
          <p:cNvSpPr/>
          <p:nvPr/>
        </p:nvSpPr>
        <p:spPr>
          <a:xfrm>
            <a:off x="12611100" y="3971925"/>
            <a:ext cx="4552188"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Search, indexing, collections, synonyms, boosting and faceting integrated into the AEM content repository</a:t>
            </a:r>
            <a:endParaRPr lang="en-US" sz="1800" dirty="0"/>
          </a:p>
        </p:txBody>
      </p:sp>
      <p:sp>
        <p:nvSpPr>
          <p:cNvPr id="17" name="Text 14"/>
          <p:cNvSpPr/>
          <p:nvPr/>
        </p:nvSpPr>
        <p:spPr>
          <a:xfrm>
            <a:off x="800100" y="7048500"/>
            <a:ext cx="146685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These are company-built assets. Knowledge of them exists only through work at TA Digital.</a:t>
            </a:r>
            <a:endParaRPr lang="en-US" sz="1800" dirty="0"/>
          </a:p>
        </p:txBody>
      </p:sp>
      <p:sp>
        <p:nvSpPr>
          <p:cNvPr id="18" name="Text 1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9" name="Text 1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0" name="Text 17"/>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10</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171781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TA DIGITAL ASCENT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External validation</a:t>
            </a:r>
            <a:endParaRPr lang="en-US" sz="3900" dirty="0"/>
          </a:p>
        </p:txBody>
      </p:sp>
      <p:sp>
        <p:nvSpPr>
          <p:cNvPr id="5" name="Shape 2"/>
          <p:cNvSpPr/>
          <p:nvPr/>
        </p:nvSpPr>
        <p:spPr>
          <a:xfrm>
            <a:off x="800100" y="2133600"/>
            <a:ext cx="6362700" cy="4953000"/>
          </a:xfrm>
          <a:prstGeom prst="rect">
            <a:avLst/>
          </a:prstGeom>
          <a:solidFill>
            <a:srgbClr val="131313"/>
          </a:solidFill>
          <a:ln/>
        </p:spPr>
      </p:sp>
      <p:sp>
        <p:nvSpPr>
          <p:cNvPr id="6" name="Text 3"/>
          <p:cNvSpPr/>
          <p:nvPr/>
        </p:nvSpPr>
        <p:spPr>
          <a:xfrm>
            <a:off x="1333500" y="2667000"/>
            <a:ext cx="5454777" cy="1438275"/>
          </a:xfrm>
          <a:prstGeom prst="rect">
            <a:avLst/>
          </a:prstGeom>
          <a:noFill/>
          <a:ln/>
        </p:spPr>
        <p:txBody>
          <a:bodyPr wrap="square" lIns="25400" tIns="25400" rIns="25400" bIns="25400" rtlCol="0" anchor="t">
            <a:normAutofit/>
          </a:bodyPr>
          <a:lstStyle/>
          <a:p>
            <a:pPr algn="l" indent="0" marL="0">
              <a:lnSpc>
                <a:spcPct val="114884"/>
              </a:lnSpc>
              <a:buNone/>
            </a:pPr>
            <a:r>
              <a:rPr lang="en-US" sz="2850" b="1" spc="-45" kern="0" dirty="0">
                <a:solidFill>
                  <a:srgbClr val="FFFFFF"/>
                </a:solidFill>
                <a:latin typeface="Arial" pitchFamily="34" charset="0"/>
                <a:ea typeface="Arial" pitchFamily="34" charset="-122"/>
                <a:cs typeface="Arial" pitchFamily="34" charset="-120"/>
              </a:rPr>
              <a:t>Ascent is not an internally-described asset only. It is externally validated by Adobe.</a:t>
            </a:r>
            <a:endParaRPr lang="en-US" sz="2850" dirty="0"/>
          </a:p>
        </p:txBody>
      </p:sp>
      <p:sp>
        <p:nvSpPr>
          <p:cNvPr id="7" name="Text 4"/>
          <p:cNvSpPr/>
          <p:nvPr/>
        </p:nvSpPr>
        <p:spPr>
          <a:xfrm>
            <a:off x="1333500" y="5924550"/>
            <a:ext cx="545477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spc="75" kern="0" dirty="0">
                <a:solidFill>
                  <a:srgbClr val="FF532C"/>
                </a:solidFill>
                <a:latin typeface="Arial" pitchFamily="34" charset="0"/>
                <a:ea typeface="Arial" pitchFamily="34" charset="-122"/>
                <a:cs typeface="Arial" pitchFamily="34" charset="-120"/>
              </a:rPr>
              <a:t>ADOBE ACCREDITED PARTNER SOLUTION</a:t>
            </a:r>
            <a:endParaRPr lang="en-US" sz="1800" dirty="0"/>
          </a:p>
        </p:txBody>
      </p:sp>
      <p:sp>
        <p:nvSpPr>
          <p:cNvPr id="8" name="Shape 5"/>
          <p:cNvSpPr/>
          <p:nvPr/>
        </p:nvSpPr>
        <p:spPr>
          <a:xfrm>
            <a:off x="7962900" y="2219325"/>
            <a:ext cx="200025" cy="200025"/>
          </a:xfrm>
          <a:prstGeom prst="rect">
            <a:avLst/>
          </a:prstGeom>
          <a:solidFill>
            <a:srgbClr val="FF532C"/>
          </a:solidFill>
          <a:ln/>
        </p:spPr>
      </p:sp>
      <p:sp>
        <p:nvSpPr>
          <p:cNvPr id="9" name="Text 6"/>
          <p:cNvSpPr/>
          <p:nvPr/>
        </p:nvSpPr>
        <p:spPr>
          <a:xfrm>
            <a:off x="8429625" y="2133600"/>
            <a:ext cx="9330023"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 solution built on TA Digital Ascent was awarded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Adobe Accredited Partner Solution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status. Under Adobe’s programme, accredited solutions are market-tested and technically verified by Adobe experts.</a:t>
            </a:r>
            <a:endParaRPr lang="en-US" sz="1800" dirty="0"/>
          </a:p>
        </p:txBody>
      </p:sp>
      <p:sp>
        <p:nvSpPr>
          <p:cNvPr id="10" name="Shape 7"/>
          <p:cNvSpPr/>
          <p:nvPr/>
        </p:nvSpPr>
        <p:spPr>
          <a:xfrm>
            <a:off x="7962900" y="3552825"/>
            <a:ext cx="200025" cy="200025"/>
          </a:xfrm>
          <a:prstGeom prst="rect">
            <a:avLst/>
          </a:prstGeom>
          <a:solidFill>
            <a:srgbClr val="FF532C"/>
          </a:solidFill>
          <a:ln/>
        </p:spPr>
      </p:sp>
      <p:sp>
        <p:nvSpPr>
          <p:cNvPr id="11" name="Text 8"/>
          <p:cNvSpPr/>
          <p:nvPr/>
        </p:nvSpPr>
        <p:spPr>
          <a:xfrm>
            <a:off x="8429625" y="3467100"/>
            <a:ext cx="9330023"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 company’s Chief Technology Officer stated publicly that Ascent had been serving joint clients with Adobe for several years before I joined the organisation.</a:t>
            </a:r>
            <a:endParaRPr lang="en-US" sz="1800" dirty="0"/>
          </a:p>
        </p:txBody>
      </p:sp>
      <p:sp>
        <p:nvSpPr>
          <p:cNvPr id="12" name="Shape 9"/>
          <p:cNvSpPr/>
          <p:nvPr/>
        </p:nvSpPr>
        <p:spPr>
          <a:xfrm>
            <a:off x="7962900" y="4543425"/>
            <a:ext cx="200025" cy="200025"/>
          </a:xfrm>
          <a:prstGeom prst="rect">
            <a:avLst/>
          </a:prstGeom>
          <a:solidFill>
            <a:srgbClr val="FF532C"/>
          </a:solidFill>
          <a:ln/>
        </p:spPr>
      </p:sp>
      <p:sp>
        <p:nvSpPr>
          <p:cNvPr id="13" name="Text 10"/>
          <p:cNvSpPr/>
          <p:nvPr/>
        </p:nvSpPr>
        <p:spPr>
          <a:xfrm>
            <a:off x="8429625" y="4457700"/>
            <a:ext cx="9330023"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Adobe’s Head of America’s Technical Partner Development, Experience Platform and App Services, was quoted in the same announcement.</a:t>
            </a:r>
            <a:endParaRPr lang="en-US" sz="1800" dirty="0"/>
          </a:p>
        </p:txBody>
      </p:sp>
      <p:sp>
        <p:nvSpPr>
          <p:cNvPr id="14" name="Shape 11"/>
          <p:cNvSpPr/>
          <p:nvPr/>
        </p:nvSpPr>
        <p:spPr>
          <a:xfrm>
            <a:off x="7962900" y="5534025"/>
            <a:ext cx="200025" cy="200025"/>
          </a:xfrm>
          <a:prstGeom prst="rect">
            <a:avLst/>
          </a:prstGeom>
          <a:solidFill>
            <a:srgbClr val="FF532C"/>
          </a:solidFill>
          <a:ln/>
        </p:spPr>
      </p:sp>
      <p:sp>
        <p:nvSpPr>
          <p:cNvPr id="15" name="Text 12"/>
          <p:cNvSpPr/>
          <p:nvPr/>
        </p:nvSpPr>
        <p:spPr>
          <a:xfrm>
            <a:off x="8429625" y="5448300"/>
            <a:ext cx="9964103"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Ascent was showcased at Adobe Summit as a fixed-price, fixed-scope solution.</a:t>
            </a:r>
            <a:endParaRPr lang="en-US" sz="1800" dirty="0"/>
          </a:p>
        </p:txBody>
      </p:sp>
      <p:sp>
        <p:nvSpPr>
          <p:cNvPr id="16" name="Text 13"/>
          <p:cNvSpPr/>
          <p:nvPr/>
        </p:nvSpPr>
        <p:spPr>
          <a:xfrm>
            <a:off x="800100" y="752475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Ascent was an established, Adobe-validated, commercially operating platform before I joined. What I acquired after joining was the company-specific knowledge of how it had been architected, integrated, customised and operated.</a:t>
            </a:r>
            <a:endParaRPr lang="en-US" sz="180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96718" y="9820275"/>
            <a:ext cx="224582"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11</a:t>
            </a:r>
            <a:endParaRPr lang="en-US" sz="11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03</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My Ascent Role and Knowledge Development</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My role in Ascent</a:t>
            </a:r>
            <a:endParaRPr lang="en-US" sz="3900" dirty="0"/>
          </a:p>
        </p:txBody>
      </p:sp>
      <p:sp>
        <p:nvSpPr>
          <p:cNvPr id="5" name="Text 2"/>
          <p:cNvSpPr/>
          <p:nvPr/>
        </p:nvSpPr>
        <p:spPr>
          <a:xfrm>
            <a:off x="800100" y="2133600"/>
            <a:ext cx="8382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POSITION</a:t>
            </a:r>
            <a:endParaRPr lang="en-US" sz="1650" dirty="0"/>
          </a:p>
        </p:txBody>
      </p:sp>
      <p:sp>
        <p:nvSpPr>
          <p:cNvPr id="6" name="Text 3"/>
          <p:cNvSpPr/>
          <p:nvPr/>
        </p:nvSpPr>
        <p:spPr>
          <a:xfrm>
            <a:off x="800100" y="2609850"/>
            <a:ext cx="8382000" cy="485775"/>
          </a:xfrm>
          <a:prstGeom prst="rect">
            <a:avLst/>
          </a:prstGeom>
          <a:noFill/>
          <a:ln/>
        </p:spPr>
        <p:txBody>
          <a:bodyPr wrap="square" lIns="25400" tIns="25400" rIns="25400" bIns="25400" rtlCol="0" anchor="t">
            <a:normAutofit/>
          </a:bodyPr>
          <a:lstStyle/>
          <a:p>
            <a:pPr algn="l" indent="0" marL="0">
              <a:lnSpc>
                <a:spcPct val="110465"/>
              </a:lnSpc>
              <a:buNone/>
            </a:pPr>
            <a:r>
              <a:rPr lang="en-US" sz="2850" b="1" spc="-45" kern="0" dirty="0">
                <a:solidFill>
                  <a:srgbClr val="131313"/>
                </a:solidFill>
                <a:latin typeface="Arial" pitchFamily="34" charset="0"/>
                <a:ea typeface="Arial" pitchFamily="34" charset="-122"/>
                <a:cs typeface="Arial" pitchFamily="34" charset="-120"/>
              </a:rPr>
              <a:t>Data Architect, TA Digital</a:t>
            </a:r>
            <a:endParaRPr lang="en-US" sz="2850" dirty="0"/>
          </a:p>
        </p:txBody>
      </p:sp>
      <p:sp>
        <p:nvSpPr>
          <p:cNvPr id="7" name="Text 4"/>
          <p:cNvSpPr/>
          <p:nvPr/>
        </p:nvSpPr>
        <p:spPr>
          <a:xfrm>
            <a:off x="800100" y="3590925"/>
            <a:ext cx="83820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MY ROLE INTERSECTED ASCENT</a:t>
            </a:r>
            <a:endParaRPr lang="en-US" sz="1650" dirty="0"/>
          </a:p>
        </p:txBody>
      </p:sp>
      <p:sp>
        <p:nvSpPr>
          <p:cNvPr id="8" name="Text 5"/>
          <p:cNvSpPr/>
          <p:nvPr/>
        </p:nvSpPr>
        <p:spPr>
          <a:xfrm>
            <a:off x="800100" y="4067175"/>
            <a:ext cx="7848600"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My deepest functional specialization sat in the Data practice — data architecture, analytics, customer data platform, audience, personalization and marketing integration.</a:t>
            </a:r>
            <a:endParaRPr lang="en-US" sz="1800" dirty="0"/>
          </a:p>
        </p:txBody>
      </p:sp>
      <p:sp>
        <p:nvSpPr>
          <p:cNvPr id="9" name="Text 6"/>
          <p:cNvSpPr/>
          <p:nvPr/>
        </p:nvSpPr>
        <p:spPr>
          <a:xfrm>
            <a:off x="800100" y="5362575"/>
            <a:ext cx="7848600" cy="20955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Ascent itself spanned content, commerce, data, analytics, audience, personalization and marketing technology. My Ascent role was therefore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cross-functional by necessity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 the data layer I specialised in could not be designed, changed or debugged without understanding the eCommerce AEM application, the eCommerce Connector and the Digital Marketing Connector it connected to.</a:t>
            </a:r>
            <a:endParaRPr lang="en-US" sz="1800" dirty="0"/>
          </a:p>
        </p:txBody>
      </p:sp>
      <p:sp>
        <p:nvSpPr>
          <p:cNvPr id="10" name="Shape 7"/>
          <p:cNvSpPr/>
          <p:nvPr/>
        </p:nvSpPr>
        <p:spPr>
          <a:xfrm>
            <a:off x="9220200" y="2133600"/>
            <a:ext cx="8267700" cy="7543800"/>
          </a:xfrm>
          <a:prstGeom prst="rect">
            <a:avLst/>
          </a:prstGeom>
          <a:solidFill>
            <a:srgbClr val="F2F5F6"/>
          </a:solidFill>
          <a:ln/>
        </p:spPr>
      </p:sp>
      <p:sp>
        <p:nvSpPr>
          <p:cNvPr id="11" name="Text 8"/>
          <p:cNvSpPr/>
          <p:nvPr/>
        </p:nvSpPr>
        <p:spPr>
          <a:xfrm>
            <a:off x="9677400" y="2590800"/>
            <a:ext cx="808863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DIRECT ASCENT RESPONSIBILITIES</a:t>
            </a:r>
            <a:endParaRPr lang="en-US" sz="1650" dirty="0"/>
          </a:p>
        </p:txBody>
      </p:sp>
      <p:sp>
        <p:nvSpPr>
          <p:cNvPr id="12" name="Shape 9"/>
          <p:cNvSpPr/>
          <p:nvPr/>
        </p:nvSpPr>
        <p:spPr>
          <a:xfrm>
            <a:off x="9677400" y="3143250"/>
            <a:ext cx="6334423" cy="504825"/>
          </a:xfrm>
          <a:prstGeom prst="rect">
            <a:avLst/>
          </a:prstGeom>
          <a:ln w="9525">
            <a:solidFill>
              <a:srgbClr val="131313">
                <a:alpha val="20000"/>
              </a:srgbClr>
            </a:solidFill>
            <a:prstDash val="solid"/>
          </a:ln>
        </p:spPr>
      </p:sp>
      <p:sp>
        <p:nvSpPr>
          <p:cNvPr id="13" name="Text 10"/>
          <p:cNvSpPr/>
          <p:nvPr/>
        </p:nvSpPr>
        <p:spPr>
          <a:xfrm>
            <a:off x="9877425" y="3248025"/>
            <a:ext cx="612440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Maintaining Ascent codebases, rebuilds and customization</a:t>
            </a:r>
            <a:endParaRPr lang="en-US" sz="1800" dirty="0"/>
          </a:p>
        </p:txBody>
      </p:sp>
      <p:sp>
        <p:nvSpPr>
          <p:cNvPr id="14" name="Shape 11"/>
          <p:cNvSpPr/>
          <p:nvPr/>
        </p:nvSpPr>
        <p:spPr>
          <a:xfrm>
            <a:off x="9677400" y="3762375"/>
            <a:ext cx="7223671" cy="504825"/>
          </a:xfrm>
          <a:prstGeom prst="rect">
            <a:avLst/>
          </a:prstGeom>
          <a:ln w="9525">
            <a:solidFill>
              <a:srgbClr val="131313">
                <a:alpha val="20000"/>
              </a:srgbClr>
            </a:solidFill>
            <a:prstDash val="solid"/>
          </a:ln>
        </p:spPr>
      </p:sp>
      <p:sp>
        <p:nvSpPr>
          <p:cNvPr id="15" name="Text 12"/>
          <p:cNvSpPr/>
          <p:nvPr/>
        </p:nvSpPr>
        <p:spPr>
          <a:xfrm>
            <a:off x="9877425" y="3867150"/>
            <a:ext cx="704033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Keeping Ascent current for new capabilities and client requirements</a:t>
            </a:r>
            <a:endParaRPr lang="en-US" sz="1800" dirty="0"/>
          </a:p>
        </p:txBody>
      </p:sp>
      <p:sp>
        <p:nvSpPr>
          <p:cNvPr id="16" name="Shape 13"/>
          <p:cNvSpPr/>
          <p:nvPr/>
        </p:nvSpPr>
        <p:spPr>
          <a:xfrm>
            <a:off x="9677400" y="4381500"/>
            <a:ext cx="5889575" cy="504825"/>
          </a:xfrm>
          <a:prstGeom prst="rect">
            <a:avLst/>
          </a:prstGeom>
          <a:ln w="9525">
            <a:solidFill>
              <a:srgbClr val="131313">
                <a:alpha val="20000"/>
              </a:srgbClr>
            </a:solidFill>
            <a:prstDash val="solid"/>
          </a:ln>
        </p:spPr>
      </p:sp>
      <p:sp>
        <p:nvSpPr>
          <p:cNvPr id="17" name="Text 14"/>
          <p:cNvSpPr/>
          <p:nvPr/>
        </p:nvSpPr>
        <p:spPr>
          <a:xfrm>
            <a:off x="9877425" y="4486275"/>
            <a:ext cx="566621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Ensuring Ascent remained available for demonstration</a:t>
            </a:r>
            <a:endParaRPr lang="en-US" sz="1800" dirty="0"/>
          </a:p>
        </p:txBody>
      </p:sp>
      <p:sp>
        <p:nvSpPr>
          <p:cNvPr id="18" name="Shape 15"/>
          <p:cNvSpPr/>
          <p:nvPr/>
        </p:nvSpPr>
        <p:spPr>
          <a:xfrm>
            <a:off x="9677400" y="5000625"/>
            <a:ext cx="3131641" cy="504825"/>
          </a:xfrm>
          <a:prstGeom prst="rect">
            <a:avLst/>
          </a:prstGeom>
          <a:ln w="9525">
            <a:solidFill>
              <a:srgbClr val="131313">
                <a:alpha val="20000"/>
              </a:srgbClr>
            </a:solidFill>
            <a:prstDash val="solid"/>
          </a:ln>
        </p:spPr>
      </p:sp>
      <p:sp>
        <p:nvSpPr>
          <p:cNvPr id="19" name="Text 16"/>
          <p:cNvSpPr/>
          <p:nvPr/>
        </p:nvSpPr>
        <p:spPr>
          <a:xfrm>
            <a:off x="9877425" y="5105400"/>
            <a:ext cx="282554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Overall project architecture</a:t>
            </a:r>
            <a:endParaRPr lang="en-US" sz="1800" dirty="0"/>
          </a:p>
        </p:txBody>
      </p:sp>
      <p:sp>
        <p:nvSpPr>
          <p:cNvPr id="20" name="Shape 17"/>
          <p:cNvSpPr/>
          <p:nvPr/>
        </p:nvSpPr>
        <p:spPr>
          <a:xfrm>
            <a:off x="12923341" y="5000625"/>
            <a:ext cx="2052042" cy="504825"/>
          </a:xfrm>
          <a:prstGeom prst="rect">
            <a:avLst/>
          </a:prstGeom>
          <a:ln w="9525">
            <a:solidFill>
              <a:srgbClr val="131313">
                <a:alpha val="20000"/>
              </a:srgbClr>
            </a:solidFill>
            <a:prstDash val="solid"/>
          </a:ln>
        </p:spPr>
      </p:sp>
      <p:sp>
        <p:nvSpPr>
          <p:cNvPr id="21" name="Text 18"/>
          <p:cNvSpPr/>
          <p:nvPr/>
        </p:nvSpPr>
        <p:spPr>
          <a:xfrm>
            <a:off x="13123366" y="5105400"/>
            <a:ext cx="172819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processing</a:t>
            </a:r>
            <a:endParaRPr lang="en-US" sz="1800" dirty="0"/>
          </a:p>
        </p:txBody>
      </p:sp>
      <p:sp>
        <p:nvSpPr>
          <p:cNvPr id="22" name="Shape 19"/>
          <p:cNvSpPr/>
          <p:nvPr/>
        </p:nvSpPr>
        <p:spPr>
          <a:xfrm>
            <a:off x="9677400" y="5619750"/>
            <a:ext cx="1963341" cy="504825"/>
          </a:xfrm>
          <a:prstGeom prst="rect">
            <a:avLst/>
          </a:prstGeom>
          <a:ln w="9525">
            <a:solidFill>
              <a:srgbClr val="131313">
                <a:alpha val="20000"/>
              </a:srgbClr>
            </a:solidFill>
            <a:prstDash val="solid"/>
          </a:ln>
        </p:spPr>
      </p:sp>
      <p:sp>
        <p:nvSpPr>
          <p:cNvPr id="23" name="Text 20"/>
          <p:cNvSpPr/>
          <p:nvPr/>
        </p:nvSpPr>
        <p:spPr>
          <a:xfrm>
            <a:off x="9877425" y="5724525"/>
            <a:ext cx="16394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Solution design</a:t>
            </a:r>
            <a:endParaRPr lang="en-US" sz="1800" dirty="0"/>
          </a:p>
        </p:txBody>
      </p:sp>
      <p:sp>
        <p:nvSpPr>
          <p:cNvPr id="24" name="Shape 21"/>
          <p:cNvSpPr/>
          <p:nvPr/>
        </p:nvSpPr>
        <p:spPr>
          <a:xfrm>
            <a:off x="11755041" y="5619750"/>
            <a:ext cx="3856434" cy="504825"/>
          </a:xfrm>
          <a:prstGeom prst="rect">
            <a:avLst/>
          </a:prstGeom>
          <a:ln w="9525">
            <a:solidFill>
              <a:srgbClr val="131313">
                <a:alpha val="20000"/>
              </a:srgbClr>
            </a:solidFill>
            <a:prstDash val="solid"/>
          </a:ln>
        </p:spPr>
      </p:sp>
      <p:sp>
        <p:nvSpPr>
          <p:cNvPr id="25" name="Text 22"/>
          <p:cNvSpPr/>
          <p:nvPr/>
        </p:nvSpPr>
        <p:spPr>
          <a:xfrm>
            <a:off x="11955066" y="5724525"/>
            <a:ext cx="357207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System integration documentation</a:t>
            </a:r>
            <a:endParaRPr lang="en-US" sz="1800" dirty="0"/>
          </a:p>
        </p:txBody>
      </p:sp>
      <p:sp>
        <p:nvSpPr>
          <p:cNvPr id="26" name="Shape 23"/>
          <p:cNvSpPr/>
          <p:nvPr/>
        </p:nvSpPr>
        <p:spPr>
          <a:xfrm>
            <a:off x="9677400" y="6238875"/>
            <a:ext cx="3157538" cy="504825"/>
          </a:xfrm>
          <a:prstGeom prst="rect">
            <a:avLst/>
          </a:prstGeom>
          <a:ln w="9525">
            <a:solidFill>
              <a:srgbClr val="131313">
                <a:alpha val="20000"/>
              </a:srgbClr>
            </a:solidFill>
            <a:prstDash val="solid"/>
          </a:ln>
        </p:spPr>
      </p:sp>
      <p:sp>
        <p:nvSpPr>
          <p:cNvPr id="27" name="Text 24"/>
          <p:cNvSpPr/>
          <p:nvPr/>
        </p:nvSpPr>
        <p:spPr>
          <a:xfrm>
            <a:off x="9877425" y="6343650"/>
            <a:ext cx="285221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Project technology strategy</a:t>
            </a:r>
            <a:endParaRPr lang="en-US" sz="1800" dirty="0"/>
          </a:p>
        </p:txBody>
      </p:sp>
      <p:sp>
        <p:nvSpPr>
          <p:cNvPr id="28" name="Shape 25"/>
          <p:cNvSpPr/>
          <p:nvPr/>
        </p:nvSpPr>
        <p:spPr>
          <a:xfrm>
            <a:off x="12949238" y="6238875"/>
            <a:ext cx="2928491" cy="504825"/>
          </a:xfrm>
          <a:prstGeom prst="rect">
            <a:avLst/>
          </a:prstGeom>
          <a:ln w="9525">
            <a:solidFill>
              <a:srgbClr val="131313">
                <a:alpha val="20000"/>
              </a:srgbClr>
            </a:solidFill>
            <a:prstDash val="solid"/>
          </a:ln>
        </p:spPr>
      </p:sp>
      <p:sp>
        <p:nvSpPr>
          <p:cNvPr id="29" name="Text 26"/>
          <p:cNvSpPr/>
          <p:nvPr/>
        </p:nvSpPr>
        <p:spPr>
          <a:xfrm>
            <a:off x="13149263" y="6343650"/>
            <a:ext cx="261629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Solution and risk barriers</a:t>
            </a:r>
            <a:endParaRPr lang="en-US" sz="1800" dirty="0"/>
          </a:p>
        </p:txBody>
      </p:sp>
      <p:sp>
        <p:nvSpPr>
          <p:cNvPr id="30" name="Shape 27"/>
          <p:cNvSpPr/>
          <p:nvPr/>
        </p:nvSpPr>
        <p:spPr>
          <a:xfrm>
            <a:off x="9677400" y="6858000"/>
            <a:ext cx="3399086" cy="504825"/>
          </a:xfrm>
          <a:prstGeom prst="rect">
            <a:avLst/>
          </a:prstGeom>
          <a:ln w="9525">
            <a:solidFill>
              <a:srgbClr val="131313">
                <a:alpha val="20000"/>
              </a:srgbClr>
            </a:solidFill>
            <a:prstDash val="solid"/>
          </a:ln>
        </p:spPr>
      </p:sp>
      <p:sp>
        <p:nvSpPr>
          <p:cNvPr id="31" name="Text 28"/>
          <p:cNvSpPr/>
          <p:nvPr/>
        </p:nvSpPr>
        <p:spPr>
          <a:xfrm>
            <a:off x="9877425" y="6962775"/>
            <a:ext cx="310100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Code quality and code review</a:t>
            </a:r>
            <a:endParaRPr lang="en-US" sz="1800" dirty="0"/>
          </a:p>
        </p:txBody>
      </p:sp>
      <p:sp>
        <p:nvSpPr>
          <p:cNvPr id="32" name="Shape 29"/>
          <p:cNvSpPr/>
          <p:nvPr/>
        </p:nvSpPr>
        <p:spPr>
          <a:xfrm>
            <a:off x="13190786" y="6858000"/>
            <a:ext cx="1543645" cy="504825"/>
          </a:xfrm>
          <a:prstGeom prst="rect">
            <a:avLst/>
          </a:prstGeom>
          <a:ln w="9525">
            <a:solidFill>
              <a:srgbClr val="131313">
                <a:alpha val="20000"/>
              </a:srgbClr>
            </a:solidFill>
            <a:prstDash val="solid"/>
          </a:ln>
        </p:spPr>
      </p:sp>
      <p:sp>
        <p:nvSpPr>
          <p:cNvPr id="33" name="Text 30"/>
          <p:cNvSpPr/>
          <p:nvPr/>
        </p:nvSpPr>
        <p:spPr>
          <a:xfrm>
            <a:off x="13390811" y="6962775"/>
            <a:ext cx="12197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Unit testing</a:t>
            </a:r>
            <a:endParaRPr lang="en-US" sz="1800" dirty="0"/>
          </a:p>
        </p:txBody>
      </p:sp>
      <p:sp>
        <p:nvSpPr>
          <p:cNvPr id="34" name="Shape 31"/>
          <p:cNvSpPr/>
          <p:nvPr/>
        </p:nvSpPr>
        <p:spPr>
          <a:xfrm>
            <a:off x="9677400" y="7477125"/>
            <a:ext cx="2344043" cy="504825"/>
          </a:xfrm>
          <a:prstGeom prst="rect">
            <a:avLst/>
          </a:prstGeom>
          <a:ln w="9525">
            <a:solidFill>
              <a:srgbClr val="131313">
                <a:alpha val="20000"/>
              </a:srgbClr>
            </a:solidFill>
            <a:prstDash val="solid"/>
          </a:ln>
        </p:spPr>
      </p:sp>
      <p:sp>
        <p:nvSpPr>
          <p:cNvPr id="35" name="Text 32"/>
          <p:cNvSpPr/>
          <p:nvPr/>
        </p:nvSpPr>
        <p:spPr>
          <a:xfrm>
            <a:off x="9877425" y="7581900"/>
            <a:ext cx="20201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Deployment review</a:t>
            </a:r>
            <a:endParaRPr lang="en-US" sz="1800" dirty="0"/>
          </a:p>
        </p:txBody>
      </p:sp>
      <p:sp>
        <p:nvSpPr>
          <p:cNvPr id="36" name="Shape 33"/>
          <p:cNvSpPr/>
          <p:nvPr/>
        </p:nvSpPr>
        <p:spPr>
          <a:xfrm>
            <a:off x="12135743" y="7477125"/>
            <a:ext cx="2445693" cy="504825"/>
          </a:xfrm>
          <a:prstGeom prst="rect">
            <a:avLst/>
          </a:prstGeom>
          <a:ln w="9525">
            <a:solidFill>
              <a:srgbClr val="131313">
                <a:alpha val="20000"/>
              </a:srgbClr>
            </a:solidFill>
            <a:prstDash val="solid"/>
          </a:ln>
        </p:spPr>
      </p:sp>
      <p:sp>
        <p:nvSpPr>
          <p:cNvPr id="37" name="Text 34"/>
          <p:cNvSpPr/>
          <p:nvPr/>
        </p:nvSpPr>
        <p:spPr>
          <a:xfrm>
            <a:off x="12335768" y="7581900"/>
            <a:ext cx="212184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Client customization</a:t>
            </a:r>
            <a:endParaRPr lang="en-US" sz="1800" dirty="0"/>
          </a:p>
        </p:txBody>
      </p:sp>
      <p:sp>
        <p:nvSpPr>
          <p:cNvPr id="38" name="Shape 35"/>
          <p:cNvSpPr/>
          <p:nvPr/>
        </p:nvSpPr>
        <p:spPr>
          <a:xfrm>
            <a:off x="9677400" y="8096250"/>
            <a:ext cx="2445990" cy="504825"/>
          </a:xfrm>
          <a:prstGeom prst="rect">
            <a:avLst/>
          </a:prstGeom>
          <a:ln w="9525">
            <a:solidFill>
              <a:srgbClr val="131313">
                <a:alpha val="20000"/>
              </a:srgbClr>
            </a:solidFill>
            <a:prstDash val="solid"/>
          </a:ln>
        </p:spPr>
      </p:sp>
      <p:sp>
        <p:nvSpPr>
          <p:cNvPr id="39" name="Text 36"/>
          <p:cNvSpPr/>
          <p:nvPr/>
        </p:nvSpPr>
        <p:spPr>
          <a:xfrm>
            <a:off x="9877425" y="8201025"/>
            <a:ext cx="21221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Technical consulting</a:t>
            </a:r>
            <a:endParaRPr lang="en-US" sz="1800" dirty="0"/>
          </a:p>
        </p:txBody>
      </p:sp>
      <p:sp>
        <p:nvSpPr>
          <p:cNvPr id="40" name="Shape 37"/>
          <p:cNvSpPr/>
          <p:nvPr/>
        </p:nvSpPr>
        <p:spPr>
          <a:xfrm>
            <a:off x="9677400" y="8715375"/>
            <a:ext cx="5491163" cy="504825"/>
          </a:xfrm>
          <a:prstGeom prst="rect">
            <a:avLst/>
          </a:prstGeom>
          <a:ln w="9525">
            <a:solidFill>
              <a:srgbClr val="131313">
                <a:alpha val="20000"/>
              </a:srgbClr>
            </a:solidFill>
            <a:prstDash val="solid"/>
          </a:ln>
        </p:spPr>
      </p:sp>
      <p:sp>
        <p:nvSpPr>
          <p:cNvPr id="41" name="Text 38"/>
          <p:cNvSpPr/>
          <p:nvPr/>
        </p:nvSpPr>
        <p:spPr>
          <a:xfrm>
            <a:off x="9877425" y="8820150"/>
            <a:ext cx="525584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Pre-sales feasibility, scoping and estimation inputs</a:t>
            </a:r>
            <a:endParaRPr lang="en-US" sz="1800" dirty="0"/>
          </a:p>
        </p:txBody>
      </p:sp>
      <p:sp>
        <p:nvSpPr>
          <p:cNvPr id="42" name="Text 3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3" name="Text 4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4" name="Text 4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13</a:t>
            </a:r>
            <a:endParaRPr lang="en-US" sz="11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What I brought, and what I had to acquire</a:t>
            </a:r>
            <a:endParaRPr lang="en-US" sz="3900" dirty="0"/>
          </a:p>
        </p:txBody>
      </p:sp>
      <p:sp>
        <p:nvSpPr>
          <p:cNvPr id="5" name="Shape 2"/>
          <p:cNvSpPr/>
          <p:nvPr/>
        </p:nvSpPr>
        <p:spPr>
          <a:xfrm>
            <a:off x="800100" y="2133600"/>
            <a:ext cx="8172450" cy="6057900"/>
          </a:xfrm>
          <a:prstGeom prst="rect">
            <a:avLst/>
          </a:prstGeom>
          <a:solidFill>
            <a:srgbClr val="F2F5F6"/>
          </a:solidFill>
          <a:ln/>
        </p:spPr>
      </p:sp>
      <p:sp>
        <p:nvSpPr>
          <p:cNvPr id="6" name="Text 3"/>
          <p:cNvSpPr/>
          <p:nvPr/>
        </p:nvSpPr>
        <p:spPr>
          <a:xfrm>
            <a:off x="125730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 BROUGHT — INDUSTRY KNOWLEDGE</a:t>
            </a:r>
            <a:endParaRPr lang="en-US" sz="1650" dirty="0"/>
          </a:p>
        </p:txBody>
      </p:sp>
      <p:sp>
        <p:nvSpPr>
          <p:cNvPr id="7" name="Text 4"/>
          <p:cNvSpPr/>
          <p:nvPr/>
        </p:nvSpPr>
        <p:spPr>
          <a:xfrm>
            <a:off x="1257300" y="3181350"/>
            <a:ext cx="7475792" cy="1295400"/>
          </a:xfrm>
          <a:prstGeom prst="rect">
            <a:avLst/>
          </a:prstGeom>
          <a:noFill/>
          <a:ln/>
        </p:spPr>
        <p:txBody>
          <a:bodyPr wrap="square" lIns="25400" tIns="25400" rIns="25400" bIns="25400" rtlCol="0" anchor="t">
            <a:normAutofit/>
          </a:bodyPr>
          <a:lstStyle/>
          <a:p>
            <a:pPr algn="l" indent="0" marL="0">
              <a:lnSpc>
                <a:spcPct val="121081"/>
              </a:lnSpc>
              <a:buNone/>
            </a:pPr>
            <a:r>
              <a:rPr lang="en-US" sz="2400" spc="-30" kern="0" dirty="0">
                <a:solidFill>
                  <a:srgbClr val="131313"/>
                </a:solidFill>
                <a:latin typeface="Arial" pitchFamily="34" charset="0"/>
                <a:ea typeface="Arial" pitchFamily="34" charset="-122"/>
                <a:cs typeface="Arial" pitchFamily="34" charset="-120"/>
              </a:rPr>
              <a:t>Substantial prior experience in Adobe technologies, digital analytics, data and marketing technology, developed across earlier roles at Adobe and at Visa.</a:t>
            </a:r>
            <a:endParaRPr lang="en-US" sz="2400" dirty="0"/>
          </a:p>
        </p:txBody>
      </p:sp>
      <p:sp>
        <p:nvSpPr>
          <p:cNvPr id="8" name="Shape 5"/>
          <p:cNvSpPr/>
          <p:nvPr/>
        </p:nvSpPr>
        <p:spPr>
          <a:xfrm>
            <a:off x="9315450" y="2133600"/>
            <a:ext cx="8172450" cy="6057900"/>
          </a:xfrm>
          <a:prstGeom prst="rect">
            <a:avLst/>
          </a:prstGeom>
          <a:solidFill>
            <a:srgbClr val="131313"/>
          </a:solidFill>
          <a:ln/>
        </p:spPr>
      </p:sp>
      <p:sp>
        <p:nvSpPr>
          <p:cNvPr id="9" name="Text 6"/>
          <p:cNvSpPr/>
          <p:nvPr/>
        </p:nvSpPr>
        <p:spPr>
          <a:xfrm>
            <a:off x="977265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WHAT I HAD TO ACQUIRE — COMPANY-SPECIFIC KNOWLEDGE</a:t>
            </a:r>
            <a:endParaRPr lang="en-US" sz="1650" dirty="0"/>
          </a:p>
        </p:txBody>
      </p:sp>
      <p:sp>
        <p:nvSpPr>
          <p:cNvPr id="10" name="Text 7"/>
          <p:cNvSpPr/>
          <p:nvPr/>
        </p:nvSpPr>
        <p:spPr>
          <a:xfrm>
            <a:off x="9772650" y="3181350"/>
            <a:ext cx="7475792"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FFFFFF"/>
                </a:solidFill>
                <a:latin typeface="Arial" pitchFamily="34" charset="0"/>
                <a:ea typeface="Arial" pitchFamily="34" charset="-122"/>
                <a:cs typeface="Arial" pitchFamily="34" charset="-120"/>
              </a:rPr>
              <a:t>How TA Digital had </a:t>
            </a:r>
            <a:pPr algn="l" indent="0" marL="0">
              <a:lnSpc>
                <a:spcPct val="128571"/>
              </a:lnSpc>
              <a:buNone/>
            </a:pPr>
            <a:r>
              <a:rPr lang="en-US" sz="1800" b="1" dirty="0">
                <a:solidFill>
                  <a:srgbClr val="FFFFFF"/>
                </a:solidFill>
                <a:latin typeface="Arial" pitchFamily="34" charset="0"/>
                <a:ea typeface="Arial" pitchFamily="34" charset="-122"/>
                <a:cs typeface="Arial" pitchFamily="34" charset="-120"/>
              </a:rPr>
              <a:t>architected, integrated, customised, maintained and commercialised </a:t>
            </a:r>
            <a:pPr algn="l" indent="0" marL="0">
              <a:lnSpc>
                <a:spcPct val="128571"/>
              </a:lnSpc>
              <a:buNone/>
            </a:pPr>
            <a:r>
              <a:rPr lang="en-US" sz="1800" dirty="0">
                <a:solidFill>
                  <a:srgbClr val="FFFFFF"/>
                </a:solidFill>
                <a:latin typeface="Arial" pitchFamily="34" charset="0"/>
                <a:ea typeface="Arial" pitchFamily="34" charset="-122"/>
                <a:cs typeface="Arial" pitchFamily="34" charset="-120"/>
              </a:rPr>
              <a:t>those technologies inside its own proprietary platform:</a:t>
            </a:r>
            <a:endParaRPr lang="en-US" sz="1800" dirty="0"/>
          </a:p>
        </p:txBody>
      </p:sp>
      <p:sp>
        <p:nvSpPr>
          <p:cNvPr id="11" name="Shape 8"/>
          <p:cNvSpPr/>
          <p:nvPr/>
        </p:nvSpPr>
        <p:spPr>
          <a:xfrm>
            <a:off x="9772650" y="4581525"/>
            <a:ext cx="133350" cy="133350"/>
          </a:xfrm>
          <a:prstGeom prst="rect">
            <a:avLst/>
          </a:prstGeom>
          <a:solidFill>
            <a:srgbClr val="FF532C"/>
          </a:solidFill>
          <a:ln/>
        </p:spPr>
      </p:sp>
      <p:sp>
        <p:nvSpPr>
          <p:cNvPr id="12" name="Text 9"/>
          <p:cNvSpPr/>
          <p:nvPr/>
        </p:nvSpPr>
        <p:spPr>
          <a:xfrm>
            <a:off x="10096500" y="447675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the rationale behind Ascent’s proprietary integration patterns</a:t>
            </a:r>
            <a:endParaRPr lang="en-US" sz="1800" dirty="0"/>
          </a:p>
        </p:txBody>
      </p:sp>
      <p:sp>
        <p:nvSpPr>
          <p:cNvPr id="13" name="Shape 10"/>
          <p:cNvSpPr/>
          <p:nvPr/>
        </p:nvSpPr>
        <p:spPr>
          <a:xfrm>
            <a:off x="9772650" y="5038725"/>
            <a:ext cx="133350" cy="133350"/>
          </a:xfrm>
          <a:prstGeom prst="rect">
            <a:avLst/>
          </a:prstGeom>
          <a:solidFill>
            <a:srgbClr val="FF532C"/>
          </a:solidFill>
          <a:ln/>
        </p:spPr>
      </p:sp>
      <p:sp>
        <p:nvSpPr>
          <p:cNvPr id="14" name="Text 11"/>
          <p:cNvSpPr/>
          <p:nvPr/>
        </p:nvSpPr>
        <p:spPr>
          <a:xfrm>
            <a:off x="10096500" y="4933950"/>
            <a:ext cx="7142226"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how source data was mapped, normalised and reconciled across components</a:t>
            </a:r>
            <a:endParaRPr lang="en-US" sz="1800" dirty="0"/>
          </a:p>
        </p:txBody>
      </p:sp>
      <p:sp>
        <p:nvSpPr>
          <p:cNvPr id="15" name="Shape 12"/>
          <p:cNvSpPr/>
          <p:nvPr/>
        </p:nvSpPr>
        <p:spPr>
          <a:xfrm>
            <a:off x="9772650" y="5819775"/>
            <a:ext cx="133350" cy="133350"/>
          </a:xfrm>
          <a:prstGeom prst="rect">
            <a:avLst/>
          </a:prstGeom>
          <a:solidFill>
            <a:srgbClr val="FF532C"/>
          </a:solidFill>
          <a:ln/>
        </p:spPr>
      </p:sp>
      <p:sp>
        <p:nvSpPr>
          <p:cNvPr id="16" name="Text 13"/>
          <p:cNvSpPr/>
          <p:nvPr/>
        </p:nvSpPr>
        <p:spPr>
          <a:xfrm>
            <a:off x="10096500" y="571500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how identity and profile precedence were configured, and why</a:t>
            </a:r>
            <a:endParaRPr lang="en-US" sz="1800" dirty="0"/>
          </a:p>
        </p:txBody>
      </p:sp>
      <p:sp>
        <p:nvSpPr>
          <p:cNvPr id="17" name="Shape 14"/>
          <p:cNvSpPr/>
          <p:nvPr/>
        </p:nvSpPr>
        <p:spPr>
          <a:xfrm>
            <a:off x="9772650" y="6276975"/>
            <a:ext cx="133350" cy="133350"/>
          </a:xfrm>
          <a:prstGeom prst="rect">
            <a:avLst/>
          </a:prstGeom>
          <a:solidFill>
            <a:srgbClr val="FF532C"/>
          </a:solidFill>
          <a:ln/>
        </p:spPr>
      </p:sp>
      <p:sp>
        <p:nvSpPr>
          <p:cNvPr id="18" name="Text 15"/>
          <p:cNvSpPr/>
          <p:nvPr/>
        </p:nvSpPr>
        <p:spPr>
          <a:xfrm>
            <a:off x="10096500" y="617220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which dependencies had to be protected when making a change</a:t>
            </a:r>
            <a:endParaRPr lang="en-US" sz="1800" dirty="0"/>
          </a:p>
        </p:txBody>
      </p:sp>
      <p:sp>
        <p:nvSpPr>
          <p:cNvPr id="19" name="Shape 16"/>
          <p:cNvSpPr/>
          <p:nvPr/>
        </p:nvSpPr>
        <p:spPr>
          <a:xfrm>
            <a:off x="9772650" y="6734175"/>
            <a:ext cx="133350" cy="133350"/>
          </a:xfrm>
          <a:prstGeom prst="rect">
            <a:avLst/>
          </a:prstGeom>
          <a:solidFill>
            <a:srgbClr val="FF532C"/>
          </a:solidFill>
          <a:ln/>
        </p:spPr>
      </p:sp>
      <p:sp>
        <p:nvSpPr>
          <p:cNvPr id="20" name="Text 17"/>
          <p:cNvSpPr/>
          <p:nvPr/>
        </p:nvSpPr>
        <p:spPr>
          <a:xfrm>
            <a:off x="10096500" y="662940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how failures propagated across the ecosystem</a:t>
            </a:r>
            <a:endParaRPr lang="en-US" sz="1800" dirty="0"/>
          </a:p>
        </p:txBody>
      </p:sp>
      <p:sp>
        <p:nvSpPr>
          <p:cNvPr id="21" name="Shape 18"/>
          <p:cNvSpPr/>
          <p:nvPr/>
        </p:nvSpPr>
        <p:spPr>
          <a:xfrm>
            <a:off x="9772650" y="7191375"/>
            <a:ext cx="133350" cy="133350"/>
          </a:xfrm>
          <a:prstGeom prst="rect">
            <a:avLst/>
          </a:prstGeom>
          <a:solidFill>
            <a:srgbClr val="FF532C"/>
          </a:solidFill>
          <a:ln/>
        </p:spPr>
      </p:sp>
      <p:sp>
        <p:nvSpPr>
          <p:cNvPr id="22" name="Text 19"/>
          <p:cNvSpPr/>
          <p:nvPr/>
        </p:nvSpPr>
        <p:spPr>
          <a:xfrm>
            <a:off x="10096500" y="7086600"/>
            <a:ext cx="7142226"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how the solution was customised per client without breaking the reusable core</a:t>
            </a:r>
            <a:endParaRPr lang="en-US" sz="1800" dirty="0"/>
          </a:p>
        </p:txBody>
      </p:sp>
      <p:sp>
        <p:nvSpPr>
          <p:cNvPr id="23" name="Text 20"/>
          <p:cNvSpPr/>
          <p:nvPr/>
        </p:nvSpPr>
        <p:spPr>
          <a:xfrm>
            <a:off x="800100" y="85725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This distinction is the whole point. An experienced Adobe engineer can learn how an individual Adobe feature works. That is a different thing from knowing how Ascent connected them, why particular architectural decisions existed, and what breaks when they change.</a:t>
            </a:r>
            <a:endParaRPr lang="en-US" sz="1800" dirty="0"/>
          </a:p>
        </p:txBody>
      </p:sp>
      <p:sp>
        <p:nvSpPr>
          <p:cNvPr id="24" name="Text 2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5" name="Text 2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6" name="Text 2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14</a:t>
            </a:r>
            <a:endParaRPr lang="en-US" sz="11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Stage 1 · Ascent architecture immersion</a:t>
            </a:r>
            <a:endParaRPr lang="en-US" sz="3900" dirty="0"/>
          </a:p>
        </p:txBody>
      </p:sp>
      <p:sp>
        <p:nvSpPr>
          <p:cNvPr id="5" name="Shape 2"/>
          <p:cNvSpPr/>
          <p:nvPr/>
        </p:nvSpPr>
        <p:spPr>
          <a:xfrm>
            <a:off x="800100" y="2019300"/>
            <a:ext cx="4057650" cy="1314450"/>
          </a:xfrm>
          <a:prstGeom prst="rect">
            <a:avLst/>
          </a:prstGeom>
          <a:solidFill>
            <a:srgbClr val="131313"/>
          </a:solidFill>
          <a:ln/>
        </p:spPr>
      </p:sp>
      <p:sp>
        <p:nvSpPr>
          <p:cNvPr id="6" name="Text 3"/>
          <p:cNvSpPr/>
          <p:nvPr/>
        </p:nvSpPr>
        <p:spPr>
          <a:xfrm>
            <a:off x="1028700" y="2209800"/>
            <a:ext cx="396049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01</a:t>
            </a:r>
            <a:endParaRPr lang="en-US" sz="1650" dirty="0"/>
          </a:p>
        </p:txBody>
      </p:sp>
      <p:sp>
        <p:nvSpPr>
          <p:cNvPr id="7" name="Text 4"/>
          <p:cNvSpPr/>
          <p:nvPr/>
        </p:nvSpPr>
        <p:spPr>
          <a:xfrm>
            <a:off x="1028700" y="2533650"/>
            <a:ext cx="39604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Ascent architecture immersion</a:t>
            </a:r>
            <a:endParaRPr lang="en-US" sz="1800" dirty="0"/>
          </a:p>
        </p:txBody>
      </p:sp>
      <p:sp>
        <p:nvSpPr>
          <p:cNvPr id="8" name="Shape 5"/>
          <p:cNvSpPr/>
          <p:nvPr/>
        </p:nvSpPr>
        <p:spPr>
          <a:xfrm>
            <a:off x="5010150" y="2019300"/>
            <a:ext cx="4057650" cy="1314450"/>
          </a:xfrm>
          <a:prstGeom prst="rect">
            <a:avLst/>
          </a:prstGeom>
          <a:ln w="9525">
            <a:solidFill>
              <a:srgbClr val="131313">
                <a:alpha val="20000"/>
              </a:srgbClr>
            </a:solidFill>
            <a:prstDash val="solid"/>
          </a:ln>
        </p:spPr>
      </p:sp>
      <p:sp>
        <p:nvSpPr>
          <p:cNvPr id="9" name="Text 6"/>
          <p:cNvSpPr/>
          <p:nvPr/>
        </p:nvSpPr>
        <p:spPr>
          <a:xfrm>
            <a:off x="52482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02</a:t>
            </a:r>
            <a:endParaRPr lang="en-US" sz="1650" dirty="0"/>
          </a:p>
        </p:txBody>
      </p:sp>
      <p:sp>
        <p:nvSpPr>
          <p:cNvPr id="10" name="Text 7"/>
          <p:cNvSpPr/>
          <p:nvPr/>
        </p:nvSpPr>
        <p:spPr>
          <a:xfrm>
            <a:off x="524827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Hands-on technical specialization</a:t>
            </a:r>
            <a:endParaRPr lang="en-US" sz="1800" dirty="0"/>
          </a:p>
        </p:txBody>
      </p:sp>
      <p:sp>
        <p:nvSpPr>
          <p:cNvPr id="11" name="Shape 8"/>
          <p:cNvSpPr/>
          <p:nvPr/>
        </p:nvSpPr>
        <p:spPr>
          <a:xfrm>
            <a:off x="9220200" y="2019300"/>
            <a:ext cx="4057650" cy="1314450"/>
          </a:xfrm>
          <a:prstGeom prst="rect">
            <a:avLst/>
          </a:prstGeom>
          <a:ln w="9525">
            <a:solidFill>
              <a:srgbClr val="131313">
                <a:alpha val="20000"/>
              </a:srgbClr>
            </a:solidFill>
            <a:prstDash val="solid"/>
          </a:ln>
        </p:spPr>
      </p:sp>
      <p:sp>
        <p:nvSpPr>
          <p:cNvPr id="12" name="Text 9"/>
          <p:cNvSpPr/>
          <p:nvPr/>
        </p:nvSpPr>
        <p:spPr>
          <a:xfrm>
            <a:off x="94583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03</a:t>
            </a:r>
            <a:endParaRPr lang="en-US" sz="1650" dirty="0"/>
          </a:p>
        </p:txBody>
      </p:sp>
      <p:sp>
        <p:nvSpPr>
          <p:cNvPr id="13" name="Text 10"/>
          <p:cNvSpPr/>
          <p:nvPr/>
        </p:nvSpPr>
        <p:spPr>
          <a:xfrm>
            <a:off x="945832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Advanced cross-functional responsibility</a:t>
            </a:r>
            <a:endParaRPr lang="en-US" sz="1800" dirty="0"/>
          </a:p>
        </p:txBody>
      </p:sp>
      <p:sp>
        <p:nvSpPr>
          <p:cNvPr id="14" name="Shape 11"/>
          <p:cNvSpPr/>
          <p:nvPr/>
        </p:nvSpPr>
        <p:spPr>
          <a:xfrm>
            <a:off x="13430250" y="2019300"/>
            <a:ext cx="4057650" cy="1314450"/>
          </a:xfrm>
          <a:prstGeom prst="rect">
            <a:avLst/>
          </a:prstGeom>
          <a:ln w="9525">
            <a:solidFill>
              <a:srgbClr val="131313">
                <a:alpha val="20000"/>
              </a:srgbClr>
            </a:solidFill>
            <a:prstDash val="solid"/>
          </a:ln>
        </p:spPr>
      </p:sp>
      <p:sp>
        <p:nvSpPr>
          <p:cNvPr id="15" name="Text 12"/>
          <p:cNvSpPr/>
          <p:nvPr/>
        </p:nvSpPr>
        <p:spPr>
          <a:xfrm>
            <a:off x="136683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04</a:t>
            </a:r>
            <a:endParaRPr lang="en-US" sz="1650" dirty="0"/>
          </a:p>
        </p:txBody>
      </p:sp>
      <p:sp>
        <p:nvSpPr>
          <p:cNvPr id="16" name="Text 13"/>
          <p:cNvSpPr/>
          <p:nvPr/>
        </p:nvSpPr>
        <p:spPr>
          <a:xfrm>
            <a:off x="1366837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Subject-matter expertise and knowledge transfer</a:t>
            </a:r>
            <a:endParaRPr lang="en-US" sz="1800" dirty="0"/>
          </a:p>
        </p:txBody>
      </p:sp>
      <p:sp>
        <p:nvSpPr>
          <p:cNvPr id="17" name="Shape 14"/>
          <p:cNvSpPr/>
          <p:nvPr/>
        </p:nvSpPr>
        <p:spPr>
          <a:xfrm>
            <a:off x="800100" y="3581400"/>
            <a:ext cx="10096500" cy="5314950"/>
          </a:xfrm>
          <a:prstGeom prst="rect">
            <a:avLst/>
          </a:prstGeom>
          <a:solidFill>
            <a:srgbClr val="F2F5F6"/>
          </a:solidFill>
          <a:ln/>
        </p:spPr>
      </p:sp>
      <p:sp>
        <p:nvSpPr>
          <p:cNvPr id="18" name="Text 15"/>
          <p:cNvSpPr/>
          <p:nvPr/>
        </p:nvSpPr>
        <p:spPr>
          <a:xfrm>
            <a:off x="1257300" y="4038600"/>
            <a:ext cx="1010031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FOCUS</a:t>
            </a:r>
            <a:endParaRPr lang="en-US" sz="1650" dirty="0"/>
          </a:p>
        </p:txBody>
      </p:sp>
      <p:sp>
        <p:nvSpPr>
          <p:cNvPr id="19" name="Shape 16"/>
          <p:cNvSpPr/>
          <p:nvPr/>
        </p:nvSpPr>
        <p:spPr>
          <a:xfrm>
            <a:off x="1257300" y="4695825"/>
            <a:ext cx="133350" cy="133350"/>
          </a:xfrm>
          <a:prstGeom prst="rect">
            <a:avLst/>
          </a:prstGeom>
          <a:solidFill>
            <a:srgbClr val="FF532C"/>
          </a:solidFill>
          <a:ln/>
        </p:spPr>
      </p:sp>
      <p:sp>
        <p:nvSpPr>
          <p:cNvPr id="20" name="Text 17"/>
          <p:cNvSpPr/>
          <p:nvPr/>
        </p:nvSpPr>
        <p:spPr>
          <a:xfrm>
            <a:off x="1581150" y="459105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Understanding Ascent as a proprietary product and tool</a:t>
            </a:r>
            <a:endParaRPr lang="en-US" sz="1800" dirty="0"/>
          </a:p>
        </p:txBody>
      </p:sp>
      <p:sp>
        <p:nvSpPr>
          <p:cNvPr id="21" name="Shape 18"/>
          <p:cNvSpPr/>
          <p:nvPr/>
        </p:nvSpPr>
        <p:spPr>
          <a:xfrm>
            <a:off x="1257300" y="5153025"/>
            <a:ext cx="133350" cy="133350"/>
          </a:xfrm>
          <a:prstGeom prst="rect">
            <a:avLst/>
          </a:prstGeom>
          <a:solidFill>
            <a:srgbClr val="FF532C"/>
          </a:solidFill>
          <a:ln/>
        </p:spPr>
      </p:sp>
      <p:sp>
        <p:nvSpPr>
          <p:cNvPr id="22" name="Text 19"/>
          <p:cNvSpPr/>
          <p:nvPr/>
        </p:nvSpPr>
        <p:spPr>
          <a:xfrm>
            <a:off x="1581150" y="504825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Learning its three major components</a:t>
            </a:r>
            <a:endParaRPr lang="en-US" sz="1800" dirty="0"/>
          </a:p>
        </p:txBody>
      </p:sp>
      <p:sp>
        <p:nvSpPr>
          <p:cNvPr id="23" name="Shape 20"/>
          <p:cNvSpPr/>
          <p:nvPr/>
        </p:nvSpPr>
        <p:spPr>
          <a:xfrm>
            <a:off x="1257300" y="5610225"/>
            <a:ext cx="133350" cy="133350"/>
          </a:xfrm>
          <a:prstGeom prst="rect">
            <a:avLst/>
          </a:prstGeom>
          <a:solidFill>
            <a:srgbClr val="FF532C"/>
          </a:solidFill>
          <a:ln/>
        </p:spPr>
      </p:sp>
      <p:sp>
        <p:nvSpPr>
          <p:cNvPr id="24" name="Text 21"/>
          <p:cNvSpPr/>
          <p:nvPr/>
        </p:nvSpPr>
        <p:spPr>
          <a:xfrm>
            <a:off x="1581150" y="550545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Understanding the overall architecture</a:t>
            </a:r>
            <a:endParaRPr lang="en-US" sz="1800" dirty="0"/>
          </a:p>
        </p:txBody>
      </p:sp>
      <p:sp>
        <p:nvSpPr>
          <p:cNvPr id="25" name="Shape 22"/>
          <p:cNvSpPr/>
          <p:nvPr/>
        </p:nvSpPr>
        <p:spPr>
          <a:xfrm>
            <a:off x="1257300" y="6067425"/>
            <a:ext cx="133350" cy="133350"/>
          </a:xfrm>
          <a:prstGeom prst="rect">
            <a:avLst/>
          </a:prstGeom>
          <a:solidFill>
            <a:srgbClr val="FF532C"/>
          </a:solidFill>
          <a:ln/>
        </p:spPr>
      </p:sp>
      <p:sp>
        <p:nvSpPr>
          <p:cNvPr id="26" name="Text 23"/>
          <p:cNvSpPr/>
          <p:nvPr/>
        </p:nvSpPr>
        <p:spPr>
          <a:xfrm>
            <a:off x="1581150" y="5962650"/>
            <a:ext cx="912399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Understanding how content, commerce, data, analytics and marketing technologies connected</a:t>
            </a:r>
            <a:endParaRPr lang="en-US" sz="1800" dirty="0"/>
          </a:p>
        </p:txBody>
      </p:sp>
      <p:sp>
        <p:nvSpPr>
          <p:cNvPr id="27" name="Shape 24"/>
          <p:cNvSpPr/>
          <p:nvPr/>
        </p:nvSpPr>
        <p:spPr>
          <a:xfrm>
            <a:off x="1257300" y="6848475"/>
            <a:ext cx="133350" cy="133350"/>
          </a:xfrm>
          <a:prstGeom prst="rect">
            <a:avLst/>
          </a:prstGeom>
          <a:solidFill>
            <a:srgbClr val="FF532C"/>
          </a:solidFill>
          <a:ln/>
        </p:spPr>
      </p:sp>
      <p:sp>
        <p:nvSpPr>
          <p:cNvPr id="28" name="Text 25"/>
          <p:cNvSpPr/>
          <p:nvPr/>
        </p:nvSpPr>
        <p:spPr>
          <a:xfrm>
            <a:off x="1581150" y="674370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Reviewing existing technical structures, configurations, documentation and codebases</a:t>
            </a:r>
            <a:endParaRPr lang="en-US" sz="1800" dirty="0"/>
          </a:p>
        </p:txBody>
      </p:sp>
      <p:sp>
        <p:nvSpPr>
          <p:cNvPr id="29" name="Shape 26"/>
          <p:cNvSpPr/>
          <p:nvPr/>
        </p:nvSpPr>
        <p:spPr>
          <a:xfrm>
            <a:off x="1257300" y="7305675"/>
            <a:ext cx="133350" cy="133350"/>
          </a:xfrm>
          <a:prstGeom prst="rect">
            <a:avLst/>
          </a:prstGeom>
          <a:solidFill>
            <a:srgbClr val="FF532C"/>
          </a:solidFill>
          <a:ln/>
        </p:spPr>
      </p:sp>
      <p:sp>
        <p:nvSpPr>
          <p:cNvPr id="30" name="Text 27"/>
          <p:cNvSpPr/>
          <p:nvPr/>
        </p:nvSpPr>
        <p:spPr>
          <a:xfrm>
            <a:off x="1581150" y="720090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Understanding data flows and integration patterns</a:t>
            </a:r>
            <a:endParaRPr lang="en-US" sz="1800" dirty="0"/>
          </a:p>
        </p:txBody>
      </p:sp>
      <p:sp>
        <p:nvSpPr>
          <p:cNvPr id="31" name="Shape 28"/>
          <p:cNvSpPr/>
          <p:nvPr/>
        </p:nvSpPr>
        <p:spPr>
          <a:xfrm>
            <a:off x="1257300" y="7762875"/>
            <a:ext cx="133350" cy="133350"/>
          </a:xfrm>
          <a:prstGeom prst="rect">
            <a:avLst/>
          </a:prstGeom>
          <a:solidFill>
            <a:srgbClr val="FF532C"/>
          </a:solidFill>
          <a:ln/>
        </p:spPr>
      </p:sp>
      <p:sp>
        <p:nvSpPr>
          <p:cNvPr id="32" name="Text 29"/>
          <p:cNvSpPr/>
          <p:nvPr/>
        </p:nvSpPr>
        <p:spPr>
          <a:xfrm>
            <a:off x="1581150" y="765810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Learning the reusable component model</a:t>
            </a:r>
            <a:endParaRPr lang="en-US" sz="1800" dirty="0"/>
          </a:p>
        </p:txBody>
      </p:sp>
      <p:sp>
        <p:nvSpPr>
          <p:cNvPr id="33" name="Shape 30"/>
          <p:cNvSpPr/>
          <p:nvPr/>
        </p:nvSpPr>
        <p:spPr>
          <a:xfrm>
            <a:off x="1257300" y="8220075"/>
            <a:ext cx="133350" cy="133350"/>
          </a:xfrm>
          <a:prstGeom prst="rect">
            <a:avLst/>
          </a:prstGeom>
          <a:solidFill>
            <a:srgbClr val="FF532C"/>
          </a:solidFill>
          <a:ln/>
        </p:spPr>
      </p:sp>
      <p:sp>
        <p:nvSpPr>
          <p:cNvPr id="34" name="Text 31"/>
          <p:cNvSpPr/>
          <p:nvPr/>
        </p:nvSpPr>
        <p:spPr>
          <a:xfrm>
            <a:off x="1581150" y="8115300"/>
            <a:ext cx="974407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Learning TA Digital’s Ascent-specific implementation and client customization approach</a:t>
            </a:r>
            <a:endParaRPr lang="en-US" sz="1800" dirty="0"/>
          </a:p>
        </p:txBody>
      </p:sp>
      <p:sp>
        <p:nvSpPr>
          <p:cNvPr id="35" name="Shape 32"/>
          <p:cNvSpPr/>
          <p:nvPr/>
        </p:nvSpPr>
        <p:spPr>
          <a:xfrm>
            <a:off x="11239500" y="3581400"/>
            <a:ext cx="6248400" cy="4953000"/>
          </a:xfrm>
          <a:prstGeom prst="rect">
            <a:avLst/>
          </a:prstGeom>
          <a:solidFill>
            <a:srgbClr val="131313"/>
          </a:solidFill>
          <a:ln/>
        </p:spPr>
      </p:sp>
      <p:sp>
        <p:nvSpPr>
          <p:cNvPr id="36" name="Text 33"/>
          <p:cNvSpPr/>
          <p:nvPr/>
        </p:nvSpPr>
        <p:spPr>
          <a:xfrm>
            <a:off x="11696700" y="4038600"/>
            <a:ext cx="586740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WHAT I COULD NOT YET DO</a:t>
            </a:r>
            <a:endParaRPr lang="en-US" sz="1650" dirty="0"/>
          </a:p>
        </p:txBody>
      </p:sp>
      <p:sp>
        <p:nvSpPr>
          <p:cNvPr id="37" name="Text 34"/>
          <p:cNvSpPr/>
          <p:nvPr/>
        </p:nvSpPr>
        <p:spPr>
          <a:xfrm>
            <a:off x="11696700" y="4629150"/>
            <a:ext cx="5494020" cy="800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FFFFFF"/>
                </a:solidFill>
                <a:latin typeface="Arial" pitchFamily="34" charset="0"/>
                <a:ea typeface="Arial" pitchFamily="34" charset="-122"/>
                <a:cs typeface="Arial" pitchFamily="34" charset="-120"/>
              </a:rPr>
              <a:t>Independently reason across the full Ascent architecture.</a:t>
            </a:r>
            <a:endParaRPr lang="en-US" sz="2100" dirty="0"/>
          </a:p>
        </p:txBody>
      </p:sp>
      <p:sp>
        <p:nvSpPr>
          <p:cNvPr id="38" name="Text 35"/>
          <p:cNvSpPr/>
          <p:nvPr/>
        </p:nvSpPr>
        <p:spPr>
          <a:xfrm>
            <a:off x="11696700" y="5657850"/>
            <a:ext cx="5494020" cy="800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FFFFFF"/>
                </a:solidFill>
                <a:latin typeface="Arial" pitchFamily="34" charset="0"/>
                <a:ea typeface="Arial" pitchFamily="34" charset="-122"/>
                <a:cs typeface="Arial" pitchFamily="34" charset="-120"/>
              </a:rPr>
              <a:t>Understand the rationale behind the proprietary integration patterns.</a:t>
            </a:r>
            <a:endParaRPr lang="en-US" sz="2100" dirty="0"/>
          </a:p>
        </p:txBody>
      </p:sp>
      <p:sp>
        <p:nvSpPr>
          <p:cNvPr id="39" name="Text 36"/>
          <p:cNvSpPr/>
          <p:nvPr/>
        </p:nvSpPr>
        <p:spPr>
          <a:xfrm>
            <a:off x="11696700" y="6686550"/>
            <a:ext cx="5494020" cy="800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FFFFFF"/>
                </a:solidFill>
                <a:latin typeface="Arial" pitchFamily="34" charset="0"/>
                <a:ea typeface="Arial" pitchFamily="34" charset="-122"/>
                <a:cs typeface="Arial" pitchFamily="34" charset="-120"/>
              </a:rPr>
              <a:t>Confidently evaluate the downstream impact of changing one part of the solution.</a:t>
            </a:r>
            <a:endParaRPr lang="en-US" sz="2100" dirty="0"/>
          </a:p>
        </p:txBody>
      </p:sp>
      <p:sp>
        <p:nvSpPr>
          <p:cNvPr id="40" name="Text 37"/>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1" name="Text 38"/>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2" name="Text 39"/>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15</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Stage 2 · Hands-on technical specialization</a:t>
            </a:r>
            <a:endParaRPr lang="en-US" sz="3900" dirty="0"/>
          </a:p>
        </p:txBody>
      </p:sp>
      <p:sp>
        <p:nvSpPr>
          <p:cNvPr id="5" name="Shape 2"/>
          <p:cNvSpPr/>
          <p:nvPr/>
        </p:nvSpPr>
        <p:spPr>
          <a:xfrm>
            <a:off x="800100" y="2019300"/>
            <a:ext cx="4057650" cy="1314450"/>
          </a:xfrm>
          <a:prstGeom prst="rect">
            <a:avLst/>
          </a:prstGeom>
          <a:ln w="9525">
            <a:solidFill>
              <a:srgbClr val="131313">
                <a:alpha val="20000"/>
              </a:srgbClr>
            </a:solidFill>
            <a:prstDash val="solid"/>
          </a:ln>
        </p:spPr>
      </p:sp>
      <p:sp>
        <p:nvSpPr>
          <p:cNvPr id="6" name="Text 3"/>
          <p:cNvSpPr/>
          <p:nvPr/>
        </p:nvSpPr>
        <p:spPr>
          <a:xfrm>
            <a:off x="10382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01</a:t>
            </a:r>
            <a:endParaRPr lang="en-US" sz="1650" dirty="0"/>
          </a:p>
        </p:txBody>
      </p:sp>
      <p:sp>
        <p:nvSpPr>
          <p:cNvPr id="7" name="Text 4"/>
          <p:cNvSpPr/>
          <p:nvPr/>
        </p:nvSpPr>
        <p:spPr>
          <a:xfrm>
            <a:off x="103822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Ascent architecture immersion</a:t>
            </a:r>
            <a:endParaRPr lang="en-US" sz="1800" dirty="0"/>
          </a:p>
        </p:txBody>
      </p:sp>
      <p:sp>
        <p:nvSpPr>
          <p:cNvPr id="8" name="Shape 5"/>
          <p:cNvSpPr/>
          <p:nvPr/>
        </p:nvSpPr>
        <p:spPr>
          <a:xfrm>
            <a:off x="5010150" y="2019300"/>
            <a:ext cx="4057650" cy="1314450"/>
          </a:xfrm>
          <a:prstGeom prst="rect">
            <a:avLst/>
          </a:prstGeom>
          <a:solidFill>
            <a:srgbClr val="131313"/>
          </a:solidFill>
          <a:ln/>
        </p:spPr>
      </p:sp>
      <p:sp>
        <p:nvSpPr>
          <p:cNvPr id="9" name="Text 6"/>
          <p:cNvSpPr/>
          <p:nvPr/>
        </p:nvSpPr>
        <p:spPr>
          <a:xfrm>
            <a:off x="5238750" y="2209800"/>
            <a:ext cx="396049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02</a:t>
            </a:r>
            <a:endParaRPr lang="en-US" sz="1650" dirty="0"/>
          </a:p>
        </p:txBody>
      </p:sp>
      <p:sp>
        <p:nvSpPr>
          <p:cNvPr id="10" name="Text 7"/>
          <p:cNvSpPr/>
          <p:nvPr/>
        </p:nvSpPr>
        <p:spPr>
          <a:xfrm>
            <a:off x="5238750" y="2533650"/>
            <a:ext cx="39604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Hands-on technical specialization</a:t>
            </a:r>
            <a:endParaRPr lang="en-US" sz="1800" dirty="0"/>
          </a:p>
        </p:txBody>
      </p:sp>
      <p:sp>
        <p:nvSpPr>
          <p:cNvPr id="11" name="Shape 8"/>
          <p:cNvSpPr/>
          <p:nvPr/>
        </p:nvSpPr>
        <p:spPr>
          <a:xfrm>
            <a:off x="9220200" y="2019300"/>
            <a:ext cx="4057650" cy="1314450"/>
          </a:xfrm>
          <a:prstGeom prst="rect">
            <a:avLst/>
          </a:prstGeom>
          <a:ln w="9525">
            <a:solidFill>
              <a:srgbClr val="131313">
                <a:alpha val="20000"/>
              </a:srgbClr>
            </a:solidFill>
            <a:prstDash val="solid"/>
          </a:ln>
        </p:spPr>
      </p:sp>
      <p:sp>
        <p:nvSpPr>
          <p:cNvPr id="12" name="Text 9"/>
          <p:cNvSpPr/>
          <p:nvPr/>
        </p:nvSpPr>
        <p:spPr>
          <a:xfrm>
            <a:off x="94583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03</a:t>
            </a:r>
            <a:endParaRPr lang="en-US" sz="1650" dirty="0"/>
          </a:p>
        </p:txBody>
      </p:sp>
      <p:sp>
        <p:nvSpPr>
          <p:cNvPr id="13" name="Text 10"/>
          <p:cNvSpPr/>
          <p:nvPr/>
        </p:nvSpPr>
        <p:spPr>
          <a:xfrm>
            <a:off x="945832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Advanced cross-functional responsibility</a:t>
            </a:r>
            <a:endParaRPr lang="en-US" sz="1800" dirty="0"/>
          </a:p>
        </p:txBody>
      </p:sp>
      <p:sp>
        <p:nvSpPr>
          <p:cNvPr id="14" name="Shape 11"/>
          <p:cNvSpPr/>
          <p:nvPr/>
        </p:nvSpPr>
        <p:spPr>
          <a:xfrm>
            <a:off x="13430250" y="2019300"/>
            <a:ext cx="4057650" cy="1314450"/>
          </a:xfrm>
          <a:prstGeom prst="rect">
            <a:avLst/>
          </a:prstGeom>
          <a:ln w="9525">
            <a:solidFill>
              <a:srgbClr val="131313">
                <a:alpha val="20000"/>
              </a:srgbClr>
            </a:solidFill>
            <a:prstDash val="solid"/>
          </a:ln>
        </p:spPr>
      </p:sp>
      <p:sp>
        <p:nvSpPr>
          <p:cNvPr id="15" name="Text 12"/>
          <p:cNvSpPr/>
          <p:nvPr/>
        </p:nvSpPr>
        <p:spPr>
          <a:xfrm>
            <a:off x="136683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04</a:t>
            </a:r>
            <a:endParaRPr lang="en-US" sz="1650" dirty="0"/>
          </a:p>
        </p:txBody>
      </p:sp>
      <p:sp>
        <p:nvSpPr>
          <p:cNvPr id="16" name="Text 13"/>
          <p:cNvSpPr/>
          <p:nvPr/>
        </p:nvSpPr>
        <p:spPr>
          <a:xfrm>
            <a:off x="1366837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Subject-matter expertise and knowledge transfer</a:t>
            </a:r>
            <a:endParaRPr lang="en-US" sz="1800" dirty="0"/>
          </a:p>
        </p:txBody>
      </p:sp>
      <p:sp>
        <p:nvSpPr>
          <p:cNvPr id="17" name="Shape 14"/>
          <p:cNvSpPr/>
          <p:nvPr/>
        </p:nvSpPr>
        <p:spPr>
          <a:xfrm>
            <a:off x="800100" y="3581400"/>
            <a:ext cx="16687800" cy="2771775"/>
          </a:xfrm>
          <a:prstGeom prst="rect">
            <a:avLst/>
          </a:prstGeom>
          <a:solidFill>
            <a:srgbClr val="F2F5F6"/>
          </a:solidFill>
          <a:ln/>
        </p:spPr>
      </p:sp>
      <p:sp>
        <p:nvSpPr>
          <p:cNvPr id="18" name="Shape 15"/>
          <p:cNvSpPr/>
          <p:nvPr/>
        </p:nvSpPr>
        <p:spPr>
          <a:xfrm>
            <a:off x="1257300" y="4038600"/>
            <a:ext cx="2128242" cy="542925"/>
          </a:xfrm>
          <a:prstGeom prst="rect">
            <a:avLst/>
          </a:prstGeom>
          <a:ln w="9525">
            <a:solidFill>
              <a:srgbClr val="131313">
                <a:alpha val="20000"/>
              </a:srgbClr>
            </a:solidFill>
            <a:prstDash val="solid"/>
          </a:ln>
        </p:spPr>
      </p:sp>
      <p:sp>
        <p:nvSpPr>
          <p:cNvPr id="19" name="Text 16"/>
          <p:cNvSpPr/>
          <p:nvPr/>
        </p:nvSpPr>
        <p:spPr>
          <a:xfrm>
            <a:off x="1495425" y="4162425"/>
            <a:ext cx="172819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processing</a:t>
            </a:r>
            <a:endParaRPr lang="en-US" sz="1800" dirty="0"/>
          </a:p>
        </p:txBody>
      </p:sp>
      <p:sp>
        <p:nvSpPr>
          <p:cNvPr id="20" name="Shape 17"/>
          <p:cNvSpPr/>
          <p:nvPr/>
        </p:nvSpPr>
        <p:spPr>
          <a:xfrm>
            <a:off x="3499842" y="4038600"/>
            <a:ext cx="1277094" cy="542925"/>
          </a:xfrm>
          <a:prstGeom prst="rect">
            <a:avLst/>
          </a:prstGeom>
          <a:ln w="9525">
            <a:solidFill>
              <a:srgbClr val="131313">
                <a:alpha val="20000"/>
              </a:srgbClr>
            </a:solidFill>
            <a:prstDash val="solid"/>
          </a:ln>
        </p:spPr>
      </p:sp>
      <p:sp>
        <p:nvSpPr>
          <p:cNvPr id="21" name="Text 18"/>
          <p:cNvSpPr/>
          <p:nvPr/>
        </p:nvSpPr>
        <p:spPr>
          <a:xfrm>
            <a:off x="3737967" y="4162425"/>
            <a:ext cx="87704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Tagging</a:t>
            </a:r>
            <a:endParaRPr lang="en-US" sz="1800" dirty="0"/>
          </a:p>
        </p:txBody>
      </p:sp>
      <p:sp>
        <p:nvSpPr>
          <p:cNvPr id="22" name="Shape 19"/>
          <p:cNvSpPr/>
          <p:nvPr/>
        </p:nvSpPr>
        <p:spPr>
          <a:xfrm>
            <a:off x="4891236" y="4038600"/>
            <a:ext cx="1391096" cy="542925"/>
          </a:xfrm>
          <a:prstGeom prst="rect">
            <a:avLst/>
          </a:prstGeom>
          <a:ln w="9525">
            <a:solidFill>
              <a:srgbClr val="131313">
                <a:alpha val="20000"/>
              </a:srgbClr>
            </a:solidFill>
            <a:prstDash val="solid"/>
          </a:ln>
        </p:spPr>
      </p:sp>
      <p:sp>
        <p:nvSpPr>
          <p:cNvPr id="23" name="Text 20"/>
          <p:cNvSpPr/>
          <p:nvPr/>
        </p:nvSpPr>
        <p:spPr>
          <a:xfrm>
            <a:off x="5129361" y="4162425"/>
            <a:ext cx="99104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Analytics</a:t>
            </a:r>
            <a:endParaRPr lang="en-US" sz="1800" dirty="0"/>
          </a:p>
        </p:txBody>
      </p:sp>
      <p:sp>
        <p:nvSpPr>
          <p:cNvPr id="24" name="Shape 21"/>
          <p:cNvSpPr/>
          <p:nvPr/>
        </p:nvSpPr>
        <p:spPr>
          <a:xfrm>
            <a:off x="6396633" y="4038600"/>
            <a:ext cx="2864941" cy="542925"/>
          </a:xfrm>
          <a:prstGeom prst="rect">
            <a:avLst/>
          </a:prstGeom>
          <a:ln w="9525">
            <a:solidFill>
              <a:srgbClr val="131313">
                <a:alpha val="20000"/>
              </a:srgbClr>
            </a:solidFill>
            <a:prstDash val="solid"/>
          </a:ln>
        </p:spPr>
      </p:sp>
      <p:sp>
        <p:nvSpPr>
          <p:cNvPr id="25" name="Text 22"/>
          <p:cNvSpPr/>
          <p:nvPr/>
        </p:nvSpPr>
        <p:spPr>
          <a:xfrm>
            <a:off x="6634758" y="4162425"/>
            <a:ext cx="24746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 data platform</a:t>
            </a:r>
            <a:endParaRPr lang="en-US" sz="1800" dirty="0"/>
          </a:p>
        </p:txBody>
      </p:sp>
      <p:sp>
        <p:nvSpPr>
          <p:cNvPr id="26" name="Shape 23"/>
          <p:cNvSpPr/>
          <p:nvPr/>
        </p:nvSpPr>
        <p:spPr>
          <a:xfrm>
            <a:off x="9375874" y="4038600"/>
            <a:ext cx="2267545" cy="542925"/>
          </a:xfrm>
          <a:prstGeom prst="rect">
            <a:avLst/>
          </a:prstGeom>
          <a:ln w="9525">
            <a:solidFill>
              <a:srgbClr val="131313">
                <a:alpha val="20000"/>
              </a:srgbClr>
            </a:solidFill>
            <a:prstDash val="solid"/>
          </a:ln>
        </p:spPr>
      </p:sp>
      <p:sp>
        <p:nvSpPr>
          <p:cNvPr id="27" name="Text 24"/>
          <p:cNvSpPr/>
          <p:nvPr/>
        </p:nvSpPr>
        <p:spPr>
          <a:xfrm>
            <a:off x="9613999" y="4162425"/>
            <a:ext cx="18674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 profiles</a:t>
            </a:r>
            <a:endParaRPr lang="en-US" sz="1800" dirty="0"/>
          </a:p>
        </p:txBody>
      </p:sp>
      <p:sp>
        <p:nvSpPr>
          <p:cNvPr id="28" name="Shape 25"/>
          <p:cNvSpPr/>
          <p:nvPr/>
        </p:nvSpPr>
        <p:spPr>
          <a:xfrm>
            <a:off x="11757720" y="4038600"/>
            <a:ext cx="1543794" cy="542925"/>
          </a:xfrm>
          <a:prstGeom prst="rect">
            <a:avLst/>
          </a:prstGeom>
          <a:ln w="9525">
            <a:solidFill>
              <a:srgbClr val="131313">
                <a:alpha val="20000"/>
              </a:srgbClr>
            </a:solidFill>
            <a:prstDash val="solid"/>
          </a:ln>
        </p:spPr>
      </p:sp>
      <p:sp>
        <p:nvSpPr>
          <p:cNvPr id="29" name="Text 26"/>
          <p:cNvSpPr/>
          <p:nvPr/>
        </p:nvSpPr>
        <p:spPr>
          <a:xfrm>
            <a:off x="11995845" y="4162425"/>
            <a:ext cx="114374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Audiences</a:t>
            </a:r>
            <a:endParaRPr lang="en-US" sz="1800" dirty="0"/>
          </a:p>
        </p:txBody>
      </p:sp>
      <p:sp>
        <p:nvSpPr>
          <p:cNvPr id="30" name="Shape 27"/>
          <p:cNvSpPr/>
          <p:nvPr/>
        </p:nvSpPr>
        <p:spPr>
          <a:xfrm>
            <a:off x="13415814" y="4038600"/>
            <a:ext cx="1556593" cy="542925"/>
          </a:xfrm>
          <a:prstGeom prst="rect">
            <a:avLst/>
          </a:prstGeom>
          <a:ln w="9525">
            <a:solidFill>
              <a:srgbClr val="131313">
                <a:alpha val="20000"/>
              </a:srgbClr>
            </a:solidFill>
            <a:prstDash val="solid"/>
          </a:ln>
        </p:spPr>
      </p:sp>
      <p:sp>
        <p:nvSpPr>
          <p:cNvPr id="31" name="Text 28"/>
          <p:cNvSpPr/>
          <p:nvPr/>
        </p:nvSpPr>
        <p:spPr>
          <a:xfrm>
            <a:off x="13653939" y="4162425"/>
            <a:ext cx="115654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Integration</a:t>
            </a:r>
            <a:endParaRPr lang="en-US" sz="1800" dirty="0"/>
          </a:p>
        </p:txBody>
      </p:sp>
      <p:sp>
        <p:nvSpPr>
          <p:cNvPr id="32" name="Shape 29"/>
          <p:cNvSpPr/>
          <p:nvPr/>
        </p:nvSpPr>
        <p:spPr>
          <a:xfrm>
            <a:off x="1257300" y="4695825"/>
            <a:ext cx="2759869" cy="542925"/>
          </a:xfrm>
          <a:prstGeom prst="rect">
            <a:avLst/>
          </a:prstGeom>
          <a:ln w="9525">
            <a:solidFill>
              <a:srgbClr val="131313">
                <a:alpha val="20000"/>
              </a:srgbClr>
            </a:solidFill>
            <a:prstDash val="solid"/>
          </a:ln>
        </p:spPr>
      </p:sp>
      <p:sp>
        <p:nvSpPr>
          <p:cNvPr id="33" name="Text 30"/>
          <p:cNvSpPr/>
          <p:nvPr/>
        </p:nvSpPr>
        <p:spPr>
          <a:xfrm>
            <a:off x="1495425" y="4819650"/>
            <a:ext cx="236641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Online and offline data</a:t>
            </a:r>
            <a:endParaRPr lang="en-US" sz="1800" dirty="0"/>
          </a:p>
        </p:txBody>
      </p:sp>
      <p:sp>
        <p:nvSpPr>
          <p:cNvPr id="34" name="Shape 31"/>
          <p:cNvSpPr/>
          <p:nvPr/>
        </p:nvSpPr>
        <p:spPr>
          <a:xfrm>
            <a:off x="4131469" y="4695825"/>
            <a:ext cx="2039392" cy="542925"/>
          </a:xfrm>
          <a:prstGeom prst="rect">
            <a:avLst/>
          </a:prstGeom>
          <a:ln w="9525">
            <a:solidFill>
              <a:srgbClr val="131313">
                <a:alpha val="20000"/>
              </a:srgbClr>
            </a:solidFill>
            <a:prstDash val="solid"/>
          </a:ln>
        </p:spPr>
      </p:sp>
      <p:sp>
        <p:nvSpPr>
          <p:cNvPr id="35" name="Text 32"/>
          <p:cNvSpPr/>
          <p:nvPr/>
        </p:nvSpPr>
        <p:spPr>
          <a:xfrm>
            <a:off x="4369594" y="4819650"/>
            <a:ext cx="16393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Personalization</a:t>
            </a:r>
            <a:endParaRPr lang="en-US" sz="1800" dirty="0"/>
          </a:p>
        </p:txBody>
      </p:sp>
      <p:sp>
        <p:nvSpPr>
          <p:cNvPr id="36" name="Shape 33"/>
          <p:cNvSpPr/>
          <p:nvPr/>
        </p:nvSpPr>
        <p:spPr>
          <a:xfrm>
            <a:off x="6285161" y="4695825"/>
            <a:ext cx="3932634" cy="542925"/>
          </a:xfrm>
          <a:prstGeom prst="rect">
            <a:avLst/>
          </a:prstGeom>
          <a:ln w="9525">
            <a:solidFill>
              <a:srgbClr val="131313">
                <a:alpha val="20000"/>
              </a:srgbClr>
            </a:solidFill>
            <a:prstDash val="solid"/>
          </a:ln>
        </p:spPr>
      </p:sp>
      <p:sp>
        <p:nvSpPr>
          <p:cNvPr id="37" name="Text 34"/>
          <p:cNvSpPr/>
          <p:nvPr/>
        </p:nvSpPr>
        <p:spPr>
          <a:xfrm>
            <a:off x="6523286" y="4819650"/>
            <a:ext cx="357436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System integration documentation</a:t>
            </a:r>
            <a:endParaRPr lang="en-US" sz="1800" dirty="0"/>
          </a:p>
        </p:txBody>
      </p:sp>
      <p:sp>
        <p:nvSpPr>
          <p:cNvPr id="38" name="Shape 35"/>
          <p:cNvSpPr/>
          <p:nvPr/>
        </p:nvSpPr>
        <p:spPr>
          <a:xfrm>
            <a:off x="10332095" y="4695825"/>
            <a:ext cx="1200596" cy="542925"/>
          </a:xfrm>
          <a:prstGeom prst="rect">
            <a:avLst/>
          </a:prstGeom>
          <a:ln w="9525">
            <a:solidFill>
              <a:srgbClr val="131313">
                <a:alpha val="20000"/>
              </a:srgbClr>
            </a:solidFill>
            <a:prstDash val="solid"/>
          </a:ln>
        </p:spPr>
      </p:sp>
      <p:sp>
        <p:nvSpPr>
          <p:cNvPr id="39" name="Text 36"/>
          <p:cNvSpPr/>
          <p:nvPr/>
        </p:nvSpPr>
        <p:spPr>
          <a:xfrm>
            <a:off x="10570220" y="4819650"/>
            <a:ext cx="80054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Testing</a:t>
            </a:r>
            <a:endParaRPr lang="en-US" sz="1800" dirty="0"/>
          </a:p>
        </p:txBody>
      </p:sp>
      <p:sp>
        <p:nvSpPr>
          <p:cNvPr id="40" name="Shape 37"/>
          <p:cNvSpPr/>
          <p:nvPr/>
        </p:nvSpPr>
        <p:spPr>
          <a:xfrm>
            <a:off x="11646991" y="4695825"/>
            <a:ext cx="1582192" cy="542925"/>
          </a:xfrm>
          <a:prstGeom prst="rect">
            <a:avLst/>
          </a:prstGeom>
          <a:ln w="9525">
            <a:solidFill>
              <a:srgbClr val="131313">
                <a:alpha val="20000"/>
              </a:srgbClr>
            </a:solidFill>
            <a:prstDash val="solid"/>
          </a:ln>
        </p:spPr>
      </p:sp>
      <p:sp>
        <p:nvSpPr>
          <p:cNvPr id="41" name="Text 38"/>
          <p:cNvSpPr/>
          <p:nvPr/>
        </p:nvSpPr>
        <p:spPr>
          <a:xfrm>
            <a:off x="11885116" y="4819650"/>
            <a:ext cx="11821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Debugging</a:t>
            </a:r>
            <a:endParaRPr lang="en-US" sz="1800" dirty="0"/>
          </a:p>
        </p:txBody>
      </p:sp>
      <p:sp>
        <p:nvSpPr>
          <p:cNvPr id="42" name="Shape 39"/>
          <p:cNvSpPr/>
          <p:nvPr/>
        </p:nvSpPr>
        <p:spPr>
          <a:xfrm>
            <a:off x="13343483" y="4695825"/>
            <a:ext cx="2611338" cy="542925"/>
          </a:xfrm>
          <a:prstGeom prst="rect">
            <a:avLst/>
          </a:prstGeom>
          <a:ln w="9525">
            <a:solidFill>
              <a:srgbClr val="131313">
                <a:alpha val="20000"/>
              </a:srgbClr>
            </a:solidFill>
            <a:prstDash val="solid"/>
          </a:ln>
        </p:spPr>
      </p:sp>
      <p:sp>
        <p:nvSpPr>
          <p:cNvPr id="43" name="Text 40"/>
          <p:cNvSpPr/>
          <p:nvPr/>
        </p:nvSpPr>
        <p:spPr>
          <a:xfrm>
            <a:off x="13581608" y="4819650"/>
            <a:ext cx="221342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Ingestion diagnostics</a:t>
            </a:r>
            <a:endParaRPr lang="en-US" sz="1800" dirty="0"/>
          </a:p>
        </p:txBody>
      </p:sp>
      <p:sp>
        <p:nvSpPr>
          <p:cNvPr id="44" name="Shape 41"/>
          <p:cNvSpPr/>
          <p:nvPr/>
        </p:nvSpPr>
        <p:spPr>
          <a:xfrm>
            <a:off x="1257300" y="5353050"/>
            <a:ext cx="3051423" cy="542925"/>
          </a:xfrm>
          <a:prstGeom prst="rect">
            <a:avLst/>
          </a:prstGeom>
          <a:ln w="9525">
            <a:solidFill>
              <a:srgbClr val="131313">
                <a:alpha val="20000"/>
              </a:srgbClr>
            </a:solidFill>
            <a:prstDash val="solid"/>
          </a:ln>
        </p:spPr>
      </p:sp>
      <p:sp>
        <p:nvSpPr>
          <p:cNvPr id="45" name="Text 42"/>
          <p:cNvSpPr/>
          <p:nvPr/>
        </p:nvSpPr>
        <p:spPr>
          <a:xfrm>
            <a:off x="1495425" y="5476875"/>
            <a:ext cx="266671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Source-to-CDP validation</a:t>
            </a:r>
            <a:endParaRPr lang="en-US" sz="1800" dirty="0"/>
          </a:p>
        </p:txBody>
      </p:sp>
      <p:sp>
        <p:nvSpPr>
          <p:cNvPr id="46" name="Shape 43"/>
          <p:cNvSpPr/>
          <p:nvPr/>
        </p:nvSpPr>
        <p:spPr>
          <a:xfrm>
            <a:off x="4423023" y="5353050"/>
            <a:ext cx="3627834" cy="542925"/>
          </a:xfrm>
          <a:prstGeom prst="rect">
            <a:avLst/>
          </a:prstGeom>
          <a:ln w="9525">
            <a:solidFill>
              <a:srgbClr val="131313">
                <a:alpha val="20000"/>
              </a:srgbClr>
            </a:solidFill>
            <a:prstDash val="solid"/>
          </a:ln>
        </p:spPr>
      </p:sp>
      <p:sp>
        <p:nvSpPr>
          <p:cNvPr id="47" name="Text 44"/>
          <p:cNvSpPr/>
          <p:nvPr/>
        </p:nvSpPr>
        <p:spPr>
          <a:xfrm>
            <a:off x="4661148" y="5476875"/>
            <a:ext cx="326041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Data-layer and event validation</a:t>
            </a:r>
            <a:endParaRPr lang="en-US" sz="1800" dirty="0"/>
          </a:p>
        </p:txBody>
      </p:sp>
      <p:sp>
        <p:nvSpPr>
          <p:cNvPr id="48" name="Shape 45"/>
          <p:cNvSpPr/>
          <p:nvPr/>
        </p:nvSpPr>
        <p:spPr>
          <a:xfrm>
            <a:off x="8165157" y="5353050"/>
            <a:ext cx="2039541" cy="542925"/>
          </a:xfrm>
          <a:prstGeom prst="rect">
            <a:avLst/>
          </a:prstGeom>
          <a:ln w="9525">
            <a:solidFill>
              <a:srgbClr val="131313">
                <a:alpha val="20000"/>
              </a:srgbClr>
            </a:solidFill>
            <a:prstDash val="solid"/>
          </a:ln>
        </p:spPr>
      </p:sp>
      <p:sp>
        <p:nvSpPr>
          <p:cNvPr id="49" name="Text 46"/>
          <p:cNvSpPr/>
          <p:nvPr/>
        </p:nvSpPr>
        <p:spPr>
          <a:xfrm>
            <a:off x="8403282" y="5476875"/>
            <a:ext cx="16394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Solution design</a:t>
            </a:r>
            <a:endParaRPr lang="en-US" sz="1800" dirty="0"/>
          </a:p>
        </p:txBody>
      </p:sp>
      <p:sp>
        <p:nvSpPr>
          <p:cNvPr id="50" name="Shape 47"/>
          <p:cNvSpPr/>
          <p:nvPr/>
        </p:nvSpPr>
        <p:spPr>
          <a:xfrm>
            <a:off x="10318998" y="5353050"/>
            <a:ext cx="2521893" cy="542925"/>
          </a:xfrm>
          <a:prstGeom prst="rect">
            <a:avLst/>
          </a:prstGeom>
          <a:ln w="9525">
            <a:solidFill>
              <a:srgbClr val="131313">
                <a:alpha val="20000"/>
              </a:srgbClr>
            </a:solidFill>
            <a:prstDash val="solid"/>
          </a:ln>
        </p:spPr>
      </p:sp>
      <p:sp>
        <p:nvSpPr>
          <p:cNvPr id="51" name="Text 48"/>
          <p:cNvSpPr/>
          <p:nvPr/>
        </p:nvSpPr>
        <p:spPr>
          <a:xfrm>
            <a:off x="10557123" y="5476875"/>
            <a:ext cx="212184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Client customization</a:t>
            </a:r>
            <a:endParaRPr lang="en-US" sz="1800" dirty="0"/>
          </a:p>
        </p:txBody>
      </p:sp>
      <p:sp>
        <p:nvSpPr>
          <p:cNvPr id="52" name="Text 49"/>
          <p:cNvSpPr/>
          <p:nvPr/>
        </p:nvSpPr>
        <p:spPr>
          <a:xfrm>
            <a:off x="800100" y="73152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This is the stage at which industry knowledge converted into company-specific knowledge — through repeated hands-on work with Ascent’s own configurations, codebases and integration patterns, and through collaboration with Ascent engineers, architects and subject-matter experts.</a:t>
            </a:r>
            <a:endParaRPr lang="en-US" sz="1800" dirty="0"/>
          </a:p>
        </p:txBody>
      </p:sp>
      <p:sp>
        <p:nvSpPr>
          <p:cNvPr id="53" name="Text 5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54" name="Text 5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55" name="Text 5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16</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Stage 3 · Advanced cross-functional responsibility</a:t>
            </a:r>
            <a:endParaRPr lang="en-US" sz="3900" dirty="0"/>
          </a:p>
        </p:txBody>
      </p:sp>
      <p:sp>
        <p:nvSpPr>
          <p:cNvPr id="5" name="Shape 2"/>
          <p:cNvSpPr/>
          <p:nvPr/>
        </p:nvSpPr>
        <p:spPr>
          <a:xfrm>
            <a:off x="800100" y="2019300"/>
            <a:ext cx="4057650" cy="1314450"/>
          </a:xfrm>
          <a:prstGeom prst="rect">
            <a:avLst/>
          </a:prstGeom>
          <a:ln w="9525">
            <a:solidFill>
              <a:srgbClr val="131313">
                <a:alpha val="20000"/>
              </a:srgbClr>
            </a:solidFill>
            <a:prstDash val="solid"/>
          </a:ln>
        </p:spPr>
      </p:sp>
      <p:sp>
        <p:nvSpPr>
          <p:cNvPr id="6" name="Text 3"/>
          <p:cNvSpPr/>
          <p:nvPr/>
        </p:nvSpPr>
        <p:spPr>
          <a:xfrm>
            <a:off x="10382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01</a:t>
            </a:r>
            <a:endParaRPr lang="en-US" sz="1650" dirty="0"/>
          </a:p>
        </p:txBody>
      </p:sp>
      <p:sp>
        <p:nvSpPr>
          <p:cNvPr id="7" name="Text 4"/>
          <p:cNvSpPr/>
          <p:nvPr/>
        </p:nvSpPr>
        <p:spPr>
          <a:xfrm>
            <a:off x="103822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Ascent architecture immersion</a:t>
            </a:r>
            <a:endParaRPr lang="en-US" sz="1800" dirty="0"/>
          </a:p>
        </p:txBody>
      </p:sp>
      <p:sp>
        <p:nvSpPr>
          <p:cNvPr id="8" name="Shape 5"/>
          <p:cNvSpPr/>
          <p:nvPr/>
        </p:nvSpPr>
        <p:spPr>
          <a:xfrm>
            <a:off x="5010150" y="2019300"/>
            <a:ext cx="4057650" cy="1314450"/>
          </a:xfrm>
          <a:prstGeom prst="rect">
            <a:avLst/>
          </a:prstGeom>
          <a:ln w="9525">
            <a:solidFill>
              <a:srgbClr val="131313">
                <a:alpha val="20000"/>
              </a:srgbClr>
            </a:solidFill>
            <a:prstDash val="solid"/>
          </a:ln>
        </p:spPr>
      </p:sp>
      <p:sp>
        <p:nvSpPr>
          <p:cNvPr id="9" name="Text 6"/>
          <p:cNvSpPr/>
          <p:nvPr/>
        </p:nvSpPr>
        <p:spPr>
          <a:xfrm>
            <a:off x="52482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02</a:t>
            </a:r>
            <a:endParaRPr lang="en-US" sz="1650" dirty="0"/>
          </a:p>
        </p:txBody>
      </p:sp>
      <p:sp>
        <p:nvSpPr>
          <p:cNvPr id="10" name="Text 7"/>
          <p:cNvSpPr/>
          <p:nvPr/>
        </p:nvSpPr>
        <p:spPr>
          <a:xfrm>
            <a:off x="524827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Hands-on technical specialization</a:t>
            </a:r>
            <a:endParaRPr lang="en-US" sz="1800" dirty="0"/>
          </a:p>
        </p:txBody>
      </p:sp>
      <p:sp>
        <p:nvSpPr>
          <p:cNvPr id="11" name="Shape 8"/>
          <p:cNvSpPr/>
          <p:nvPr/>
        </p:nvSpPr>
        <p:spPr>
          <a:xfrm>
            <a:off x="9220200" y="2019300"/>
            <a:ext cx="4057650" cy="1314450"/>
          </a:xfrm>
          <a:prstGeom prst="rect">
            <a:avLst/>
          </a:prstGeom>
          <a:solidFill>
            <a:srgbClr val="131313"/>
          </a:solidFill>
          <a:ln/>
        </p:spPr>
      </p:sp>
      <p:sp>
        <p:nvSpPr>
          <p:cNvPr id="12" name="Text 9"/>
          <p:cNvSpPr/>
          <p:nvPr/>
        </p:nvSpPr>
        <p:spPr>
          <a:xfrm>
            <a:off x="9448800" y="2209800"/>
            <a:ext cx="396049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03</a:t>
            </a:r>
            <a:endParaRPr lang="en-US" sz="1650" dirty="0"/>
          </a:p>
        </p:txBody>
      </p:sp>
      <p:sp>
        <p:nvSpPr>
          <p:cNvPr id="13" name="Text 10"/>
          <p:cNvSpPr/>
          <p:nvPr/>
        </p:nvSpPr>
        <p:spPr>
          <a:xfrm>
            <a:off x="9448800" y="2533650"/>
            <a:ext cx="3708464"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Advanced cross-functional responsibility</a:t>
            </a:r>
            <a:endParaRPr lang="en-US" sz="1800" dirty="0"/>
          </a:p>
        </p:txBody>
      </p:sp>
      <p:sp>
        <p:nvSpPr>
          <p:cNvPr id="14" name="Shape 11"/>
          <p:cNvSpPr/>
          <p:nvPr/>
        </p:nvSpPr>
        <p:spPr>
          <a:xfrm>
            <a:off x="13430250" y="2019300"/>
            <a:ext cx="4057650" cy="1314450"/>
          </a:xfrm>
          <a:prstGeom prst="rect">
            <a:avLst/>
          </a:prstGeom>
          <a:ln w="9525">
            <a:solidFill>
              <a:srgbClr val="131313">
                <a:alpha val="20000"/>
              </a:srgbClr>
            </a:solidFill>
            <a:prstDash val="solid"/>
          </a:ln>
        </p:spPr>
      </p:sp>
      <p:sp>
        <p:nvSpPr>
          <p:cNvPr id="15" name="Text 12"/>
          <p:cNvSpPr/>
          <p:nvPr/>
        </p:nvSpPr>
        <p:spPr>
          <a:xfrm>
            <a:off x="136683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04</a:t>
            </a:r>
            <a:endParaRPr lang="en-US" sz="1650" dirty="0"/>
          </a:p>
        </p:txBody>
      </p:sp>
      <p:sp>
        <p:nvSpPr>
          <p:cNvPr id="16" name="Text 13"/>
          <p:cNvSpPr/>
          <p:nvPr/>
        </p:nvSpPr>
        <p:spPr>
          <a:xfrm>
            <a:off x="1366837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Subject-matter expertise and knowledge transfer</a:t>
            </a:r>
            <a:endParaRPr lang="en-US" sz="1800" dirty="0"/>
          </a:p>
        </p:txBody>
      </p:sp>
      <p:sp>
        <p:nvSpPr>
          <p:cNvPr id="17" name="Shape 14"/>
          <p:cNvSpPr/>
          <p:nvPr/>
        </p:nvSpPr>
        <p:spPr>
          <a:xfrm>
            <a:off x="800100" y="3581400"/>
            <a:ext cx="16687800" cy="2124075"/>
          </a:xfrm>
          <a:prstGeom prst="rect">
            <a:avLst/>
          </a:prstGeom>
          <a:solidFill>
            <a:srgbClr val="F2F5F6"/>
          </a:solidFill>
          <a:ln/>
        </p:spPr>
      </p:sp>
      <p:sp>
        <p:nvSpPr>
          <p:cNvPr id="18" name="Shape 15"/>
          <p:cNvSpPr/>
          <p:nvPr/>
        </p:nvSpPr>
        <p:spPr>
          <a:xfrm>
            <a:off x="1028700" y="3771900"/>
            <a:ext cx="2381994" cy="504825"/>
          </a:xfrm>
          <a:prstGeom prst="rect">
            <a:avLst/>
          </a:prstGeom>
          <a:ln w="9525">
            <a:solidFill>
              <a:srgbClr val="131313">
                <a:alpha val="20000"/>
              </a:srgbClr>
            </a:solidFill>
            <a:prstDash val="solid"/>
          </a:ln>
        </p:spPr>
      </p:sp>
      <p:sp>
        <p:nvSpPr>
          <p:cNvPr id="19" name="Text 16"/>
          <p:cNvSpPr/>
          <p:nvPr/>
        </p:nvSpPr>
        <p:spPr>
          <a:xfrm>
            <a:off x="1228725" y="3876675"/>
            <a:ext cx="205814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Overall architecture</a:t>
            </a:r>
            <a:endParaRPr lang="en-US" sz="1800" dirty="0"/>
          </a:p>
        </p:txBody>
      </p:sp>
      <p:sp>
        <p:nvSpPr>
          <p:cNvPr id="20" name="Shape 17"/>
          <p:cNvSpPr/>
          <p:nvPr/>
        </p:nvSpPr>
        <p:spPr>
          <a:xfrm>
            <a:off x="3524994" y="3771900"/>
            <a:ext cx="2229743" cy="504825"/>
          </a:xfrm>
          <a:prstGeom prst="rect">
            <a:avLst/>
          </a:prstGeom>
          <a:ln w="9525">
            <a:solidFill>
              <a:srgbClr val="131313">
                <a:alpha val="20000"/>
              </a:srgbClr>
            </a:solidFill>
            <a:prstDash val="solid"/>
          </a:ln>
        </p:spPr>
      </p:sp>
      <p:sp>
        <p:nvSpPr>
          <p:cNvPr id="21" name="Text 18"/>
          <p:cNvSpPr/>
          <p:nvPr/>
        </p:nvSpPr>
        <p:spPr>
          <a:xfrm>
            <a:off x="3725019" y="3876675"/>
            <a:ext cx="19058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Technical strategy</a:t>
            </a:r>
            <a:endParaRPr lang="en-US" sz="1800" dirty="0"/>
          </a:p>
        </p:txBody>
      </p:sp>
      <p:sp>
        <p:nvSpPr>
          <p:cNvPr id="22" name="Shape 19"/>
          <p:cNvSpPr/>
          <p:nvPr/>
        </p:nvSpPr>
        <p:spPr>
          <a:xfrm>
            <a:off x="5869037" y="3771900"/>
            <a:ext cx="2979539" cy="504825"/>
          </a:xfrm>
          <a:prstGeom prst="rect">
            <a:avLst/>
          </a:prstGeom>
          <a:ln w="9525">
            <a:solidFill>
              <a:srgbClr val="131313">
                <a:alpha val="20000"/>
              </a:srgbClr>
            </a:solidFill>
            <a:prstDash val="solid"/>
          </a:ln>
        </p:spPr>
      </p:sp>
      <p:sp>
        <p:nvSpPr>
          <p:cNvPr id="23" name="Text 20"/>
          <p:cNvSpPr/>
          <p:nvPr/>
        </p:nvSpPr>
        <p:spPr>
          <a:xfrm>
            <a:off x="6069062" y="3876675"/>
            <a:ext cx="266887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Solution and risk analysis</a:t>
            </a:r>
            <a:endParaRPr lang="en-US" sz="1800" dirty="0"/>
          </a:p>
        </p:txBody>
      </p:sp>
      <p:sp>
        <p:nvSpPr>
          <p:cNvPr id="24" name="Shape 21"/>
          <p:cNvSpPr/>
          <p:nvPr/>
        </p:nvSpPr>
        <p:spPr>
          <a:xfrm>
            <a:off x="8962876" y="3771900"/>
            <a:ext cx="4631680" cy="504825"/>
          </a:xfrm>
          <a:prstGeom prst="rect">
            <a:avLst/>
          </a:prstGeom>
          <a:ln w="9525">
            <a:solidFill>
              <a:srgbClr val="131313">
                <a:alpha val="20000"/>
              </a:srgbClr>
            </a:solidFill>
            <a:prstDash val="solid"/>
          </a:ln>
        </p:spPr>
      </p:sp>
      <p:sp>
        <p:nvSpPr>
          <p:cNvPr id="25" name="Text 22"/>
          <p:cNvSpPr/>
          <p:nvPr/>
        </p:nvSpPr>
        <p:spPr>
          <a:xfrm>
            <a:off x="9162901" y="3876675"/>
            <a:ext cx="437058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Maintenance and customization of Ascent</a:t>
            </a:r>
            <a:endParaRPr lang="en-US" sz="1800" dirty="0"/>
          </a:p>
        </p:txBody>
      </p:sp>
      <p:sp>
        <p:nvSpPr>
          <p:cNvPr id="26" name="Shape 23"/>
          <p:cNvSpPr/>
          <p:nvPr/>
        </p:nvSpPr>
        <p:spPr>
          <a:xfrm>
            <a:off x="13708856" y="3771900"/>
            <a:ext cx="2750939" cy="504825"/>
          </a:xfrm>
          <a:prstGeom prst="rect">
            <a:avLst/>
          </a:prstGeom>
          <a:ln w="9525">
            <a:solidFill>
              <a:srgbClr val="131313">
                <a:alpha val="20000"/>
              </a:srgbClr>
            </a:solidFill>
            <a:prstDash val="solid"/>
          </a:ln>
        </p:spPr>
      </p:sp>
      <p:sp>
        <p:nvSpPr>
          <p:cNvPr id="27" name="Text 24"/>
          <p:cNvSpPr/>
          <p:nvPr/>
        </p:nvSpPr>
        <p:spPr>
          <a:xfrm>
            <a:off x="13908881" y="3876675"/>
            <a:ext cx="243341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Code-quality standards</a:t>
            </a:r>
            <a:endParaRPr lang="en-US" sz="1800" dirty="0"/>
          </a:p>
        </p:txBody>
      </p:sp>
      <p:sp>
        <p:nvSpPr>
          <p:cNvPr id="28" name="Shape 25"/>
          <p:cNvSpPr/>
          <p:nvPr/>
        </p:nvSpPr>
        <p:spPr>
          <a:xfrm>
            <a:off x="1028700" y="4391025"/>
            <a:ext cx="1670745" cy="504825"/>
          </a:xfrm>
          <a:prstGeom prst="rect">
            <a:avLst/>
          </a:prstGeom>
          <a:ln w="9525">
            <a:solidFill>
              <a:srgbClr val="131313">
                <a:alpha val="20000"/>
              </a:srgbClr>
            </a:solidFill>
            <a:prstDash val="solid"/>
          </a:ln>
        </p:spPr>
      </p:sp>
      <p:sp>
        <p:nvSpPr>
          <p:cNvPr id="29" name="Text 26"/>
          <p:cNvSpPr/>
          <p:nvPr/>
        </p:nvSpPr>
        <p:spPr>
          <a:xfrm>
            <a:off x="1228725" y="4495800"/>
            <a:ext cx="13468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Code review</a:t>
            </a:r>
            <a:endParaRPr lang="en-US" sz="1800" dirty="0"/>
          </a:p>
        </p:txBody>
      </p:sp>
      <p:sp>
        <p:nvSpPr>
          <p:cNvPr id="30" name="Shape 27"/>
          <p:cNvSpPr/>
          <p:nvPr/>
        </p:nvSpPr>
        <p:spPr>
          <a:xfrm>
            <a:off x="2813745" y="4391025"/>
            <a:ext cx="1543645" cy="504825"/>
          </a:xfrm>
          <a:prstGeom prst="rect">
            <a:avLst/>
          </a:prstGeom>
          <a:ln w="9525">
            <a:solidFill>
              <a:srgbClr val="131313">
                <a:alpha val="20000"/>
              </a:srgbClr>
            </a:solidFill>
            <a:prstDash val="solid"/>
          </a:ln>
        </p:spPr>
      </p:sp>
      <p:sp>
        <p:nvSpPr>
          <p:cNvPr id="31" name="Text 28"/>
          <p:cNvSpPr/>
          <p:nvPr/>
        </p:nvSpPr>
        <p:spPr>
          <a:xfrm>
            <a:off x="3013770" y="4495800"/>
            <a:ext cx="121979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Unit testing</a:t>
            </a:r>
            <a:endParaRPr lang="en-US" sz="1800" dirty="0"/>
          </a:p>
        </p:txBody>
      </p:sp>
      <p:sp>
        <p:nvSpPr>
          <p:cNvPr id="32" name="Shape 29"/>
          <p:cNvSpPr/>
          <p:nvPr/>
        </p:nvSpPr>
        <p:spPr>
          <a:xfrm>
            <a:off x="4471690" y="4391025"/>
            <a:ext cx="3644354" cy="504825"/>
          </a:xfrm>
          <a:prstGeom prst="rect">
            <a:avLst/>
          </a:prstGeom>
          <a:ln w="9525">
            <a:solidFill>
              <a:srgbClr val="131313">
                <a:alpha val="20000"/>
              </a:srgbClr>
            </a:solidFill>
            <a:prstDash val="solid"/>
          </a:ln>
        </p:spPr>
      </p:sp>
      <p:sp>
        <p:nvSpPr>
          <p:cNvPr id="33" name="Text 30"/>
          <p:cNvSpPr/>
          <p:nvPr/>
        </p:nvSpPr>
        <p:spPr>
          <a:xfrm>
            <a:off x="4671715" y="4495800"/>
            <a:ext cx="335363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Review of other engineers’ work</a:t>
            </a:r>
            <a:endParaRPr lang="en-US" sz="1800" dirty="0"/>
          </a:p>
        </p:txBody>
      </p:sp>
      <p:sp>
        <p:nvSpPr>
          <p:cNvPr id="34" name="Shape 31"/>
          <p:cNvSpPr/>
          <p:nvPr/>
        </p:nvSpPr>
        <p:spPr>
          <a:xfrm>
            <a:off x="8230344" y="4391025"/>
            <a:ext cx="2738289" cy="504825"/>
          </a:xfrm>
          <a:prstGeom prst="rect">
            <a:avLst/>
          </a:prstGeom>
          <a:ln w="9525">
            <a:solidFill>
              <a:srgbClr val="131313">
                <a:alpha val="20000"/>
              </a:srgbClr>
            </a:solidFill>
            <a:prstDash val="solid"/>
          </a:ln>
        </p:spPr>
      </p:sp>
      <p:sp>
        <p:nvSpPr>
          <p:cNvPr id="35" name="Text 32"/>
          <p:cNvSpPr/>
          <p:nvPr/>
        </p:nvSpPr>
        <p:spPr>
          <a:xfrm>
            <a:off x="8430369" y="4495800"/>
            <a:ext cx="242038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Integration architecture</a:t>
            </a:r>
            <a:endParaRPr lang="en-US" sz="1800" dirty="0"/>
          </a:p>
        </p:txBody>
      </p:sp>
      <p:sp>
        <p:nvSpPr>
          <p:cNvPr id="36" name="Shape 33"/>
          <p:cNvSpPr/>
          <p:nvPr/>
        </p:nvSpPr>
        <p:spPr>
          <a:xfrm>
            <a:off x="11082933" y="4391025"/>
            <a:ext cx="2509689" cy="504825"/>
          </a:xfrm>
          <a:prstGeom prst="rect">
            <a:avLst/>
          </a:prstGeom>
          <a:ln w="9525">
            <a:solidFill>
              <a:srgbClr val="131313">
                <a:alpha val="20000"/>
              </a:srgbClr>
            </a:solidFill>
            <a:prstDash val="solid"/>
          </a:ln>
        </p:spPr>
      </p:sp>
      <p:sp>
        <p:nvSpPr>
          <p:cNvPr id="37" name="Text 34"/>
          <p:cNvSpPr/>
          <p:nvPr/>
        </p:nvSpPr>
        <p:spPr>
          <a:xfrm>
            <a:off x="11282958" y="4495800"/>
            <a:ext cx="218583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Technical solutioning</a:t>
            </a:r>
            <a:endParaRPr lang="en-US" sz="1800" dirty="0"/>
          </a:p>
        </p:txBody>
      </p:sp>
      <p:sp>
        <p:nvSpPr>
          <p:cNvPr id="38" name="Shape 35"/>
          <p:cNvSpPr/>
          <p:nvPr/>
        </p:nvSpPr>
        <p:spPr>
          <a:xfrm>
            <a:off x="13706921" y="4391025"/>
            <a:ext cx="2267843" cy="504825"/>
          </a:xfrm>
          <a:prstGeom prst="rect">
            <a:avLst/>
          </a:prstGeom>
          <a:ln w="9525">
            <a:solidFill>
              <a:srgbClr val="131313">
                <a:alpha val="20000"/>
              </a:srgbClr>
            </a:solidFill>
            <a:prstDash val="solid"/>
          </a:ln>
        </p:spPr>
      </p:sp>
      <p:sp>
        <p:nvSpPr>
          <p:cNvPr id="39" name="Text 36"/>
          <p:cNvSpPr/>
          <p:nvPr/>
        </p:nvSpPr>
        <p:spPr>
          <a:xfrm>
            <a:off x="13906946" y="4495800"/>
            <a:ext cx="194399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Technical advisory</a:t>
            </a:r>
            <a:endParaRPr lang="en-US" sz="1800" dirty="0"/>
          </a:p>
        </p:txBody>
      </p:sp>
      <p:sp>
        <p:nvSpPr>
          <p:cNvPr id="40" name="Shape 37"/>
          <p:cNvSpPr/>
          <p:nvPr/>
        </p:nvSpPr>
        <p:spPr>
          <a:xfrm>
            <a:off x="1028700" y="5010150"/>
            <a:ext cx="3284041" cy="504825"/>
          </a:xfrm>
          <a:prstGeom prst="rect">
            <a:avLst/>
          </a:prstGeom>
          <a:ln w="9525">
            <a:solidFill>
              <a:srgbClr val="131313">
                <a:alpha val="20000"/>
              </a:srgbClr>
            </a:solidFill>
            <a:prstDash val="solid"/>
          </a:ln>
        </p:spPr>
      </p:sp>
      <p:sp>
        <p:nvSpPr>
          <p:cNvPr id="41" name="Text 38"/>
          <p:cNvSpPr/>
          <p:nvPr/>
        </p:nvSpPr>
        <p:spPr>
          <a:xfrm>
            <a:off x="1228725" y="5114925"/>
            <a:ext cx="298251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Client-specific customization</a:t>
            </a:r>
            <a:endParaRPr lang="en-US" sz="1800" dirty="0"/>
          </a:p>
        </p:txBody>
      </p:sp>
      <p:sp>
        <p:nvSpPr>
          <p:cNvPr id="42" name="Shape 39"/>
          <p:cNvSpPr/>
          <p:nvPr/>
        </p:nvSpPr>
        <p:spPr>
          <a:xfrm>
            <a:off x="4427041" y="5010150"/>
            <a:ext cx="3716536" cy="504825"/>
          </a:xfrm>
          <a:prstGeom prst="rect">
            <a:avLst/>
          </a:prstGeom>
          <a:ln w="9525">
            <a:solidFill>
              <a:srgbClr val="131313">
                <a:alpha val="20000"/>
              </a:srgbClr>
            </a:solidFill>
            <a:prstDash val="solid"/>
          </a:ln>
        </p:spPr>
      </p:sp>
      <p:sp>
        <p:nvSpPr>
          <p:cNvPr id="43" name="Text 40"/>
          <p:cNvSpPr/>
          <p:nvPr/>
        </p:nvSpPr>
        <p:spPr>
          <a:xfrm>
            <a:off x="4627066" y="5114925"/>
            <a:ext cx="342798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Marketing Data Stack integration</a:t>
            </a:r>
            <a:endParaRPr lang="en-US" sz="1800" dirty="0"/>
          </a:p>
        </p:txBody>
      </p:sp>
      <p:sp>
        <p:nvSpPr>
          <p:cNvPr id="44" name="Shape 41"/>
          <p:cNvSpPr/>
          <p:nvPr/>
        </p:nvSpPr>
        <p:spPr>
          <a:xfrm>
            <a:off x="8257877" y="5010150"/>
            <a:ext cx="2801987" cy="504825"/>
          </a:xfrm>
          <a:prstGeom prst="rect">
            <a:avLst/>
          </a:prstGeom>
          <a:ln w="9525">
            <a:solidFill>
              <a:srgbClr val="131313">
                <a:alpha val="20000"/>
              </a:srgbClr>
            </a:solidFill>
            <a:prstDash val="solid"/>
          </a:ln>
        </p:spPr>
      </p:sp>
      <p:sp>
        <p:nvSpPr>
          <p:cNvPr id="45" name="Text 42"/>
          <p:cNvSpPr/>
          <p:nvPr/>
        </p:nvSpPr>
        <p:spPr>
          <a:xfrm>
            <a:off x="8457902" y="5114925"/>
            <a:ext cx="248599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Broader solution design</a:t>
            </a:r>
            <a:endParaRPr lang="en-US" sz="1800" dirty="0"/>
          </a:p>
        </p:txBody>
      </p:sp>
      <p:sp>
        <p:nvSpPr>
          <p:cNvPr id="46" name="Text 43"/>
          <p:cNvSpPr/>
          <p:nvPr/>
        </p:nvSpPr>
        <p:spPr>
          <a:xfrm>
            <a:off x="800100" y="5895975"/>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HAD CHANGED</a:t>
            </a:r>
            <a:endParaRPr lang="en-US" sz="1650" dirty="0"/>
          </a:p>
        </p:txBody>
      </p:sp>
      <p:sp>
        <p:nvSpPr>
          <p:cNvPr id="47" name="Shape 44"/>
          <p:cNvSpPr/>
          <p:nvPr/>
        </p:nvSpPr>
        <p:spPr>
          <a:xfrm>
            <a:off x="800100" y="6705600"/>
            <a:ext cx="7620000" cy="19050"/>
          </a:xfrm>
          <a:prstGeom prst="rect">
            <a:avLst/>
          </a:prstGeom>
          <a:solidFill>
            <a:srgbClr val="131313"/>
          </a:solidFill>
          <a:ln/>
        </p:spPr>
      </p:sp>
      <p:sp>
        <p:nvSpPr>
          <p:cNvPr id="48" name="Text 45"/>
          <p:cNvSpPr/>
          <p:nvPr/>
        </p:nvSpPr>
        <p:spPr>
          <a:xfrm>
            <a:off x="800100" y="6334125"/>
            <a:ext cx="746760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AT STAGE 1</a:t>
            </a:r>
            <a:endParaRPr lang="en-US" sz="1650" dirty="0"/>
          </a:p>
        </p:txBody>
      </p:sp>
      <p:sp>
        <p:nvSpPr>
          <p:cNvPr id="49" name="Shape 46"/>
          <p:cNvSpPr/>
          <p:nvPr/>
        </p:nvSpPr>
        <p:spPr>
          <a:xfrm>
            <a:off x="8420100" y="6705600"/>
            <a:ext cx="9067800" cy="19050"/>
          </a:xfrm>
          <a:prstGeom prst="rect">
            <a:avLst/>
          </a:prstGeom>
          <a:solidFill>
            <a:srgbClr val="131313"/>
          </a:solidFill>
          <a:ln/>
        </p:spPr>
      </p:sp>
      <p:sp>
        <p:nvSpPr>
          <p:cNvPr id="50" name="Text 47"/>
          <p:cNvSpPr/>
          <p:nvPr/>
        </p:nvSpPr>
        <p:spPr>
          <a:xfrm>
            <a:off x="8801100" y="6334125"/>
            <a:ext cx="8958834"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BY STAGE 3</a:t>
            </a:r>
            <a:endParaRPr lang="en-US" sz="1650" dirty="0"/>
          </a:p>
        </p:txBody>
      </p:sp>
      <p:sp>
        <p:nvSpPr>
          <p:cNvPr id="51" name="Shape 48"/>
          <p:cNvSpPr/>
          <p:nvPr/>
        </p:nvSpPr>
        <p:spPr>
          <a:xfrm>
            <a:off x="800100" y="7105650"/>
            <a:ext cx="7620000" cy="9525"/>
          </a:xfrm>
          <a:prstGeom prst="rect">
            <a:avLst/>
          </a:prstGeom>
          <a:solidFill>
            <a:srgbClr val="131313">
              <a:alpha val="14000"/>
            </a:srgbClr>
          </a:solidFill>
          <a:ln/>
        </p:spPr>
      </p:sp>
      <p:sp>
        <p:nvSpPr>
          <p:cNvPr id="52" name="Text 49"/>
          <p:cNvSpPr/>
          <p:nvPr/>
        </p:nvSpPr>
        <p:spPr>
          <a:xfrm>
            <a:off x="800100" y="6762750"/>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Learning the architecture</a:t>
            </a:r>
            <a:endParaRPr lang="en-US" sz="1800" dirty="0"/>
          </a:p>
        </p:txBody>
      </p:sp>
      <p:sp>
        <p:nvSpPr>
          <p:cNvPr id="53" name="Shape 50"/>
          <p:cNvSpPr/>
          <p:nvPr/>
        </p:nvSpPr>
        <p:spPr>
          <a:xfrm>
            <a:off x="8420100" y="7105650"/>
            <a:ext cx="9067800" cy="9525"/>
          </a:xfrm>
          <a:prstGeom prst="rect">
            <a:avLst/>
          </a:prstGeom>
          <a:solidFill>
            <a:srgbClr val="131313">
              <a:alpha val="14000"/>
            </a:srgbClr>
          </a:solidFill>
          <a:ln/>
        </p:spPr>
      </p:sp>
      <p:sp>
        <p:nvSpPr>
          <p:cNvPr id="54" name="Text 51"/>
          <p:cNvSpPr/>
          <p:nvPr/>
        </p:nvSpPr>
        <p:spPr>
          <a:xfrm>
            <a:off x="8801100" y="6762750"/>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Reasoning independently across it</a:t>
            </a:r>
            <a:endParaRPr lang="en-US" sz="1800" dirty="0"/>
          </a:p>
        </p:txBody>
      </p:sp>
      <p:sp>
        <p:nvSpPr>
          <p:cNvPr id="55" name="Shape 52"/>
          <p:cNvSpPr/>
          <p:nvPr/>
        </p:nvSpPr>
        <p:spPr>
          <a:xfrm>
            <a:off x="800100" y="7496175"/>
            <a:ext cx="7620000" cy="9525"/>
          </a:xfrm>
          <a:prstGeom prst="rect">
            <a:avLst/>
          </a:prstGeom>
          <a:solidFill>
            <a:srgbClr val="131313">
              <a:alpha val="14000"/>
            </a:srgbClr>
          </a:solidFill>
          <a:ln/>
        </p:spPr>
      </p:sp>
      <p:sp>
        <p:nvSpPr>
          <p:cNvPr id="56" name="Text 53"/>
          <p:cNvSpPr/>
          <p:nvPr/>
        </p:nvSpPr>
        <p:spPr>
          <a:xfrm>
            <a:off x="800100" y="7153275"/>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Following existing patterns</a:t>
            </a:r>
            <a:endParaRPr lang="en-US" sz="1800" dirty="0"/>
          </a:p>
        </p:txBody>
      </p:sp>
      <p:sp>
        <p:nvSpPr>
          <p:cNvPr id="57" name="Shape 54"/>
          <p:cNvSpPr/>
          <p:nvPr/>
        </p:nvSpPr>
        <p:spPr>
          <a:xfrm>
            <a:off x="8420100" y="7496175"/>
            <a:ext cx="9067800" cy="9525"/>
          </a:xfrm>
          <a:prstGeom prst="rect">
            <a:avLst/>
          </a:prstGeom>
          <a:solidFill>
            <a:srgbClr val="131313">
              <a:alpha val="14000"/>
            </a:srgbClr>
          </a:solidFill>
          <a:ln/>
        </p:spPr>
      </p:sp>
      <p:sp>
        <p:nvSpPr>
          <p:cNvPr id="58" name="Text 55"/>
          <p:cNvSpPr/>
          <p:nvPr/>
        </p:nvSpPr>
        <p:spPr>
          <a:xfrm>
            <a:off x="8801100" y="7153275"/>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Designing and customising integrations</a:t>
            </a:r>
            <a:endParaRPr lang="en-US" sz="1800" dirty="0"/>
          </a:p>
        </p:txBody>
      </p:sp>
      <p:sp>
        <p:nvSpPr>
          <p:cNvPr id="59" name="Shape 56"/>
          <p:cNvSpPr/>
          <p:nvPr/>
        </p:nvSpPr>
        <p:spPr>
          <a:xfrm>
            <a:off x="800100" y="7886700"/>
            <a:ext cx="7620000" cy="9525"/>
          </a:xfrm>
          <a:prstGeom prst="rect">
            <a:avLst/>
          </a:prstGeom>
          <a:solidFill>
            <a:srgbClr val="131313">
              <a:alpha val="14000"/>
            </a:srgbClr>
          </a:solidFill>
          <a:ln/>
        </p:spPr>
      </p:sp>
      <p:sp>
        <p:nvSpPr>
          <p:cNvPr id="60" name="Text 57"/>
          <p:cNvSpPr/>
          <p:nvPr/>
        </p:nvSpPr>
        <p:spPr>
          <a:xfrm>
            <a:off x="800100" y="7543800"/>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Isolated technical tasks</a:t>
            </a:r>
            <a:endParaRPr lang="en-US" sz="1800" dirty="0"/>
          </a:p>
        </p:txBody>
      </p:sp>
      <p:sp>
        <p:nvSpPr>
          <p:cNvPr id="61" name="Shape 58"/>
          <p:cNvSpPr/>
          <p:nvPr/>
        </p:nvSpPr>
        <p:spPr>
          <a:xfrm>
            <a:off x="8420100" y="7886700"/>
            <a:ext cx="9067800" cy="9525"/>
          </a:xfrm>
          <a:prstGeom prst="rect">
            <a:avLst/>
          </a:prstGeom>
          <a:solidFill>
            <a:srgbClr val="131313">
              <a:alpha val="14000"/>
            </a:srgbClr>
          </a:solidFill>
          <a:ln/>
        </p:spPr>
      </p:sp>
      <p:sp>
        <p:nvSpPr>
          <p:cNvPr id="62" name="Text 59"/>
          <p:cNvSpPr/>
          <p:nvPr/>
        </p:nvSpPr>
        <p:spPr>
          <a:xfrm>
            <a:off x="8801100" y="7543800"/>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Diagnosing cross-system data problems</a:t>
            </a:r>
            <a:endParaRPr lang="en-US" sz="1800" dirty="0"/>
          </a:p>
        </p:txBody>
      </p:sp>
      <p:sp>
        <p:nvSpPr>
          <p:cNvPr id="63" name="Shape 60"/>
          <p:cNvSpPr/>
          <p:nvPr/>
        </p:nvSpPr>
        <p:spPr>
          <a:xfrm>
            <a:off x="800100" y="8277225"/>
            <a:ext cx="7620000" cy="9525"/>
          </a:xfrm>
          <a:prstGeom prst="rect">
            <a:avLst/>
          </a:prstGeom>
          <a:solidFill>
            <a:srgbClr val="131313">
              <a:alpha val="14000"/>
            </a:srgbClr>
          </a:solidFill>
          <a:ln/>
        </p:spPr>
      </p:sp>
      <p:sp>
        <p:nvSpPr>
          <p:cNvPr id="64" name="Text 61"/>
          <p:cNvSpPr/>
          <p:nvPr/>
        </p:nvSpPr>
        <p:spPr>
          <a:xfrm>
            <a:off x="800100" y="7934325"/>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t>
            </a:r>
            <a:endParaRPr lang="en-US" sz="1800" dirty="0"/>
          </a:p>
        </p:txBody>
      </p:sp>
      <p:sp>
        <p:nvSpPr>
          <p:cNvPr id="65" name="Shape 62"/>
          <p:cNvSpPr/>
          <p:nvPr/>
        </p:nvSpPr>
        <p:spPr>
          <a:xfrm>
            <a:off x="8420100" y="8277225"/>
            <a:ext cx="9067800" cy="9525"/>
          </a:xfrm>
          <a:prstGeom prst="rect">
            <a:avLst/>
          </a:prstGeom>
          <a:solidFill>
            <a:srgbClr val="131313">
              <a:alpha val="14000"/>
            </a:srgbClr>
          </a:solidFill>
          <a:ln/>
        </p:spPr>
      </p:sp>
      <p:sp>
        <p:nvSpPr>
          <p:cNvPr id="66" name="Text 63"/>
          <p:cNvSpPr/>
          <p:nvPr/>
        </p:nvSpPr>
        <p:spPr>
          <a:xfrm>
            <a:off x="8801100" y="7934325"/>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Evaluating ingestion and profile behaviour</a:t>
            </a:r>
            <a:endParaRPr lang="en-US" sz="1800" dirty="0"/>
          </a:p>
        </p:txBody>
      </p:sp>
      <p:sp>
        <p:nvSpPr>
          <p:cNvPr id="67" name="Shape 64"/>
          <p:cNvSpPr/>
          <p:nvPr/>
        </p:nvSpPr>
        <p:spPr>
          <a:xfrm>
            <a:off x="800100" y="8667750"/>
            <a:ext cx="7620000" cy="9525"/>
          </a:xfrm>
          <a:prstGeom prst="rect">
            <a:avLst/>
          </a:prstGeom>
          <a:solidFill>
            <a:srgbClr val="131313">
              <a:alpha val="14000"/>
            </a:srgbClr>
          </a:solidFill>
          <a:ln/>
        </p:spPr>
      </p:sp>
      <p:sp>
        <p:nvSpPr>
          <p:cNvPr id="68" name="Text 65"/>
          <p:cNvSpPr/>
          <p:nvPr/>
        </p:nvSpPr>
        <p:spPr>
          <a:xfrm>
            <a:off x="800100" y="8324850"/>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t>
            </a:r>
            <a:endParaRPr lang="en-US" sz="1800" dirty="0"/>
          </a:p>
        </p:txBody>
      </p:sp>
      <p:sp>
        <p:nvSpPr>
          <p:cNvPr id="69" name="Shape 66"/>
          <p:cNvSpPr/>
          <p:nvPr/>
        </p:nvSpPr>
        <p:spPr>
          <a:xfrm>
            <a:off x="8420100" y="8667750"/>
            <a:ext cx="9067800" cy="9525"/>
          </a:xfrm>
          <a:prstGeom prst="rect">
            <a:avLst/>
          </a:prstGeom>
          <a:solidFill>
            <a:srgbClr val="131313">
              <a:alpha val="14000"/>
            </a:srgbClr>
          </a:solidFill>
          <a:ln/>
        </p:spPr>
      </p:sp>
      <p:sp>
        <p:nvSpPr>
          <p:cNvPr id="70" name="Text 67"/>
          <p:cNvSpPr/>
          <p:nvPr/>
        </p:nvSpPr>
        <p:spPr>
          <a:xfrm>
            <a:off x="8801100" y="8324850"/>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Validating data-layer and analytics implementations</a:t>
            </a:r>
            <a:endParaRPr lang="en-US" sz="1800" dirty="0"/>
          </a:p>
        </p:txBody>
      </p:sp>
      <p:sp>
        <p:nvSpPr>
          <p:cNvPr id="71" name="Shape 68"/>
          <p:cNvSpPr/>
          <p:nvPr/>
        </p:nvSpPr>
        <p:spPr>
          <a:xfrm>
            <a:off x="800100" y="9058275"/>
            <a:ext cx="7620000" cy="9525"/>
          </a:xfrm>
          <a:prstGeom prst="rect">
            <a:avLst/>
          </a:prstGeom>
          <a:solidFill>
            <a:srgbClr val="131313">
              <a:alpha val="14000"/>
            </a:srgbClr>
          </a:solidFill>
          <a:ln/>
        </p:spPr>
      </p:sp>
      <p:sp>
        <p:nvSpPr>
          <p:cNvPr id="72" name="Text 69"/>
          <p:cNvSpPr/>
          <p:nvPr/>
        </p:nvSpPr>
        <p:spPr>
          <a:xfrm>
            <a:off x="800100" y="8715375"/>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t>
            </a:r>
            <a:endParaRPr lang="en-US" sz="1800" dirty="0"/>
          </a:p>
        </p:txBody>
      </p:sp>
      <p:sp>
        <p:nvSpPr>
          <p:cNvPr id="73" name="Shape 70"/>
          <p:cNvSpPr/>
          <p:nvPr/>
        </p:nvSpPr>
        <p:spPr>
          <a:xfrm>
            <a:off x="8420100" y="9058275"/>
            <a:ext cx="9067800" cy="9525"/>
          </a:xfrm>
          <a:prstGeom prst="rect">
            <a:avLst/>
          </a:prstGeom>
          <a:solidFill>
            <a:srgbClr val="131313">
              <a:alpha val="14000"/>
            </a:srgbClr>
          </a:solidFill>
          <a:ln/>
        </p:spPr>
      </p:sp>
      <p:sp>
        <p:nvSpPr>
          <p:cNvPr id="74" name="Text 71"/>
          <p:cNvSpPr/>
          <p:nvPr/>
        </p:nvSpPr>
        <p:spPr>
          <a:xfrm>
            <a:off x="8801100" y="8715375"/>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Reviewing other engineers’ technical work</a:t>
            </a:r>
            <a:endParaRPr lang="en-US" sz="1800" dirty="0"/>
          </a:p>
        </p:txBody>
      </p:sp>
      <p:sp>
        <p:nvSpPr>
          <p:cNvPr id="75" name="Shape 72"/>
          <p:cNvSpPr/>
          <p:nvPr/>
        </p:nvSpPr>
        <p:spPr>
          <a:xfrm>
            <a:off x="800100" y="9448800"/>
            <a:ext cx="7620000" cy="9525"/>
          </a:xfrm>
          <a:prstGeom prst="rect">
            <a:avLst/>
          </a:prstGeom>
          <a:solidFill>
            <a:srgbClr val="131313">
              <a:alpha val="14000"/>
            </a:srgbClr>
          </a:solidFill>
          <a:ln/>
        </p:spPr>
      </p:sp>
      <p:sp>
        <p:nvSpPr>
          <p:cNvPr id="76" name="Text 73"/>
          <p:cNvSpPr/>
          <p:nvPr/>
        </p:nvSpPr>
        <p:spPr>
          <a:xfrm>
            <a:off x="800100" y="9105900"/>
            <a:ext cx="7467600"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t>
            </a:r>
            <a:endParaRPr lang="en-US" sz="1800" dirty="0"/>
          </a:p>
        </p:txBody>
      </p:sp>
      <p:sp>
        <p:nvSpPr>
          <p:cNvPr id="77" name="Shape 74"/>
          <p:cNvSpPr/>
          <p:nvPr/>
        </p:nvSpPr>
        <p:spPr>
          <a:xfrm>
            <a:off x="8420100" y="9448800"/>
            <a:ext cx="9067800" cy="9525"/>
          </a:xfrm>
          <a:prstGeom prst="rect">
            <a:avLst/>
          </a:prstGeom>
          <a:solidFill>
            <a:srgbClr val="131313">
              <a:alpha val="14000"/>
            </a:srgbClr>
          </a:solidFill>
          <a:ln/>
        </p:spPr>
      </p:sp>
      <p:sp>
        <p:nvSpPr>
          <p:cNvPr id="78" name="Text 75"/>
          <p:cNvSpPr/>
          <p:nvPr/>
        </p:nvSpPr>
        <p:spPr>
          <a:xfrm>
            <a:off x="8801100" y="9105900"/>
            <a:ext cx="8958834" cy="342900"/>
          </a:xfrm>
          <a:prstGeom prst="rect">
            <a:avLst/>
          </a:prstGeom>
          <a:noFill/>
          <a:ln/>
        </p:spPr>
        <p:txBody>
          <a:bodyPr wrap="square" lIns="25400" tIns="25400" rIns="25400" bIns="25400" rtlCol="0" anchor="ctr">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Providing architecture and solution guidance grounded in Ascent-specific knowledge</a:t>
            </a:r>
            <a:endParaRPr lang="en-US" sz="1800" dirty="0"/>
          </a:p>
        </p:txBody>
      </p:sp>
      <p:sp>
        <p:nvSpPr>
          <p:cNvPr id="79" name="Text 7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80" name="Text 7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81" name="Text 78"/>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17</a:t>
            </a:r>
            <a:endParaRPr lang="en-US" sz="11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52889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MY ASCENT ROLE AND KNOWLEDGE DEVELOPMENT</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Stage 4 · Subject-matter expertise and knowledge transfer</a:t>
            </a:r>
            <a:endParaRPr lang="en-US" sz="3900" dirty="0"/>
          </a:p>
        </p:txBody>
      </p:sp>
      <p:sp>
        <p:nvSpPr>
          <p:cNvPr id="5" name="Shape 2"/>
          <p:cNvSpPr/>
          <p:nvPr/>
        </p:nvSpPr>
        <p:spPr>
          <a:xfrm>
            <a:off x="800100" y="2019300"/>
            <a:ext cx="4057650" cy="1314450"/>
          </a:xfrm>
          <a:prstGeom prst="rect">
            <a:avLst/>
          </a:prstGeom>
          <a:ln w="9525">
            <a:solidFill>
              <a:srgbClr val="131313">
                <a:alpha val="20000"/>
              </a:srgbClr>
            </a:solidFill>
            <a:prstDash val="solid"/>
          </a:ln>
        </p:spPr>
      </p:sp>
      <p:sp>
        <p:nvSpPr>
          <p:cNvPr id="6" name="Text 3"/>
          <p:cNvSpPr/>
          <p:nvPr/>
        </p:nvSpPr>
        <p:spPr>
          <a:xfrm>
            <a:off x="10382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01</a:t>
            </a:r>
            <a:endParaRPr lang="en-US" sz="1650" dirty="0"/>
          </a:p>
        </p:txBody>
      </p:sp>
      <p:sp>
        <p:nvSpPr>
          <p:cNvPr id="7" name="Text 4"/>
          <p:cNvSpPr/>
          <p:nvPr/>
        </p:nvSpPr>
        <p:spPr>
          <a:xfrm>
            <a:off x="103822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Ascent architecture immersion</a:t>
            </a:r>
            <a:endParaRPr lang="en-US" sz="1800" dirty="0"/>
          </a:p>
        </p:txBody>
      </p:sp>
      <p:sp>
        <p:nvSpPr>
          <p:cNvPr id="8" name="Shape 5"/>
          <p:cNvSpPr/>
          <p:nvPr/>
        </p:nvSpPr>
        <p:spPr>
          <a:xfrm>
            <a:off x="5010150" y="2019300"/>
            <a:ext cx="4057650" cy="1314450"/>
          </a:xfrm>
          <a:prstGeom prst="rect">
            <a:avLst/>
          </a:prstGeom>
          <a:ln w="9525">
            <a:solidFill>
              <a:srgbClr val="131313">
                <a:alpha val="20000"/>
              </a:srgbClr>
            </a:solidFill>
            <a:prstDash val="solid"/>
          </a:ln>
        </p:spPr>
      </p:sp>
      <p:sp>
        <p:nvSpPr>
          <p:cNvPr id="9" name="Text 6"/>
          <p:cNvSpPr/>
          <p:nvPr/>
        </p:nvSpPr>
        <p:spPr>
          <a:xfrm>
            <a:off x="524827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02</a:t>
            </a:r>
            <a:endParaRPr lang="en-US" sz="1650" dirty="0"/>
          </a:p>
        </p:txBody>
      </p:sp>
      <p:sp>
        <p:nvSpPr>
          <p:cNvPr id="10" name="Text 7"/>
          <p:cNvSpPr/>
          <p:nvPr/>
        </p:nvSpPr>
        <p:spPr>
          <a:xfrm>
            <a:off x="5248275" y="2543175"/>
            <a:ext cx="393954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Hands-on technical specialization</a:t>
            </a:r>
            <a:endParaRPr lang="en-US" sz="1800" dirty="0"/>
          </a:p>
        </p:txBody>
      </p:sp>
      <p:sp>
        <p:nvSpPr>
          <p:cNvPr id="11" name="Shape 8"/>
          <p:cNvSpPr/>
          <p:nvPr/>
        </p:nvSpPr>
        <p:spPr>
          <a:xfrm>
            <a:off x="9220200" y="2019300"/>
            <a:ext cx="4057650" cy="1314450"/>
          </a:xfrm>
          <a:prstGeom prst="rect">
            <a:avLst/>
          </a:prstGeom>
          <a:ln w="9525">
            <a:solidFill>
              <a:srgbClr val="131313">
                <a:alpha val="20000"/>
              </a:srgbClr>
            </a:solidFill>
            <a:prstDash val="solid"/>
          </a:ln>
        </p:spPr>
      </p:sp>
      <p:sp>
        <p:nvSpPr>
          <p:cNvPr id="12" name="Text 9"/>
          <p:cNvSpPr/>
          <p:nvPr/>
        </p:nvSpPr>
        <p:spPr>
          <a:xfrm>
            <a:off x="9458325" y="2219325"/>
            <a:ext cx="39395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03</a:t>
            </a:r>
            <a:endParaRPr lang="en-US" sz="1650" dirty="0"/>
          </a:p>
        </p:txBody>
      </p:sp>
      <p:sp>
        <p:nvSpPr>
          <p:cNvPr id="13" name="Text 10"/>
          <p:cNvSpPr/>
          <p:nvPr/>
        </p:nvSpPr>
        <p:spPr>
          <a:xfrm>
            <a:off x="9458325" y="2543175"/>
            <a:ext cx="3688842"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Advanced cross-functional responsibility</a:t>
            </a:r>
            <a:endParaRPr lang="en-US" sz="1800" dirty="0"/>
          </a:p>
        </p:txBody>
      </p:sp>
      <p:sp>
        <p:nvSpPr>
          <p:cNvPr id="14" name="Shape 11"/>
          <p:cNvSpPr/>
          <p:nvPr/>
        </p:nvSpPr>
        <p:spPr>
          <a:xfrm>
            <a:off x="13430250" y="2019300"/>
            <a:ext cx="4057650" cy="1314450"/>
          </a:xfrm>
          <a:prstGeom prst="rect">
            <a:avLst/>
          </a:prstGeom>
          <a:solidFill>
            <a:srgbClr val="131313"/>
          </a:solidFill>
          <a:ln/>
        </p:spPr>
      </p:sp>
      <p:sp>
        <p:nvSpPr>
          <p:cNvPr id="15" name="Text 12"/>
          <p:cNvSpPr/>
          <p:nvPr/>
        </p:nvSpPr>
        <p:spPr>
          <a:xfrm>
            <a:off x="13658850" y="2209800"/>
            <a:ext cx="396049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04</a:t>
            </a:r>
            <a:endParaRPr lang="en-US" sz="1650" dirty="0"/>
          </a:p>
        </p:txBody>
      </p:sp>
      <p:sp>
        <p:nvSpPr>
          <p:cNvPr id="16" name="Text 13"/>
          <p:cNvSpPr/>
          <p:nvPr/>
        </p:nvSpPr>
        <p:spPr>
          <a:xfrm>
            <a:off x="13658850" y="2533650"/>
            <a:ext cx="3708464"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Subject-matter expertise and knowledge transfer</a:t>
            </a:r>
            <a:endParaRPr lang="en-US" sz="1800" dirty="0"/>
          </a:p>
        </p:txBody>
      </p:sp>
      <p:sp>
        <p:nvSpPr>
          <p:cNvPr id="17" name="Shape 14"/>
          <p:cNvSpPr/>
          <p:nvPr/>
        </p:nvSpPr>
        <p:spPr>
          <a:xfrm>
            <a:off x="800100" y="3581400"/>
            <a:ext cx="16687800" cy="3028950"/>
          </a:xfrm>
          <a:prstGeom prst="rect">
            <a:avLst/>
          </a:prstGeom>
          <a:solidFill>
            <a:srgbClr val="F2F5F6"/>
          </a:solidFill>
          <a:ln/>
        </p:spPr>
      </p:sp>
      <p:sp>
        <p:nvSpPr>
          <p:cNvPr id="18" name="Shape 15"/>
          <p:cNvSpPr/>
          <p:nvPr/>
        </p:nvSpPr>
        <p:spPr>
          <a:xfrm>
            <a:off x="1257300" y="4038600"/>
            <a:ext cx="5703243" cy="628650"/>
          </a:xfrm>
          <a:prstGeom prst="rect">
            <a:avLst/>
          </a:prstGeom>
          <a:ln w="9525">
            <a:solidFill>
              <a:srgbClr val="131313">
                <a:alpha val="20000"/>
              </a:srgbClr>
            </a:solidFill>
            <a:prstDash val="solid"/>
          </a:ln>
        </p:spPr>
      </p:sp>
      <p:sp>
        <p:nvSpPr>
          <p:cNvPr id="19" name="Text 16"/>
          <p:cNvSpPr/>
          <p:nvPr/>
        </p:nvSpPr>
        <p:spPr>
          <a:xfrm>
            <a:off x="1514475" y="4181475"/>
            <a:ext cx="535999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Internal and client-facing technical expertise</a:t>
            </a:r>
            <a:endParaRPr lang="en-US" sz="2100" dirty="0"/>
          </a:p>
        </p:txBody>
      </p:sp>
      <p:sp>
        <p:nvSpPr>
          <p:cNvPr id="20" name="Shape 17"/>
          <p:cNvSpPr/>
          <p:nvPr/>
        </p:nvSpPr>
        <p:spPr>
          <a:xfrm>
            <a:off x="7074843" y="4038600"/>
            <a:ext cx="3879354" cy="628650"/>
          </a:xfrm>
          <a:prstGeom prst="rect">
            <a:avLst/>
          </a:prstGeom>
          <a:ln w="9525">
            <a:solidFill>
              <a:srgbClr val="131313">
                <a:alpha val="20000"/>
              </a:srgbClr>
            </a:solidFill>
            <a:prstDash val="solid"/>
          </a:ln>
        </p:spPr>
      </p:sp>
      <p:sp>
        <p:nvSpPr>
          <p:cNvPr id="21" name="Text 18"/>
          <p:cNvSpPr/>
          <p:nvPr/>
        </p:nvSpPr>
        <p:spPr>
          <a:xfrm>
            <a:off x="7332018" y="4181475"/>
            <a:ext cx="3481385"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Deployment review authority</a:t>
            </a:r>
            <a:endParaRPr lang="en-US" sz="2100" dirty="0"/>
          </a:p>
        </p:txBody>
      </p:sp>
      <p:sp>
        <p:nvSpPr>
          <p:cNvPr id="22" name="Shape 19"/>
          <p:cNvSpPr/>
          <p:nvPr/>
        </p:nvSpPr>
        <p:spPr>
          <a:xfrm>
            <a:off x="11068496" y="4038600"/>
            <a:ext cx="3123754" cy="628650"/>
          </a:xfrm>
          <a:prstGeom prst="rect">
            <a:avLst/>
          </a:prstGeom>
          <a:ln w="9525">
            <a:solidFill>
              <a:srgbClr val="131313">
                <a:alpha val="20000"/>
              </a:srgbClr>
            </a:solidFill>
            <a:prstDash val="solid"/>
          </a:ln>
        </p:spPr>
      </p:sp>
      <p:sp>
        <p:nvSpPr>
          <p:cNvPr id="23" name="Text 20"/>
          <p:cNvSpPr/>
          <p:nvPr/>
        </p:nvSpPr>
        <p:spPr>
          <a:xfrm>
            <a:off x="11325671" y="4181475"/>
            <a:ext cx="270311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Technical consultation</a:t>
            </a:r>
            <a:endParaRPr lang="en-US" sz="2100" dirty="0"/>
          </a:p>
        </p:txBody>
      </p:sp>
      <p:sp>
        <p:nvSpPr>
          <p:cNvPr id="24" name="Shape 21"/>
          <p:cNvSpPr/>
          <p:nvPr/>
        </p:nvSpPr>
        <p:spPr>
          <a:xfrm>
            <a:off x="1257300" y="4781550"/>
            <a:ext cx="4769941" cy="628650"/>
          </a:xfrm>
          <a:prstGeom prst="rect">
            <a:avLst/>
          </a:prstGeom>
          <a:ln w="9525">
            <a:solidFill>
              <a:srgbClr val="131313">
                <a:alpha val="20000"/>
              </a:srgbClr>
            </a:solidFill>
            <a:prstDash val="solid"/>
          </a:ln>
        </p:spPr>
      </p:sp>
      <p:sp>
        <p:nvSpPr>
          <p:cNvPr id="25" name="Text 22"/>
          <p:cNvSpPr/>
          <p:nvPr/>
        </p:nvSpPr>
        <p:spPr>
          <a:xfrm>
            <a:off x="1514475" y="4924425"/>
            <a:ext cx="439869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Knowledge sharing and enablement</a:t>
            </a:r>
            <a:endParaRPr lang="en-US" sz="2100" dirty="0"/>
          </a:p>
        </p:txBody>
      </p:sp>
      <p:sp>
        <p:nvSpPr>
          <p:cNvPr id="26" name="Shape 23"/>
          <p:cNvSpPr/>
          <p:nvPr/>
        </p:nvSpPr>
        <p:spPr>
          <a:xfrm>
            <a:off x="6141541" y="4781550"/>
            <a:ext cx="5362873" cy="628650"/>
          </a:xfrm>
          <a:prstGeom prst="rect">
            <a:avLst/>
          </a:prstGeom>
          <a:ln w="9525">
            <a:solidFill>
              <a:srgbClr val="131313">
                <a:alpha val="20000"/>
              </a:srgbClr>
            </a:solidFill>
            <a:prstDash val="solid"/>
          </a:ln>
        </p:spPr>
      </p:sp>
      <p:sp>
        <p:nvSpPr>
          <p:cNvPr id="27" name="Text 24"/>
          <p:cNvSpPr/>
          <p:nvPr/>
        </p:nvSpPr>
        <p:spPr>
          <a:xfrm>
            <a:off x="6398716" y="4924425"/>
            <a:ext cx="500940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Technical and operational documentation</a:t>
            </a:r>
            <a:endParaRPr lang="en-US" sz="2100" dirty="0"/>
          </a:p>
        </p:txBody>
      </p:sp>
      <p:sp>
        <p:nvSpPr>
          <p:cNvPr id="28" name="Shape 25"/>
          <p:cNvSpPr/>
          <p:nvPr/>
        </p:nvSpPr>
        <p:spPr>
          <a:xfrm>
            <a:off x="1257300" y="5524500"/>
            <a:ext cx="5668119" cy="628650"/>
          </a:xfrm>
          <a:prstGeom prst="rect">
            <a:avLst/>
          </a:prstGeom>
          <a:ln w="9525">
            <a:solidFill>
              <a:srgbClr val="131313">
                <a:alpha val="20000"/>
              </a:srgbClr>
            </a:solidFill>
            <a:prstDash val="solid"/>
          </a:ln>
        </p:spPr>
      </p:sp>
      <p:sp>
        <p:nvSpPr>
          <p:cNvPr id="29" name="Text 26"/>
          <p:cNvSpPr/>
          <p:nvPr/>
        </p:nvSpPr>
        <p:spPr>
          <a:xfrm>
            <a:off x="1514475" y="5667375"/>
            <a:ext cx="532381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Pre-sales feasibility, scoping and estimation</a:t>
            </a:r>
            <a:endParaRPr lang="en-US" sz="2100" dirty="0"/>
          </a:p>
        </p:txBody>
      </p:sp>
      <p:sp>
        <p:nvSpPr>
          <p:cNvPr id="30" name="Shape 27"/>
          <p:cNvSpPr/>
          <p:nvPr/>
        </p:nvSpPr>
        <p:spPr>
          <a:xfrm>
            <a:off x="7039719" y="5524500"/>
            <a:ext cx="7497217" cy="628650"/>
          </a:xfrm>
          <a:prstGeom prst="rect">
            <a:avLst/>
          </a:prstGeom>
          <a:ln w="9525">
            <a:solidFill>
              <a:srgbClr val="131313">
                <a:alpha val="20000"/>
              </a:srgbClr>
            </a:solidFill>
            <a:prstDash val="solid"/>
          </a:ln>
        </p:spPr>
      </p:sp>
      <p:sp>
        <p:nvSpPr>
          <p:cNvPr id="31" name="Text 28"/>
          <p:cNvSpPr/>
          <p:nvPr/>
        </p:nvSpPr>
        <p:spPr>
          <a:xfrm>
            <a:off x="7296894" y="5667375"/>
            <a:ext cx="720778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Keeping Ascent current as the platform continued to evolve</a:t>
            </a:r>
            <a:endParaRPr lang="en-US" sz="2100" dirty="0"/>
          </a:p>
        </p:txBody>
      </p:sp>
      <p:sp>
        <p:nvSpPr>
          <p:cNvPr id="32" name="Text 29"/>
          <p:cNvSpPr/>
          <p:nvPr/>
        </p:nvSpPr>
        <p:spPr>
          <a:xfrm>
            <a:off x="800100" y="727710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Approximately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27 months </a:t>
            </a:r>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of sustained, direct, full-time Ascent experience underpin this progression.</a:t>
            </a:r>
            <a:endParaRPr lang="en-US" sz="1800" dirty="0"/>
          </a:p>
        </p:txBody>
      </p:sp>
      <p:sp>
        <p:nvSpPr>
          <p:cNvPr id="33" name="Text 3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4" name="Text 3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5" name="Text 3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18</a:t>
            </a:r>
            <a:endParaRPr lang="en-US" sz="11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04</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Areas of Advanced Knowledge</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Capability map</a:t>
            </a:r>
            <a:endParaRPr lang="en-US" sz="3900" dirty="0"/>
          </a:p>
        </p:txBody>
      </p:sp>
      <p:sp>
        <p:nvSpPr>
          <p:cNvPr id="5" name="Text 2"/>
          <p:cNvSpPr/>
          <p:nvPr/>
        </p:nvSpPr>
        <p:spPr>
          <a:xfrm>
            <a:off x="800100" y="2133600"/>
            <a:ext cx="14668500" cy="457200"/>
          </a:xfrm>
          <a:prstGeom prst="rect">
            <a:avLst/>
          </a:prstGeom>
          <a:noFill/>
          <a:ln/>
        </p:spPr>
        <p:txBody>
          <a:bodyPr wrap="square" lIns="25400" tIns="25400" rIns="25400" bIns="25400" rtlCol="0" anchor="t">
            <a:normAutofit/>
          </a:bodyPr>
          <a:lstStyle/>
          <a:p>
            <a:pPr algn="l" indent="0" marL="0">
              <a:lnSpc>
                <a:spcPct val="121081"/>
              </a:lnSpc>
              <a:buNone/>
            </a:pPr>
            <a:r>
              <a:rPr lang="en-US" sz="2400" spc="-30" kern="0" dirty="0">
                <a:solidFill>
                  <a:srgbClr val="131313"/>
                </a:solidFill>
                <a:latin typeface="Arial" pitchFamily="34" charset="0"/>
                <a:ea typeface="Arial" pitchFamily="34" charset="-122"/>
                <a:cs typeface="Arial" pitchFamily="34" charset="-120"/>
              </a:rPr>
              <a:t>My areas of advanced knowledge are set out using the company’s own capability taxonomy:</a:t>
            </a:r>
            <a:endParaRPr lang="en-US" sz="2400" dirty="0"/>
          </a:p>
        </p:txBody>
      </p:sp>
      <p:sp>
        <p:nvSpPr>
          <p:cNvPr id="6" name="Shape 3"/>
          <p:cNvSpPr/>
          <p:nvPr/>
        </p:nvSpPr>
        <p:spPr>
          <a:xfrm>
            <a:off x="800100" y="3543300"/>
            <a:ext cx="3032671" cy="1714500"/>
          </a:xfrm>
          <a:prstGeom prst="rect">
            <a:avLst/>
          </a:prstGeom>
          <a:solidFill>
            <a:srgbClr val="131313"/>
          </a:solidFill>
          <a:ln/>
        </p:spPr>
      </p:sp>
      <p:sp>
        <p:nvSpPr>
          <p:cNvPr id="7" name="Text 4"/>
          <p:cNvSpPr/>
          <p:nvPr/>
        </p:nvSpPr>
        <p:spPr>
          <a:xfrm>
            <a:off x="1066800" y="3886200"/>
            <a:ext cx="2590251"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Capture</a:t>
            </a:r>
            <a:endParaRPr lang="en-US" sz="2100" dirty="0"/>
          </a:p>
        </p:txBody>
      </p:sp>
      <p:sp>
        <p:nvSpPr>
          <p:cNvPr id="8" name="Text 5"/>
          <p:cNvSpPr/>
          <p:nvPr/>
        </p:nvSpPr>
        <p:spPr>
          <a:xfrm>
            <a:off x="3794671" y="3543300"/>
            <a:ext cx="457200" cy="17526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9" name="Shape 6"/>
          <p:cNvSpPr/>
          <p:nvPr/>
        </p:nvSpPr>
        <p:spPr>
          <a:xfrm>
            <a:off x="4213771" y="3543300"/>
            <a:ext cx="3032820" cy="1714500"/>
          </a:xfrm>
          <a:prstGeom prst="rect">
            <a:avLst/>
          </a:prstGeom>
          <a:solidFill>
            <a:srgbClr val="131313"/>
          </a:solidFill>
          <a:ln/>
        </p:spPr>
      </p:sp>
      <p:sp>
        <p:nvSpPr>
          <p:cNvPr id="10" name="Text 7"/>
          <p:cNvSpPr/>
          <p:nvPr/>
        </p:nvSpPr>
        <p:spPr>
          <a:xfrm>
            <a:off x="4480471" y="3886200"/>
            <a:ext cx="25904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Management &amp; Profiling</a:t>
            </a:r>
            <a:endParaRPr lang="en-US" sz="2100" dirty="0"/>
          </a:p>
        </p:txBody>
      </p:sp>
      <p:sp>
        <p:nvSpPr>
          <p:cNvPr id="11" name="Text 8"/>
          <p:cNvSpPr/>
          <p:nvPr/>
        </p:nvSpPr>
        <p:spPr>
          <a:xfrm>
            <a:off x="7208490" y="3543300"/>
            <a:ext cx="457200" cy="17526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2" name="Shape 9"/>
          <p:cNvSpPr/>
          <p:nvPr/>
        </p:nvSpPr>
        <p:spPr>
          <a:xfrm>
            <a:off x="7627590" y="3543300"/>
            <a:ext cx="3032671" cy="1714500"/>
          </a:xfrm>
          <a:prstGeom prst="rect">
            <a:avLst/>
          </a:prstGeom>
          <a:solidFill>
            <a:srgbClr val="131313"/>
          </a:solidFill>
          <a:ln/>
        </p:spPr>
      </p:sp>
      <p:sp>
        <p:nvSpPr>
          <p:cNvPr id="13" name="Text 10"/>
          <p:cNvSpPr/>
          <p:nvPr/>
        </p:nvSpPr>
        <p:spPr>
          <a:xfrm>
            <a:off x="7894290" y="3886200"/>
            <a:ext cx="2590251"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Activation</a:t>
            </a:r>
            <a:endParaRPr lang="en-US" sz="2100" dirty="0"/>
          </a:p>
        </p:txBody>
      </p:sp>
      <p:sp>
        <p:nvSpPr>
          <p:cNvPr id="14" name="Text 11"/>
          <p:cNvSpPr/>
          <p:nvPr/>
        </p:nvSpPr>
        <p:spPr>
          <a:xfrm>
            <a:off x="10622161" y="3543300"/>
            <a:ext cx="457200" cy="17526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5" name="Shape 12"/>
          <p:cNvSpPr/>
          <p:nvPr/>
        </p:nvSpPr>
        <p:spPr>
          <a:xfrm>
            <a:off x="11041261" y="3543300"/>
            <a:ext cx="3032820" cy="1714500"/>
          </a:xfrm>
          <a:prstGeom prst="rect">
            <a:avLst/>
          </a:prstGeom>
          <a:solidFill>
            <a:srgbClr val="131313"/>
          </a:solidFill>
          <a:ln/>
        </p:spPr>
      </p:sp>
      <p:sp>
        <p:nvSpPr>
          <p:cNvPr id="16" name="Text 13"/>
          <p:cNvSpPr/>
          <p:nvPr/>
        </p:nvSpPr>
        <p:spPr>
          <a:xfrm>
            <a:off x="11307961" y="3886200"/>
            <a:ext cx="25904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Intelligence</a:t>
            </a:r>
            <a:endParaRPr lang="en-US" sz="2100" dirty="0"/>
          </a:p>
        </p:txBody>
      </p:sp>
      <p:sp>
        <p:nvSpPr>
          <p:cNvPr id="17" name="Text 14"/>
          <p:cNvSpPr/>
          <p:nvPr/>
        </p:nvSpPr>
        <p:spPr>
          <a:xfrm>
            <a:off x="14035980" y="3543300"/>
            <a:ext cx="457200" cy="17526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8" name="Shape 15"/>
          <p:cNvSpPr/>
          <p:nvPr/>
        </p:nvSpPr>
        <p:spPr>
          <a:xfrm>
            <a:off x="14455080" y="3543300"/>
            <a:ext cx="3032671" cy="1714500"/>
          </a:xfrm>
          <a:prstGeom prst="rect">
            <a:avLst/>
          </a:prstGeom>
          <a:solidFill>
            <a:srgbClr val="131313"/>
          </a:solidFill>
          <a:ln/>
        </p:spPr>
      </p:sp>
      <p:sp>
        <p:nvSpPr>
          <p:cNvPr id="19" name="Text 16"/>
          <p:cNvSpPr/>
          <p:nvPr/>
        </p:nvSpPr>
        <p:spPr>
          <a:xfrm>
            <a:off x="14721780" y="3886200"/>
            <a:ext cx="2590251"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Data Decisioning</a:t>
            </a:r>
            <a:endParaRPr lang="en-US" sz="2100" dirty="0"/>
          </a:p>
        </p:txBody>
      </p:sp>
      <p:sp>
        <p:nvSpPr>
          <p:cNvPr id="20" name="Text 17"/>
          <p:cNvSpPr/>
          <p:nvPr/>
        </p:nvSpPr>
        <p:spPr>
          <a:xfrm>
            <a:off x="800100" y="5715000"/>
            <a:ext cx="2946633"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Data Practice Materials</a:t>
            </a:r>
            <a:endParaRPr lang="en-US" sz="1500" dirty="0"/>
          </a:p>
        </p:txBody>
      </p:sp>
      <p:sp>
        <p:nvSpPr>
          <p:cNvPr id="21" name="Text 18"/>
          <p:cNvSpPr/>
          <p:nvPr/>
        </p:nvSpPr>
        <p:spPr>
          <a:xfrm>
            <a:off x="800100" y="62484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Using the organisation’s own framework rather than generic industry categories is deliberate. The knowledge at issue is knowledge of this company’s processes and procedures.</a:t>
            </a:r>
            <a:endParaRPr lang="en-US" sz="1800" dirty="0"/>
          </a:p>
        </p:txBody>
      </p:sp>
      <p:sp>
        <p:nvSpPr>
          <p:cNvPr id="22" name="Text 1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3" name="Text 2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4" name="Text 2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20</a:t>
            </a:r>
            <a:endParaRPr lang="en-US" sz="11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Capture · scope</a:t>
            </a:r>
            <a:endParaRPr lang="en-US" sz="3900" dirty="0"/>
          </a:p>
        </p:txBody>
      </p:sp>
      <p:sp>
        <p:nvSpPr>
          <p:cNvPr id="5" name="Shape 2"/>
          <p:cNvSpPr/>
          <p:nvPr/>
        </p:nvSpPr>
        <p:spPr>
          <a:xfrm>
            <a:off x="800100" y="2133600"/>
            <a:ext cx="3276600" cy="933450"/>
          </a:xfrm>
          <a:prstGeom prst="rect">
            <a:avLst/>
          </a:prstGeom>
          <a:solidFill>
            <a:srgbClr val="131313"/>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F2F5F6"/>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F2F5F6"/>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F2F5F6"/>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F2F5F6"/>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3771900"/>
          </a:xfrm>
          <a:prstGeom prst="rect">
            <a:avLst/>
          </a:prstGeom>
          <a:solidFill>
            <a:srgbClr val="F2F5F6"/>
          </a:solidFill>
          <a:ln/>
        </p:spPr>
      </p:sp>
      <p:sp>
        <p:nvSpPr>
          <p:cNvPr id="16" name="Shape 13"/>
          <p:cNvSpPr/>
          <p:nvPr/>
        </p:nvSpPr>
        <p:spPr>
          <a:xfrm>
            <a:off x="1257300" y="4038600"/>
            <a:ext cx="8920311" cy="628650"/>
          </a:xfrm>
          <a:prstGeom prst="rect">
            <a:avLst/>
          </a:prstGeom>
          <a:ln w="9525">
            <a:solidFill>
              <a:srgbClr val="131313">
                <a:alpha val="20000"/>
              </a:srgbClr>
            </a:solidFill>
            <a:prstDash val="solid"/>
          </a:ln>
        </p:spPr>
      </p:sp>
      <p:sp>
        <p:nvSpPr>
          <p:cNvPr id="17" name="Text 14"/>
          <p:cNvSpPr/>
          <p:nvPr/>
        </p:nvSpPr>
        <p:spPr>
          <a:xfrm>
            <a:off x="1514475" y="4181475"/>
            <a:ext cx="8673571"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Analytics tagging standards — creation, management and enforcement</a:t>
            </a:r>
            <a:endParaRPr lang="en-US" sz="2100" dirty="0"/>
          </a:p>
        </p:txBody>
      </p:sp>
      <p:sp>
        <p:nvSpPr>
          <p:cNvPr id="18" name="Shape 15"/>
          <p:cNvSpPr/>
          <p:nvPr/>
        </p:nvSpPr>
        <p:spPr>
          <a:xfrm>
            <a:off x="10291911" y="4038600"/>
            <a:ext cx="5733157" cy="628650"/>
          </a:xfrm>
          <a:prstGeom prst="rect">
            <a:avLst/>
          </a:prstGeom>
          <a:ln w="9525">
            <a:solidFill>
              <a:srgbClr val="131313">
                <a:alpha val="20000"/>
              </a:srgbClr>
            </a:solidFill>
            <a:prstDash val="solid"/>
          </a:ln>
        </p:spPr>
      </p:sp>
      <p:sp>
        <p:nvSpPr>
          <p:cNvPr id="19" name="Text 16"/>
          <p:cNvSpPr/>
          <p:nvPr/>
        </p:nvSpPr>
        <p:spPr>
          <a:xfrm>
            <a:off x="10549086" y="4181475"/>
            <a:ext cx="539080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Page and application data-layer architecture</a:t>
            </a:r>
            <a:endParaRPr lang="en-US" sz="2100" dirty="0"/>
          </a:p>
        </p:txBody>
      </p:sp>
      <p:sp>
        <p:nvSpPr>
          <p:cNvPr id="20" name="Shape 17"/>
          <p:cNvSpPr/>
          <p:nvPr/>
        </p:nvSpPr>
        <p:spPr>
          <a:xfrm>
            <a:off x="1257300" y="4781550"/>
            <a:ext cx="5926336" cy="628650"/>
          </a:xfrm>
          <a:prstGeom prst="rect">
            <a:avLst/>
          </a:prstGeom>
          <a:ln w="9525">
            <a:solidFill>
              <a:srgbClr val="131313">
                <a:alpha val="20000"/>
              </a:srgbClr>
            </a:solidFill>
            <a:prstDash val="solid"/>
          </a:ln>
        </p:spPr>
      </p:sp>
      <p:sp>
        <p:nvSpPr>
          <p:cNvPr id="21" name="Text 18"/>
          <p:cNvSpPr/>
          <p:nvPr/>
        </p:nvSpPr>
        <p:spPr>
          <a:xfrm>
            <a:off x="1514475" y="4924425"/>
            <a:ext cx="558977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Event and data-element design and validation</a:t>
            </a:r>
            <a:endParaRPr lang="en-US" sz="2100" dirty="0"/>
          </a:p>
        </p:txBody>
      </p:sp>
      <p:sp>
        <p:nvSpPr>
          <p:cNvPr id="22" name="Shape 19"/>
          <p:cNvSpPr/>
          <p:nvPr/>
        </p:nvSpPr>
        <p:spPr>
          <a:xfrm>
            <a:off x="7297936" y="4781550"/>
            <a:ext cx="5035748" cy="628650"/>
          </a:xfrm>
          <a:prstGeom prst="rect">
            <a:avLst/>
          </a:prstGeom>
          <a:ln w="9525">
            <a:solidFill>
              <a:srgbClr val="131313">
                <a:alpha val="20000"/>
              </a:srgbClr>
            </a:solidFill>
            <a:prstDash val="solid"/>
          </a:ln>
        </p:spPr>
      </p:sp>
      <p:sp>
        <p:nvSpPr>
          <p:cNvPr id="23" name="Text 20"/>
          <p:cNvSpPr/>
          <p:nvPr/>
        </p:nvSpPr>
        <p:spPr>
          <a:xfrm>
            <a:off x="7555111" y="4924425"/>
            <a:ext cx="4672471"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Custom tracking solution development</a:t>
            </a:r>
            <a:endParaRPr lang="en-US" sz="2100" dirty="0"/>
          </a:p>
        </p:txBody>
      </p:sp>
      <p:sp>
        <p:nvSpPr>
          <p:cNvPr id="24" name="Shape 21"/>
          <p:cNvSpPr/>
          <p:nvPr/>
        </p:nvSpPr>
        <p:spPr>
          <a:xfrm>
            <a:off x="1257300" y="5524500"/>
            <a:ext cx="6503789" cy="628650"/>
          </a:xfrm>
          <a:prstGeom prst="rect">
            <a:avLst/>
          </a:prstGeom>
          <a:ln w="9525">
            <a:solidFill>
              <a:srgbClr val="131313">
                <a:alpha val="20000"/>
              </a:srgbClr>
            </a:solidFill>
            <a:prstDash val="solid"/>
          </a:ln>
        </p:spPr>
      </p:sp>
      <p:sp>
        <p:nvSpPr>
          <p:cNvPr id="25" name="Text 22"/>
          <p:cNvSpPr/>
          <p:nvPr/>
        </p:nvSpPr>
        <p:spPr>
          <a:xfrm>
            <a:off x="1514475" y="5667375"/>
            <a:ext cx="618455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Behavioural data collection across web and mobile</a:t>
            </a:r>
            <a:endParaRPr lang="en-US" sz="2100" dirty="0"/>
          </a:p>
        </p:txBody>
      </p:sp>
      <p:sp>
        <p:nvSpPr>
          <p:cNvPr id="26" name="Shape 23"/>
          <p:cNvSpPr/>
          <p:nvPr/>
        </p:nvSpPr>
        <p:spPr>
          <a:xfrm>
            <a:off x="7875389" y="5524500"/>
            <a:ext cx="6237684" cy="628650"/>
          </a:xfrm>
          <a:prstGeom prst="rect">
            <a:avLst/>
          </a:prstGeom>
          <a:ln w="9525">
            <a:solidFill>
              <a:srgbClr val="131313">
                <a:alpha val="20000"/>
              </a:srgbClr>
            </a:solidFill>
            <a:prstDash val="solid"/>
          </a:ln>
        </p:spPr>
      </p:sp>
      <p:sp>
        <p:nvSpPr>
          <p:cNvPr id="27" name="Text 24"/>
          <p:cNvSpPr/>
          <p:nvPr/>
        </p:nvSpPr>
        <p:spPr>
          <a:xfrm>
            <a:off x="8132564" y="5667375"/>
            <a:ext cx="5910465"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Adobe Launch and Data Collection configuration</a:t>
            </a:r>
            <a:endParaRPr lang="en-US" sz="2100" dirty="0"/>
          </a:p>
        </p:txBody>
      </p:sp>
      <p:sp>
        <p:nvSpPr>
          <p:cNvPr id="28" name="Shape 25"/>
          <p:cNvSpPr/>
          <p:nvPr/>
        </p:nvSpPr>
        <p:spPr>
          <a:xfrm>
            <a:off x="1257300" y="6267450"/>
            <a:ext cx="3064222" cy="628650"/>
          </a:xfrm>
          <a:prstGeom prst="rect">
            <a:avLst/>
          </a:prstGeom>
          <a:ln w="9525">
            <a:solidFill>
              <a:srgbClr val="131313">
                <a:alpha val="20000"/>
              </a:srgbClr>
            </a:solidFill>
            <a:prstDash val="solid"/>
          </a:ln>
        </p:spPr>
      </p:sp>
      <p:sp>
        <p:nvSpPr>
          <p:cNvPr id="29" name="Text 26"/>
          <p:cNvSpPr/>
          <p:nvPr/>
        </p:nvSpPr>
        <p:spPr>
          <a:xfrm>
            <a:off x="1514475" y="6410325"/>
            <a:ext cx="264179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SDK-based collection</a:t>
            </a:r>
            <a:endParaRPr lang="en-US" sz="2100" dirty="0"/>
          </a:p>
        </p:txBody>
      </p:sp>
      <p:sp>
        <p:nvSpPr>
          <p:cNvPr id="30" name="Shape 27"/>
          <p:cNvSpPr/>
          <p:nvPr/>
        </p:nvSpPr>
        <p:spPr>
          <a:xfrm>
            <a:off x="4435822" y="6267450"/>
            <a:ext cx="6725692" cy="628650"/>
          </a:xfrm>
          <a:prstGeom prst="rect">
            <a:avLst/>
          </a:prstGeom>
          <a:ln w="9525">
            <a:solidFill>
              <a:srgbClr val="131313">
                <a:alpha val="20000"/>
              </a:srgbClr>
            </a:solidFill>
            <a:prstDash val="solid"/>
          </a:ln>
        </p:spPr>
      </p:sp>
      <p:sp>
        <p:nvSpPr>
          <p:cNvPr id="31" name="Text 28"/>
          <p:cNvSpPr/>
          <p:nvPr/>
        </p:nvSpPr>
        <p:spPr>
          <a:xfrm>
            <a:off x="4692997" y="6410325"/>
            <a:ext cx="641311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Third-party tool onboarding and security assessment</a:t>
            </a:r>
            <a:endParaRPr lang="en-US" sz="2100" dirty="0"/>
          </a:p>
        </p:txBody>
      </p:sp>
      <p:sp>
        <p:nvSpPr>
          <p:cNvPr id="32" name="Shape 29"/>
          <p:cNvSpPr/>
          <p:nvPr/>
        </p:nvSpPr>
        <p:spPr>
          <a:xfrm>
            <a:off x="11275814" y="6267450"/>
            <a:ext cx="3850184" cy="628650"/>
          </a:xfrm>
          <a:prstGeom prst="rect">
            <a:avLst/>
          </a:prstGeom>
          <a:ln w="9525">
            <a:solidFill>
              <a:srgbClr val="131313">
                <a:alpha val="20000"/>
              </a:srgbClr>
            </a:solidFill>
            <a:prstDash val="solid"/>
          </a:ln>
        </p:spPr>
      </p:sp>
      <p:sp>
        <p:nvSpPr>
          <p:cNvPr id="33" name="Text 30"/>
          <p:cNvSpPr/>
          <p:nvPr/>
        </p:nvSpPr>
        <p:spPr>
          <a:xfrm>
            <a:off x="11532989" y="6410325"/>
            <a:ext cx="345133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Collection QA and validation</a:t>
            </a:r>
            <a:endParaRPr lang="en-US" sz="2100" dirty="0"/>
          </a:p>
        </p:txBody>
      </p:sp>
      <p:sp>
        <p:nvSpPr>
          <p:cNvPr id="34" name="Text 3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5" name="Text 3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6" name="Text 3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21</a:t>
            </a:r>
            <a:endParaRPr lang="en-US" sz="11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Capture · what made it complex</a:t>
            </a:r>
            <a:endParaRPr lang="en-US" sz="3900" dirty="0"/>
          </a:p>
        </p:txBody>
      </p:sp>
      <p:sp>
        <p:nvSpPr>
          <p:cNvPr id="5" name="Shape 2"/>
          <p:cNvSpPr/>
          <p:nvPr/>
        </p:nvSpPr>
        <p:spPr>
          <a:xfrm>
            <a:off x="800100" y="2667000"/>
            <a:ext cx="2910780" cy="1638300"/>
          </a:xfrm>
          <a:prstGeom prst="rect">
            <a:avLst/>
          </a:prstGeom>
          <a:solidFill>
            <a:srgbClr val="F2F5F6"/>
          </a:solidFill>
          <a:ln/>
        </p:spPr>
      </p:sp>
      <p:sp>
        <p:nvSpPr>
          <p:cNvPr id="6" name="Text 3"/>
          <p:cNvSpPr/>
          <p:nvPr/>
        </p:nvSpPr>
        <p:spPr>
          <a:xfrm>
            <a:off x="1066800" y="2971800"/>
            <a:ext cx="24647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Application / Content</a:t>
            </a:r>
            <a:endParaRPr lang="en-US" sz="2100" dirty="0"/>
          </a:p>
        </p:txBody>
      </p:sp>
      <p:sp>
        <p:nvSpPr>
          <p:cNvPr id="7" name="Text 4"/>
          <p:cNvSpPr/>
          <p:nvPr/>
        </p:nvSpPr>
        <p:spPr>
          <a:xfrm>
            <a:off x="3672780" y="2667000"/>
            <a:ext cx="609600" cy="16764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8" name="Shape 5"/>
          <p:cNvSpPr/>
          <p:nvPr/>
        </p:nvSpPr>
        <p:spPr>
          <a:xfrm>
            <a:off x="4244280" y="2667000"/>
            <a:ext cx="2910780" cy="1638300"/>
          </a:xfrm>
          <a:prstGeom prst="rect">
            <a:avLst/>
          </a:prstGeom>
          <a:solidFill>
            <a:srgbClr val="F2F5F6"/>
          </a:solidFill>
          <a:ln/>
        </p:spPr>
      </p:sp>
      <p:sp>
        <p:nvSpPr>
          <p:cNvPr id="9" name="Text 6"/>
          <p:cNvSpPr/>
          <p:nvPr/>
        </p:nvSpPr>
        <p:spPr>
          <a:xfrm>
            <a:off x="4510980" y="2971800"/>
            <a:ext cx="24647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Data Layer</a:t>
            </a:r>
            <a:endParaRPr lang="en-US" sz="2100" dirty="0"/>
          </a:p>
        </p:txBody>
      </p:sp>
      <p:sp>
        <p:nvSpPr>
          <p:cNvPr id="10" name="Text 7"/>
          <p:cNvSpPr/>
          <p:nvPr/>
        </p:nvSpPr>
        <p:spPr>
          <a:xfrm>
            <a:off x="7116961" y="2667000"/>
            <a:ext cx="609600" cy="16764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1" name="Shape 8"/>
          <p:cNvSpPr/>
          <p:nvPr/>
        </p:nvSpPr>
        <p:spPr>
          <a:xfrm>
            <a:off x="7688461" y="2667000"/>
            <a:ext cx="2910929" cy="1638300"/>
          </a:xfrm>
          <a:prstGeom prst="rect">
            <a:avLst/>
          </a:prstGeom>
          <a:solidFill>
            <a:srgbClr val="F2F5F6"/>
          </a:solidFill>
          <a:ln/>
        </p:spPr>
      </p:sp>
      <p:sp>
        <p:nvSpPr>
          <p:cNvPr id="12" name="Text 9"/>
          <p:cNvSpPr/>
          <p:nvPr/>
        </p:nvSpPr>
        <p:spPr>
          <a:xfrm>
            <a:off x="7955161" y="2971800"/>
            <a:ext cx="2464857"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Events &amp; Data Elements</a:t>
            </a:r>
            <a:endParaRPr lang="en-US" sz="2100" dirty="0"/>
          </a:p>
        </p:txBody>
      </p:sp>
      <p:sp>
        <p:nvSpPr>
          <p:cNvPr id="13" name="Text 10"/>
          <p:cNvSpPr/>
          <p:nvPr/>
        </p:nvSpPr>
        <p:spPr>
          <a:xfrm>
            <a:off x="10561290" y="2667000"/>
            <a:ext cx="609600" cy="16764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4" name="Shape 11"/>
          <p:cNvSpPr/>
          <p:nvPr/>
        </p:nvSpPr>
        <p:spPr>
          <a:xfrm>
            <a:off x="11132790" y="2667000"/>
            <a:ext cx="2910780" cy="1638300"/>
          </a:xfrm>
          <a:prstGeom prst="rect">
            <a:avLst/>
          </a:prstGeom>
          <a:solidFill>
            <a:srgbClr val="F2F5F6"/>
          </a:solidFill>
          <a:ln/>
        </p:spPr>
      </p:sp>
      <p:sp>
        <p:nvSpPr>
          <p:cNvPr id="15" name="Text 12"/>
          <p:cNvSpPr/>
          <p:nvPr/>
        </p:nvSpPr>
        <p:spPr>
          <a:xfrm>
            <a:off x="11399490" y="2971800"/>
            <a:ext cx="2464704"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Collection &amp; Tagging</a:t>
            </a:r>
            <a:endParaRPr lang="en-US" sz="2100" dirty="0"/>
          </a:p>
        </p:txBody>
      </p:sp>
      <p:sp>
        <p:nvSpPr>
          <p:cNvPr id="16" name="Text 13"/>
          <p:cNvSpPr/>
          <p:nvPr/>
        </p:nvSpPr>
        <p:spPr>
          <a:xfrm>
            <a:off x="14005471" y="2667000"/>
            <a:ext cx="609600" cy="1676400"/>
          </a:xfrm>
          <a:prstGeom prst="rect">
            <a:avLst/>
          </a:prstGeom>
          <a:noFill/>
          <a:ln/>
        </p:spPr>
        <p:txBody>
          <a:bodyPr wrap="square" lIns="25400" tIns="25400" rIns="25400" bIns="25400" rtlCol="0" anchor="ctr">
            <a:normAutofit/>
          </a:bodyPr>
          <a:lstStyle/>
          <a:p>
            <a:pPr algn="ctr" indent="0" marL="0">
              <a:buNone/>
            </a:pPr>
            <a:r>
              <a:rPr lang="en-US" sz="2400" dirty="0">
                <a:solidFill>
                  <a:srgbClr val="FF532C"/>
                </a:solidFill>
                <a:latin typeface="Arial" pitchFamily="34" charset="0"/>
                <a:ea typeface="Arial" pitchFamily="34" charset="-122"/>
                <a:cs typeface="Arial" pitchFamily="34" charset="-120"/>
              </a:rPr>
              <a:t>→</a:t>
            </a:r>
            <a:endParaRPr lang="en-US" sz="2400" dirty="0"/>
          </a:p>
        </p:txBody>
      </p:sp>
      <p:sp>
        <p:nvSpPr>
          <p:cNvPr id="17" name="Shape 14"/>
          <p:cNvSpPr/>
          <p:nvPr/>
        </p:nvSpPr>
        <p:spPr>
          <a:xfrm>
            <a:off x="14576971" y="2667000"/>
            <a:ext cx="2910929" cy="1638300"/>
          </a:xfrm>
          <a:prstGeom prst="rect">
            <a:avLst/>
          </a:prstGeom>
          <a:solidFill>
            <a:srgbClr val="F2F5F6"/>
          </a:solidFill>
          <a:ln/>
        </p:spPr>
      </p:sp>
      <p:sp>
        <p:nvSpPr>
          <p:cNvPr id="18" name="Text 15"/>
          <p:cNvSpPr/>
          <p:nvPr/>
        </p:nvSpPr>
        <p:spPr>
          <a:xfrm>
            <a:off x="14843671" y="2971800"/>
            <a:ext cx="2464857" cy="1066800"/>
          </a:xfrm>
          <a:prstGeom prst="rect">
            <a:avLst/>
          </a:prstGeom>
          <a:noFill/>
          <a:ln/>
        </p:spPr>
        <p:txBody>
          <a:bodyPr wrap="square" lIns="25400" tIns="25400" rIns="25400" bIns="25400" rtlCol="0" anchor="ctr">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Analytics Variables</a:t>
            </a:r>
            <a:endParaRPr lang="en-US" sz="2100" dirty="0"/>
          </a:p>
        </p:txBody>
      </p:sp>
      <p:sp>
        <p:nvSpPr>
          <p:cNvPr id="19" name="Shape 16"/>
          <p:cNvSpPr/>
          <p:nvPr/>
        </p:nvSpPr>
        <p:spPr>
          <a:xfrm>
            <a:off x="3910905" y="4305300"/>
            <a:ext cx="133350" cy="133350"/>
          </a:xfrm>
          <a:prstGeom prst="rect">
            <a:avLst/>
          </a:prstGeom>
          <a:solidFill>
            <a:srgbClr val="FF532C"/>
          </a:solidFill>
          <a:ln/>
        </p:spPr>
      </p:sp>
      <p:sp>
        <p:nvSpPr>
          <p:cNvPr id="20" name="Shape 17"/>
          <p:cNvSpPr/>
          <p:nvPr/>
        </p:nvSpPr>
        <p:spPr>
          <a:xfrm>
            <a:off x="7355086" y="4305300"/>
            <a:ext cx="133350" cy="133350"/>
          </a:xfrm>
          <a:prstGeom prst="rect">
            <a:avLst/>
          </a:prstGeom>
          <a:solidFill>
            <a:srgbClr val="FF532C"/>
          </a:solidFill>
          <a:ln/>
        </p:spPr>
      </p:sp>
      <p:sp>
        <p:nvSpPr>
          <p:cNvPr id="21" name="Shape 18"/>
          <p:cNvSpPr/>
          <p:nvPr/>
        </p:nvSpPr>
        <p:spPr>
          <a:xfrm>
            <a:off x="10799415" y="4305300"/>
            <a:ext cx="133350" cy="133350"/>
          </a:xfrm>
          <a:prstGeom prst="rect">
            <a:avLst/>
          </a:prstGeom>
          <a:solidFill>
            <a:srgbClr val="FF532C"/>
          </a:solidFill>
          <a:ln/>
        </p:spPr>
      </p:sp>
      <p:sp>
        <p:nvSpPr>
          <p:cNvPr id="22" name="Shape 19"/>
          <p:cNvSpPr/>
          <p:nvPr/>
        </p:nvSpPr>
        <p:spPr>
          <a:xfrm>
            <a:off x="14243596" y="4305300"/>
            <a:ext cx="133350" cy="133350"/>
          </a:xfrm>
          <a:prstGeom prst="rect">
            <a:avLst/>
          </a:prstGeom>
          <a:solidFill>
            <a:srgbClr val="FF532C"/>
          </a:solidFill>
          <a:ln/>
        </p:spPr>
      </p:sp>
      <p:sp>
        <p:nvSpPr>
          <p:cNvPr id="23" name="Text 20"/>
          <p:cNvSpPr/>
          <p:nvPr/>
        </p:nvSpPr>
        <p:spPr>
          <a:xfrm>
            <a:off x="800100" y="4610100"/>
            <a:ext cx="302717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POSSIBLE BREAK POINT</a:t>
            </a:r>
            <a:endParaRPr lang="en-US" sz="1650" dirty="0"/>
          </a:p>
        </p:txBody>
      </p:sp>
      <p:sp>
        <p:nvSpPr>
          <p:cNvPr id="24" name="Shape 21"/>
          <p:cNvSpPr/>
          <p:nvPr/>
        </p:nvSpPr>
        <p:spPr>
          <a:xfrm>
            <a:off x="800100" y="5486400"/>
            <a:ext cx="16687800" cy="2686050"/>
          </a:xfrm>
          <a:prstGeom prst="rect">
            <a:avLst/>
          </a:prstGeom>
          <a:solidFill>
            <a:srgbClr val="131313"/>
          </a:solidFill>
          <a:ln/>
        </p:spPr>
      </p:sp>
      <p:sp>
        <p:nvSpPr>
          <p:cNvPr id="25" name="Text 22"/>
          <p:cNvSpPr/>
          <p:nvPr/>
        </p:nvSpPr>
        <p:spPr>
          <a:xfrm>
            <a:off x="1257300" y="594360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THE SPECIALIZED ELEMENT</a:t>
            </a:r>
            <a:endParaRPr lang="en-US" sz="1650" dirty="0"/>
          </a:p>
        </p:txBody>
      </p:sp>
      <p:sp>
        <p:nvSpPr>
          <p:cNvPr id="26" name="Text 23"/>
          <p:cNvSpPr/>
          <p:nvPr/>
        </p:nvSpPr>
        <p:spPr>
          <a:xfrm>
            <a:off x="1257300" y="6457950"/>
            <a:ext cx="16246602" cy="12954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FFFFFF"/>
                </a:solidFill>
                <a:latin typeface="Arial" pitchFamily="34" charset="0"/>
                <a:ea typeface="Arial" pitchFamily="34" charset="-122"/>
                <a:cs typeface="Arial" pitchFamily="34" charset="-120"/>
              </a:rPr>
              <a:t>A value can be technically valid at one point in this chain and still produce a semantically incorrect result downstream. Determining where a problem actually originated — and what downstream functionality it could affect — required knowledge of the entire Ascent chain, not of any single collection tool.</a:t>
            </a:r>
            <a:endParaRPr lang="en-US" sz="2400" dirty="0"/>
          </a:p>
        </p:txBody>
      </p:sp>
      <p:sp>
        <p:nvSpPr>
          <p:cNvPr id="27" name="Text 2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8" name="Text 2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9" name="Text 2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22</a:t>
            </a:r>
            <a:endParaRPr lang="en-US" sz="11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Management &amp; Profiling · scope</a:t>
            </a:r>
            <a:endParaRPr lang="en-US" sz="3900" dirty="0"/>
          </a:p>
        </p:txBody>
      </p:sp>
      <p:sp>
        <p:nvSpPr>
          <p:cNvPr id="5" name="Shape 2"/>
          <p:cNvSpPr/>
          <p:nvPr/>
        </p:nvSpPr>
        <p:spPr>
          <a:xfrm>
            <a:off x="800100" y="2133600"/>
            <a:ext cx="3276600" cy="933450"/>
          </a:xfrm>
          <a:prstGeom prst="rect">
            <a:avLst/>
          </a:prstGeom>
          <a:solidFill>
            <a:srgbClr val="F2F5F6"/>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131313"/>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F2F5F6"/>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F2F5F6"/>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F2F5F6"/>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4514850"/>
          </a:xfrm>
          <a:prstGeom prst="rect">
            <a:avLst/>
          </a:prstGeom>
          <a:solidFill>
            <a:srgbClr val="F2F5F6"/>
          </a:solidFill>
          <a:ln/>
        </p:spPr>
      </p:sp>
      <p:sp>
        <p:nvSpPr>
          <p:cNvPr id="16" name="Shape 13"/>
          <p:cNvSpPr/>
          <p:nvPr/>
        </p:nvSpPr>
        <p:spPr>
          <a:xfrm>
            <a:off x="1257300" y="4038600"/>
            <a:ext cx="8474720" cy="628650"/>
          </a:xfrm>
          <a:prstGeom prst="rect">
            <a:avLst/>
          </a:prstGeom>
          <a:ln w="9525">
            <a:solidFill>
              <a:srgbClr val="131313">
                <a:alpha val="20000"/>
              </a:srgbClr>
            </a:solidFill>
            <a:prstDash val="solid"/>
          </a:ln>
        </p:spPr>
      </p:sp>
      <p:sp>
        <p:nvSpPr>
          <p:cNvPr id="17" name="Text 14"/>
          <p:cNvSpPr/>
          <p:nvPr/>
        </p:nvSpPr>
        <p:spPr>
          <a:xfrm>
            <a:off x="1514475" y="4181475"/>
            <a:ext cx="821461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Centralising and standardising customer data from multiple sources</a:t>
            </a:r>
            <a:endParaRPr lang="en-US" sz="2100" dirty="0"/>
          </a:p>
        </p:txBody>
      </p:sp>
      <p:sp>
        <p:nvSpPr>
          <p:cNvPr id="18" name="Shape 15"/>
          <p:cNvSpPr/>
          <p:nvPr/>
        </p:nvSpPr>
        <p:spPr>
          <a:xfrm>
            <a:off x="1257300" y="4781550"/>
            <a:ext cx="8115598" cy="628650"/>
          </a:xfrm>
          <a:prstGeom prst="rect">
            <a:avLst/>
          </a:prstGeom>
          <a:ln w="9525">
            <a:solidFill>
              <a:srgbClr val="131313">
                <a:alpha val="20000"/>
              </a:srgbClr>
            </a:solidFill>
            <a:prstDash val="solid"/>
          </a:ln>
        </p:spPr>
      </p:sp>
      <p:sp>
        <p:nvSpPr>
          <p:cNvPr id="19" name="Text 16"/>
          <p:cNvSpPr/>
          <p:nvPr/>
        </p:nvSpPr>
        <p:spPr>
          <a:xfrm>
            <a:off x="1514475" y="4924425"/>
            <a:ext cx="784471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Integrating online behavioural data with offline transactional data</a:t>
            </a:r>
            <a:endParaRPr lang="en-US" sz="2100" dirty="0"/>
          </a:p>
        </p:txBody>
      </p:sp>
      <p:sp>
        <p:nvSpPr>
          <p:cNvPr id="20" name="Shape 17"/>
          <p:cNvSpPr/>
          <p:nvPr/>
        </p:nvSpPr>
        <p:spPr>
          <a:xfrm>
            <a:off x="9487198" y="4781550"/>
            <a:ext cx="4146649" cy="628650"/>
          </a:xfrm>
          <a:prstGeom prst="rect">
            <a:avLst/>
          </a:prstGeom>
          <a:ln w="9525">
            <a:solidFill>
              <a:srgbClr val="131313">
                <a:alpha val="20000"/>
              </a:srgbClr>
            </a:solidFill>
            <a:prstDash val="solid"/>
          </a:ln>
        </p:spPr>
      </p:sp>
      <p:sp>
        <p:nvSpPr>
          <p:cNvPr id="21" name="Text 18"/>
          <p:cNvSpPr/>
          <p:nvPr/>
        </p:nvSpPr>
        <p:spPr>
          <a:xfrm>
            <a:off x="9744373" y="4924425"/>
            <a:ext cx="375669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Source-to-destination mapping</a:t>
            </a:r>
            <a:endParaRPr lang="en-US" sz="2100" dirty="0"/>
          </a:p>
        </p:txBody>
      </p:sp>
      <p:sp>
        <p:nvSpPr>
          <p:cNvPr id="22" name="Shape 19"/>
          <p:cNvSpPr/>
          <p:nvPr/>
        </p:nvSpPr>
        <p:spPr>
          <a:xfrm>
            <a:off x="1257300" y="5524500"/>
            <a:ext cx="6098679" cy="628650"/>
          </a:xfrm>
          <a:prstGeom prst="rect">
            <a:avLst/>
          </a:prstGeom>
          <a:ln w="9525">
            <a:solidFill>
              <a:srgbClr val="131313">
                <a:alpha val="20000"/>
              </a:srgbClr>
            </a:solidFill>
            <a:prstDash val="solid"/>
          </a:ln>
        </p:spPr>
      </p:sp>
      <p:sp>
        <p:nvSpPr>
          <p:cNvPr id="23" name="Text 20"/>
          <p:cNvSpPr/>
          <p:nvPr/>
        </p:nvSpPr>
        <p:spPr>
          <a:xfrm>
            <a:off x="1514475" y="5667375"/>
            <a:ext cx="576728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Ingestion into CDP and data-lake environments</a:t>
            </a:r>
            <a:endParaRPr lang="en-US" sz="2100" dirty="0"/>
          </a:p>
        </p:txBody>
      </p:sp>
      <p:sp>
        <p:nvSpPr>
          <p:cNvPr id="24" name="Shape 21"/>
          <p:cNvSpPr/>
          <p:nvPr/>
        </p:nvSpPr>
        <p:spPr>
          <a:xfrm>
            <a:off x="7470279" y="5524500"/>
            <a:ext cx="5910709" cy="628650"/>
          </a:xfrm>
          <a:prstGeom prst="rect">
            <a:avLst/>
          </a:prstGeom>
          <a:ln w="9525">
            <a:solidFill>
              <a:srgbClr val="131313">
                <a:alpha val="20000"/>
              </a:srgbClr>
            </a:solidFill>
            <a:prstDash val="solid"/>
          </a:ln>
        </p:spPr>
      </p:sp>
      <p:sp>
        <p:nvSpPr>
          <p:cNvPr id="25" name="Text 22"/>
          <p:cNvSpPr/>
          <p:nvPr/>
        </p:nvSpPr>
        <p:spPr>
          <a:xfrm>
            <a:off x="7727454" y="5667375"/>
            <a:ext cx="557368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Data standardisation and transformation rules</a:t>
            </a:r>
            <a:endParaRPr lang="en-US" sz="2100" dirty="0"/>
          </a:p>
        </p:txBody>
      </p:sp>
      <p:sp>
        <p:nvSpPr>
          <p:cNvPr id="26" name="Shape 23"/>
          <p:cNvSpPr/>
          <p:nvPr/>
        </p:nvSpPr>
        <p:spPr>
          <a:xfrm>
            <a:off x="1257300" y="6267450"/>
            <a:ext cx="3953173" cy="628650"/>
          </a:xfrm>
          <a:prstGeom prst="rect">
            <a:avLst/>
          </a:prstGeom>
          <a:ln w="9525">
            <a:solidFill>
              <a:srgbClr val="131313">
                <a:alpha val="20000"/>
              </a:srgbClr>
            </a:solidFill>
            <a:prstDash val="solid"/>
          </a:ln>
        </p:spPr>
      </p:sp>
      <p:sp>
        <p:nvSpPr>
          <p:cNvPr id="27" name="Text 24"/>
          <p:cNvSpPr/>
          <p:nvPr/>
        </p:nvSpPr>
        <p:spPr>
          <a:xfrm>
            <a:off x="1514475" y="6410325"/>
            <a:ext cx="3557418"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Customer-profile architecture</a:t>
            </a:r>
            <a:endParaRPr lang="en-US" sz="2100" dirty="0"/>
          </a:p>
        </p:txBody>
      </p:sp>
      <p:sp>
        <p:nvSpPr>
          <p:cNvPr id="28" name="Shape 25"/>
          <p:cNvSpPr/>
          <p:nvPr/>
        </p:nvSpPr>
        <p:spPr>
          <a:xfrm>
            <a:off x="5324773" y="6267450"/>
            <a:ext cx="5584924" cy="628650"/>
          </a:xfrm>
          <a:prstGeom prst="rect">
            <a:avLst/>
          </a:prstGeom>
          <a:ln w="9525">
            <a:solidFill>
              <a:srgbClr val="131313">
                <a:alpha val="20000"/>
              </a:srgbClr>
            </a:solidFill>
            <a:prstDash val="solid"/>
          </a:ln>
        </p:spPr>
      </p:sp>
      <p:sp>
        <p:nvSpPr>
          <p:cNvPr id="29" name="Text 26"/>
          <p:cNvSpPr/>
          <p:nvPr/>
        </p:nvSpPr>
        <p:spPr>
          <a:xfrm>
            <a:off x="5581948" y="6410325"/>
            <a:ext cx="523812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Handling of known and unknown identifiers</a:t>
            </a:r>
            <a:endParaRPr lang="en-US" sz="2100" dirty="0"/>
          </a:p>
        </p:txBody>
      </p:sp>
      <p:sp>
        <p:nvSpPr>
          <p:cNvPr id="30" name="Shape 27"/>
          <p:cNvSpPr/>
          <p:nvPr/>
        </p:nvSpPr>
        <p:spPr>
          <a:xfrm>
            <a:off x="11023997" y="6267450"/>
            <a:ext cx="5184130" cy="628650"/>
          </a:xfrm>
          <a:prstGeom prst="rect">
            <a:avLst/>
          </a:prstGeom>
          <a:ln w="9525">
            <a:solidFill>
              <a:srgbClr val="131313">
                <a:alpha val="20000"/>
              </a:srgbClr>
            </a:solidFill>
            <a:prstDash val="solid"/>
          </a:ln>
        </p:spPr>
      </p:sp>
      <p:sp>
        <p:nvSpPr>
          <p:cNvPr id="31" name="Text 28"/>
          <p:cNvSpPr/>
          <p:nvPr/>
        </p:nvSpPr>
        <p:spPr>
          <a:xfrm>
            <a:off x="11281172" y="6410325"/>
            <a:ext cx="4825304"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Profile governance and privacy controls</a:t>
            </a:r>
            <a:endParaRPr lang="en-US" sz="2100" dirty="0"/>
          </a:p>
        </p:txBody>
      </p:sp>
      <p:sp>
        <p:nvSpPr>
          <p:cNvPr id="32" name="Shape 29"/>
          <p:cNvSpPr/>
          <p:nvPr/>
        </p:nvSpPr>
        <p:spPr>
          <a:xfrm>
            <a:off x="1257300" y="7010400"/>
            <a:ext cx="15116919" cy="628650"/>
          </a:xfrm>
          <a:prstGeom prst="rect">
            <a:avLst/>
          </a:prstGeom>
          <a:ln w="9525">
            <a:solidFill>
              <a:srgbClr val="131313">
                <a:alpha val="20000"/>
              </a:srgbClr>
            </a:solidFill>
            <a:prstDash val="solid"/>
          </a:ln>
        </p:spPr>
      </p:sp>
      <p:sp>
        <p:nvSpPr>
          <p:cNvPr id="33" name="Text 30"/>
          <p:cNvSpPr/>
          <p:nvPr/>
        </p:nvSpPr>
        <p:spPr>
          <a:xfrm>
            <a:off x="1514475" y="7153275"/>
            <a:ext cx="1505607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Data architecture artifacts including data models, entity relationship diagrams, data dictionaries and exchange specifications</a:t>
            </a:r>
            <a:endParaRPr lang="en-US" sz="2100" dirty="0"/>
          </a:p>
        </p:txBody>
      </p:sp>
      <p:sp>
        <p:nvSpPr>
          <p:cNvPr id="34" name="Text 3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5" name="Text 3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6" name="Text 3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23</a:t>
            </a:r>
            <a:endParaRPr lang="en-US" sz="11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Management &amp; Profiling · identity and merge policy</a:t>
            </a:r>
            <a:endParaRPr lang="en-US" sz="3900" dirty="0"/>
          </a:p>
        </p:txBody>
      </p:sp>
      <p:sp>
        <p:nvSpPr>
          <p:cNvPr id="5" name="Shape 2"/>
          <p:cNvSpPr/>
          <p:nvPr/>
        </p:nvSpPr>
        <p:spPr>
          <a:xfrm>
            <a:off x="800100" y="2133600"/>
            <a:ext cx="8172450" cy="4914900"/>
          </a:xfrm>
          <a:prstGeom prst="rect">
            <a:avLst/>
          </a:prstGeom>
          <a:solidFill>
            <a:srgbClr val="F2F5F6"/>
          </a:solidFill>
          <a:ln/>
        </p:spPr>
      </p:sp>
      <p:sp>
        <p:nvSpPr>
          <p:cNvPr id="6" name="Text 3"/>
          <p:cNvSpPr/>
          <p:nvPr/>
        </p:nvSpPr>
        <p:spPr>
          <a:xfrm>
            <a:off x="125730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THE MOST TECHNICALLY DEMANDING AREA</a:t>
            </a:r>
            <a:endParaRPr lang="en-US" sz="1650" dirty="0"/>
          </a:p>
        </p:txBody>
      </p:sp>
      <p:sp>
        <p:nvSpPr>
          <p:cNvPr id="7" name="Text 4"/>
          <p:cNvSpPr/>
          <p:nvPr/>
        </p:nvSpPr>
        <p:spPr>
          <a:xfrm>
            <a:off x="1257300" y="3105150"/>
            <a:ext cx="7475792" cy="781050"/>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131313"/>
                </a:solidFill>
                <a:latin typeface="Arial" pitchFamily="34" charset="0"/>
                <a:ea typeface="Arial" pitchFamily="34" charset="-122"/>
                <a:cs typeface="Arial" pitchFamily="34" charset="-120"/>
              </a:rPr>
              <a:t>Building a single, trusted view of a customer from multiple integrated sources required decisions about:</a:t>
            </a:r>
            <a:endParaRPr lang="en-US" sz="2100" dirty="0"/>
          </a:p>
        </p:txBody>
      </p:sp>
      <p:sp>
        <p:nvSpPr>
          <p:cNvPr id="8" name="Shape 5"/>
          <p:cNvSpPr/>
          <p:nvPr/>
        </p:nvSpPr>
        <p:spPr>
          <a:xfrm>
            <a:off x="1257300" y="4219575"/>
            <a:ext cx="133350" cy="133350"/>
          </a:xfrm>
          <a:prstGeom prst="rect">
            <a:avLst/>
          </a:prstGeom>
          <a:solidFill>
            <a:srgbClr val="FF532C"/>
          </a:solidFill>
          <a:ln/>
        </p:spPr>
      </p:sp>
      <p:sp>
        <p:nvSpPr>
          <p:cNvPr id="9" name="Text 6"/>
          <p:cNvSpPr/>
          <p:nvPr/>
        </p:nvSpPr>
        <p:spPr>
          <a:xfrm>
            <a:off x="1581150" y="411480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which identifiers resolve to the same person, and which must not</a:t>
            </a:r>
            <a:endParaRPr lang="en-US" sz="1800" dirty="0"/>
          </a:p>
        </p:txBody>
      </p:sp>
      <p:sp>
        <p:nvSpPr>
          <p:cNvPr id="10" name="Shape 7"/>
          <p:cNvSpPr/>
          <p:nvPr/>
        </p:nvSpPr>
        <p:spPr>
          <a:xfrm>
            <a:off x="1257300" y="4676775"/>
            <a:ext cx="133350" cy="133350"/>
          </a:xfrm>
          <a:prstGeom prst="rect">
            <a:avLst/>
          </a:prstGeom>
          <a:solidFill>
            <a:srgbClr val="FF532C"/>
          </a:solidFill>
          <a:ln/>
        </p:spPr>
      </p:sp>
      <p:sp>
        <p:nvSpPr>
          <p:cNvPr id="11" name="Text 8"/>
          <p:cNvSpPr/>
          <p:nvPr/>
        </p:nvSpPr>
        <p:spPr>
          <a:xfrm>
            <a:off x="1581150" y="4572000"/>
            <a:ext cx="7142226"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how data is prioritised when sources conflict — merge policy precedence</a:t>
            </a:r>
            <a:endParaRPr lang="en-US" sz="1800" dirty="0"/>
          </a:p>
        </p:txBody>
      </p:sp>
      <p:sp>
        <p:nvSpPr>
          <p:cNvPr id="12" name="Shape 9"/>
          <p:cNvSpPr/>
          <p:nvPr/>
        </p:nvSpPr>
        <p:spPr>
          <a:xfrm>
            <a:off x="1257300" y="5457825"/>
            <a:ext cx="133350" cy="133350"/>
          </a:xfrm>
          <a:prstGeom prst="rect">
            <a:avLst/>
          </a:prstGeom>
          <a:solidFill>
            <a:srgbClr val="FF532C"/>
          </a:solidFill>
          <a:ln/>
        </p:spPr>
      </p:sp>
      <p:sp>
        <p:nvSpPr>
          <p:cNvPr id="13" name="Text 10"/>
          <p:cNvSpPr/>
          <p:nvPr/>
        </p:nvSpPr>
        <p:spPr>
          <a:xfrm>
            <a:off x="1581150" y="535305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how anonymous activity reconciles to known identity</a:t>
            </a:r>
            <a:endParaRPr lang="en-US" sz="1800" dirty="0"/>
          </a:p>
        </p:txBody>
      </p:sp>
      <p:sp>
        <p:nvSpPr>
          <p:cNvPr id="14" name="Shape 11"/>
          <p:cNvSpPr/>
          <p:nvPr/>
        </p:nvSpPr>
        <p:spPr>
          <a:xfrm>
            <a:off x="1257300" y="5915025"/>
            <a:ext cx="133350" cy="133350"/>
          </a:xfrm>
          <a:prstGeom prst="rect">
            <a:avLst/>
          </a:prstGeom>
          <a:solidFill>
            <a:srgbClr val="FF532C"/>
          </a:solidFill>
          <a:ln/>
        </p:spPr>
      </p:sp>
      <p:sp>
        <p:nvSpPr>
          <p:cNvPr id="15" name="Text 12"/>
          <p:cNvSpPr/>
          <p:nvPr/>
        </p:nvSpPr>
        <p:spPr>
          <a:xfrm>
            <a:off x="1581150" y="581025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what the resulting unified profile actually represents</a:t>
            </a:r>
            <a:endParaRPr lang="en-US" sz="1800" dirty="0"/>
          </a:p>
        </p:txBody>
      </p:sp>
      <p:sp>
        <p:nvSpPr>
          <p:cNvPr id="16" name="Shape 13"/>
          <p:cNvSpPr/>
          <p:nvPr/>
        </p:nvSpPr>
        <p:spPr>
          <a:xfrm>
            <a:off x="1257300" y="6372225"/>
            <a:ext cx="133350" cy="133350"/>
          </a:xfrm>
          <a:prstGeom prst="rect">
            <a:avLst/>
          </a:prstGeom>
          <a:solidFill>
            <a:srgbClr val="FF532C"/>
          </a:solidFill>
          <a:ln/>
        </p:spPr>
      </p:sp>
      <p:sp>
        <p:nvSpPr>
          <p:cNvPr id="17" name="Text 14"/>
          <p:cNvSpPr/>
          <p:nvPr/>
        </p:nvSpPr>
        <p:spPr>
          <a:xfrm>
            <a:off x="1581150" y="6267450"/>
            <a:ext cx="762762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which downstream functions depend on that resolution being correct</a:t>
            </a:r>
            <a:endParaRPr lang="en-US" sz="1800" dirty="0"/>
          </a:p>
        </p:txBody>
      </p:sp>
      <p:sp>
        <p:nvSpPr>
          <p:cNvPr id="18" name="Shape 15"/>
          <p:cNvSpPr/>
          <p:nvPr/>
        </p:nvSpPr>
        <p:spPr>
          <a:xfrm>
            <a:off x="9315450" y="2133600"/>
            <a:ext cx="8172450" cy="4914900"/>
          </a:xfrm>
          <a:prstGeom prst="rect">
            <a:avLst/>
          </a:prstGeom>
          <a:solidFill>
            <a:srgbClr val="131313"/>
          </a:solidFill>
          <a:ln/>
        </p:spPr>
      </p:sp>
      <p:sp>
        <p:nvSpPr>
          <p:cNvPr id="19" name="Text 16"/>
          <p:cNvSpPr/>
          <p:nvPr/>
        </p:nvSpPr>
        <p:spPr>
          <a:xfrm>
            <a:off x="977265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WHY THIS IS ASCENT-SPECIFIC RATHER THAN GENERIC</a:t>
            </a:r>
            <a:endParaRPr lang="en-US" sz="1650" dirty="0"/>
          </a:p>
        </p:txBody>
      </p:sp>
      <p:sp>
        <p:nvSpPr>
          <p:cNvPr id="20" name="Text 17"/>
          <p:cNvSpPr/>
          <p:nvPr/>
        </p:nvSpPr>
        <p:spPr>
          <a:xfrm>
            <a:off x="9772650" y="3181350"/>
            <a:ext cx="7475792" cy="25527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FFFFFF"/>
                </a:solidFill>
                <a:latin typeface="Arial" pitchFamily="34" charset="0"/>
                <a:ea typeface="Arial" pitchFamily="34" charset="-122"/>
                <a:cs typeface="Arial" pitchFamily="34" charset="-120"/>
              </a:rPr>
              <a:t>Configuring a merge policy in a product interface is not the difficult part. The difficult part is knowing how </a:t>
            </a:r>
            <a:pPr algn="l" indent="0" marL="0">
              <a:lnSpc>
                <a:spcPct val="121081"/>
              </a:lnSpc>
              <a:buNone/>
            </a:pPr>
            <a:r>
              <a:rPr lang="en-US" sz="2400" i="1" spc="-22" kern="0" dirty="0">
                <a:solidFill>
                  <a:srgbClr val="FFFFFF"/>
                </a:solidFill>
                <a:latin typeface="Arial" pitchFamily="34" charset="0"/>
                <a:ea typeface="Arial" pitchFamily="34" charset="-122"/>
                <a:cs typeface="Arial" pitchFamily="34" charset="-120"/>
              </a:rPr>
              <a:t>Ascent </a:t>
            </a:r>
            <a:pPr algn="l" indent="0" marL="0">
              <a:lnSpc>
                <a:spcPct val="121081"/>
              </a:lnSpc>
              <a:buNone/>
            </a:pPr>
            <a:r>
              <a:rPr lang="en-US" sz="2400" spc="-22" kern="0" dirty="0">
                <a:solidFill>
                  <a:srgbClr val="FFFFFF"/>
                </a:solidFill>
                <a:latin typeface="Arial" pitchFamily="34" charset="0"/>
                <a:ea typeface="Arial" pitchFamily="34" charset="-122"/>
                <a:cs typeface="Arial" pitchFamily="34" charset="-120"/>
              </a:rPr>
              <a:t>expected customer information from its particular integrated sources to resolve, why that precedence was chosen, and what breaks when it changes.</a:t>
            </a:r>
            <a:endParaRPr lang="en-US" sz="2400" dirty="0"/>
          </a:p>
        </p:txBody>
      </p:sp>
      <p:sp>
        <p:nvSpPr>
          <p:cNvPr id="21" name="Text 18"/>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2" name="Text 19"/>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3" name="Text 20"/>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24</a:t>
            </a:r>
            <a:endParaRPr lang="en-US" sz="11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Activation · scope</a:t>
            </a:r>
            <a:endParaRPr lang="en-US" sz="3900" dirty="0"/>
          </a:p>
        </p:txBody>
      </p:sp>
      <p:sp>
        <p:nvSpPr>
          <p:cNvPr id="5" name="Shape 2"/>
          <p:cNvSpPr/>
          <p:nvPr/>
        </p:nvSpPr>
        <p:spPr>
          <a:xfrm>
            <a:off x="800100" y="2133600"/>
            <a:ext cx="3276600" cy="933450"/>
          </a:xfrm>
          <a:prstGeom prst="rect">
            <a:avLst/>
          </a:prstGeom>
          <a:solidFill>
            <a:srgbClr val="F2F5F6"/>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F2F5F6"/>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131313"/>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F2F5F6"/>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F2F5F6"/>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4514850"/>
          </a:xfrm>
          <a:prstGeom prst="rect">
            <a:avLst/>
          </a:prstGeom>
          <a:solidFill>
            <a:srgbClr val="F2F5F6"/>
          </a:solidFill>
          <a:ln/>
        </p:spPr>
      </p:sp>
      <p:sp>
        <p:nvSpPr>
          <p:cNvPr id="16" name="Shape 13"/>
          <p:cNvSpPr/>
          <p:nvPr/>
        </p:nvSpPr>
        <p:spPr>
          <a:xfrm>
            <a:off x="1257300" y="4038600"/>
            <a:ext cx="6400502" cy="628650"/>
          </a:xfrm>
          <a:prstGeom prst="rect">
            <a:avLst/>
          </a:prstGeom>
          <a:ln w="9525">
            <a:solidFill>
              <a:srgbClr val="131313">
                <a:alpha val="20000"/>
              </a:srgbClr>
            </a:solidFill>
            <a:prstDash val="solid"/>
          </a:ln>
        </p:spPr>
      </p:sp>
      <p:sp>
        <p:nvSpPr>
          <p:cNvPr id="17" name="Text 14"/>
          <p:cNvSpPr/>
          <p:nvPr/>
        </p:nvSpPr>
        <p:spPr>
          <a:xfrm>
            <a:off x="1514475" y="4181475"/>
            <a:ext cx="607816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Audience creation, segmentation and qualification</a:t>
            </a:r>
            <a:endParaRPr lang="en-US" sz="2100" dirty="0"/>
          </a:p>
        </p:txBody>
      </p:sp>
      <p:sp>
        <p:nvSpPr>
          <p:cNvPr id="18" name="Shape 15"/>
          <p:cNvSpPr/>
          <p:nvPr/>
        </p:nvSpPr>
        <p:spPr>
          <a:xfrm>
            <a:off x="7772102" y="4038600"/>
            <a:ext cx="7200602" cy="628650"/>
          </a:xfrm>
          <a:prstGeom prst="rect">
            <a:avLst/>
          </a:prstGeom>
          <a:ln w="9525">
            <a:solidFill>
              <a:srgbClr val="131313">
                <a:alpha val="20000"/>
              </a:srgbClr>
            </a:solidFill>
            <a:prstDash val="solid"/>
          </a:ln>
        </p:spPr>
      </p:sp>
      <p:sp>
        <p:nvSpPr>
          <p:cNvPr id="19" name="Text 16"/>
          <p:cNvSpPr/>
          <p:nvPr/>
        </p:nvSpPr>
        <p:spPr>
          <a:xfrm>
            <a:off x="8029277" y="4181475"/>
            <a:ext cx="690227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Activation into personalization and marketing capabilities</a:t>
            </a:r>
            <a:endParaRPr lang="en-US" sz="2100" dirty="0"/>
          </a:p>
        </p:txBody>
      </p:sp>
      <p:sp>
        <p:nvSpPr>
          <p:cNvPr id="20" name="Shape 17"/>
          <p:cNvSpPr/>
          <p:nvPr/>
        </p:nvSpPr>
        <p:spPr>
          <a:xfrm>
            <a:off x="1257300" y="4781550"/>
            <a:ext cx="8016329" cy="628650"/>
          </a:xfrm>
          <a:prstGeom prst="rect">
            <a:avLst/>
          </a:prstGeom>
          <a:ln w="9525">
            <a:solidFill>
              <a:srgbClr val="131313">
                <a:alpha val="20000"/>
              </a:srgbClr>
            </a:solidFill>
            <a:prstDash val="solid"/>
          </a:ln>
        </p:spPr>
      </p:sp>
      <p:sp>
        <p:nvSpPr>
          <p:cNvPr id="21" name="Text 18"/>
          <p:cNvSpPr/>
          <p:nvPr/>
        </p:nvSpPr>
        <p:spPr>
          <a:xfrm>
            <a:off x="1514475" y="4924425"/>
            <a:ext cx="774246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Adobe Target activity configuration and content-variation design</a:t>
            </a:r>
            <a:endParaRPr lang="en-US" sz="2100" dirty="0"/>
          </a:p>
        </p:txBody>
      </p:sp>
      <p:sp>
        <p:nvSpPr>
          <p:cNvPr id="22" name="Shape 19"/>
          <p:cNvSpPr/>
          <p:nvPr/>
        </p:nvSpPr>
        <p:spPr>
          <a:xfrm>
            <a:off x="9387929" y="4781550"/>
            <a:ext cx="7497366" cy="628650"/>
          </a:xfrm>
          <a:prstGeom prst="rect">
            <a:avLst/>
          </a:prstGeom>
          <a:ln w="9525">
            <a:solidFill>
              <a:srgbClr val="131313">
                <a:alpha val="20000"/>
              </a:srgbClr>
            </a:solidFill>
            <a:prstDash val="solid"/>
          </a:ln>
        </p:spPr>
      </p:sp>
      <p:sp>
        <p:nvSpPr>
          <p:cNvPr id="23" name="Text 20"/>
          <p:cNvSpPr/>
          <p:nvPr/>
        </p:nvSpPr>
        <p:spPr>
          <a:xfrm>
            <a:off x="9645104" y="4924425"/>
            <a:ext cx="720793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Adobe Journey Optimizer and Adobe Campaign integration</a:t>
            </a:r>
            <a:endParaRPr lang="en-US" sz="2100" dirty="0"/>
          </a:p>
        </p:txBody>
      </p:sp>
      <p:sp>
        <p:nvSpPr>
          <p:cNvPr id="24" name="Shape 21"/>
          <p:cNvSpPr/>
          <p:nvPr/>
        </p:nvSpPr>
        <p:spPr>
          <a:xfrm>
            <a:off x="1257300" y="5524500"/>
            <a:ext cx="8456265" cy="628650"/>
          </a:xfrm>
          <a:prstGeom prst="rect">
            <a:avLst/>
          </a:prstGeom>
          <a:ln w="9525">
            <a:solidFill>
              <a:srgbClr val="131313">
                <a:alpha val="20000"/>
              </a:srgbClr>
            </a:solidFill>
            <a:prstDash val="solid"/>
          </a:ln>
        </p:spPr>
      </p:sp>
      <p:sp>
        <p:nvSpPr>
          <p:cNvPr id="25" name="Text 22"/>
          <p:cNvSpPr/>
          <p:nvPr/>
        </p:nvSpPr>
        <p:spPr>
          <a:xfrm>
            <a:off x="1514475" y="5667375"/>
            <a:ext cx="819560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Audience Manager segments, destinations and offline data sources</a:t>
            </a:r>
            <a:endParaRPr lang="en-US" sz="2100" dirty="0"/>
          </a:p>
        </p:txBody>
      </p:sp>
      <p:sp>
        <p:nvSpPr>
          <p:cNvPr id="26" name="Shape 23"/>
          <p:cNvSpPr/>
          <p:nvPr/>
        </p:nvSpPr>
        <p:spPr>
          <a:xfrm>
            <a:off x="1257300" y="6267450"/>
            <a:ext cx="10031760" cy="628650"/>
          </a:xfrm>
          <a:prstGeom prst="rect">
            <a:avLst/>
          </a:prstGeom>
          <a:ln w="9525">
            <a:solidFill>
              <a:srgbClr val="131313">
                <a:alpha val="20000"/>
              </a:srgbClr>
            </a:solidFill>
            <a:prstDash val="solid"/>
          </a:ln>
        </p:spPr>
      </p:sp>
      <p:sp>
        <p:nvSpPr>
          <p:cNvPr id="27" name="Text 24"/>
          <p:cNvSpPr/>
          <p:nvPr/>
        </p:nvSpPr>
        <p:spPr>
          <a:xfrm>
            <a:off x="1514475" y="6410325"/>
            <a:ext cx="981836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Real-time activation across Adobe Experience Cloud and third-party destinations</a:t>
            </a:r>
            <a:endParaRPr lang="en-US" sz="2100" dirty="0"/>
          </a:p>
        </p:txBody>
      </p:sp>
      <p:sp>
        <p:nvSpPr>
          <p:cNvPr id="28" name="Shape 25"/>
          <p:cNvSpPr/>
          <p:nvPr/>
        </p:nvSpPr>
        <p:spPr>
          <a:xfrm>
            <a:off x="1257300" y="7010400"/>
            <a:ext cx="7289155" cy="628650"/>
          </a:xfrm>
          <a:prstGeom prst="rect">
            <a:avLst/>
          </a:prstGeom>
          <a:ln w="9525">
            <a:solidFill>
              <a:srgbClr val="131313">
                <a:alpha val="20000"/>
              </a:srgbClr>
            </a:solidFill>
            <a:prstDash val="solid"/>
          </a:ln>
        </p:spPr>
      </p:sp>
      <p:sp>
        <p:nvSpPr>
          <p:cNvPr id="29" name="Text 26"/>
          <p:cNvSpPr/>
          <p:nvPr/>
        </p:nvSpPr>
        <p:spPr>
          <a:xfrm>
            <a:off x="1514475" y="7153275"/>
            <a:ext cx="699348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A/B and multivariate test design and experiment structure</a:t>
            </a:r>
            <a:endParaRPr lang="en-US" sz="2100" dirty="0"/>
          </a:p>
        </p:txBody>
      </p:sp>
      <p:sp>
        <p:nvSpPr>
          <p:cNvPr id="30" name="Text 27"/>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1" name="Text 28"/>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2" name="Text 29"/>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25</a:t>
            </a:r>
            <a:endParaRPr lang="en-US" sz="11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Activation · the dependency problem</a:t>
            </a:r>
            <a:endParaRPr lang="en-US" sz="3900" dirty="0"/>
          </a:p>
        </p:txBody>
      </p:sp>
      <p:sp>
        <p:nvSpPr>
          <p:cNvPr id="5" name="Text 2"/>
          <p:cNvSpPr/>
          <p:nvPr/>
        </p:nvSpPr>
        <p:spPr>
          <a:xfrm>
            <a:off x="800100" y="1866900"/>
            <a:ext cx="6829693" cy="409575"/>
          </a:xfrm>
          <a:prstGeom prst="rect">
            <a:avLst/>
          </a:prstGeom>
          <a:noFill/>
          <a:ln/>
        </p:spPr>
        <p:txBody>
          <a:bodyPr wrap="square" lIns="25400" tIns="25400" rIns="25400" bIns="25400" rtlCol="0" anchor="t">
            <a:normAutofit/>
          </a:bodyPr>
          <a:lstStyle/>
          <a:p>
            <a:pPr algn="l" indent="0" marL="0">
              <a:lnSpc>
                <a:spcPct val="122500"/>
              </a:lnSpc>
              <a:buNone/>
            </a:pPr>
            <a:r>
              <a:rPr lang="en-US" sz="2100" b="1" dirty="0">
                <a:solidFill>
                  <a:srgbClr val="131313"/>
                </a:solidFill>
                <a:latin typeface="Arial" pitchFamily="34" charset="0"/>
                <a:ea typeface="Arial" pitchFamily="34" charset="-122"/>
                <a:cs typeface="Arial" pitchFamily="34" charset="-120"/>
              </a:rPr>
              <a:t>An audience is the visible output of a long chain:</a:t>
            </a:r>
            <a:endParaRPr lang="en-US" sz="2100" dirty="0"/>
          </a:p>
        </p:txBody>
      </p:sp>
      <p:sp>
        <p:nvSpPr>
          <p:cNvPr id="6" name="Shape 3"/>
          <p:cNvSpPr/>
          <p:nvPr/>
        </p:nvSpPr>
        <p:spPr>
          <a:xfrm>
            <a:off x="800100" y="2400300"/>
            <a:ext cx="3032671" cy="1104900"/>
          </a:xfrm>
          <a:prstGeom prst="rect">
            <a:avLst/>
          </a:prstGeom>
          <a:solidFill>
            <a:srgbClr val="F2F5F6"/>
          </a:solidFill>
          <a:ln/>
        </p:spPr>
      </p:sp>
      <p:sp>
        <p:nvSpPr>
          <p:cNvPr id="7" name="Text 4"/>
          <p:cNvSpPr/>
          <p:nvPr/>
        </p:nvSpPr>
        <p:spPr>
          <a:xfrm>
            <a:off x="990600" y="26289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source data</a:t>
            </a:r>
            <a:endParaRPr lang="en-US" sz="1800" dirty="0"/>
          </a:p>
        </p:txBody>
      </p:sp>
      <p:sp>
        <p:nvSpPr>
          <p:cNvPr id="8" name="Text 5"/>
          <p:cNvSpPr/>
          <p:nvPr/>
        </p:nvSpPr>
        <p:spPr>
          <a:xfrm>
            <a:off x="3794671" y="24003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9" name="Shape 6"/>
          <p:cNvSpPr/>
          <p:nvPr/>
        </p:nvSpPr>
        <p:spPr>
          <a:xfrm>
            <a:off x="4213771" y="2400300"/>
            <a:ext cx="3032820" cy="1104900"/>
          </a:xfrm>
          <a:prstGeom prst="rect">
            <a:avLst/>
          </a:prstGeom>
          <a:solidFill>
            <a:srgbClr val="F2F5F6"/>
          </a:solidFill>
          <a:ln/>
        </p:spPr>
      </p:sp>
      <p:sp>
        <p:nvSpPr>
          <p:cNvPr id="10" name="Text 7"/>
          <p:cNvSpPr/>
          <p:nvPr/>
        </p:nvSpPr>
        <p:spPr>
          <a:xfrm>
            <a:off x="4404271" y="2628900"/>
            <a:ext cx="2742804"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mapping</a:t>
            </a:r>
            <a:endParaRPr lang="en-US" sz="1800" dirty="0"/>
          </a:p>
        </p:txBody>
      </p:sp>
      <p:sp>
        <p:nvSpPr>
          <p:cNvPr id="11" name="Text 8"/>
          <p:cNvSpPr/>
          <p:nvPr/>
        </p:nvSpPr>
        <p:spPr>
          <a:xfrm>
            <a:off x="7208490" y="24003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12" name="Shape 9"/>
          <p:cNvSpPr/>
          <p:nvPr/>
        </p:nvSpPr>
        <p:spPr>
          <a:xfrm>
            <a:off x="7627590" y="2400300"/>
            <a:ext cx="3032671" cy="1104900"/>
          </a:xfrm>
          <a:prstGeom prst="rect">
            <a:avLst/>
          </a:prstGeom>
          <a:solidFill>
            <a:srgbClr val="F2F5F6"/>
          </a:solidFill>
          <a:ln/>
        </p:spPr>
      </p:sp>
      <p:sp>
        <p:nvSpPr>
          <p:cNvPr id="13" name="Text 10"/>
          <p:cNvSpPr/>
          <p:nvPr/>
        </p:nvSpPr>
        <p:spPr>
          <a:xfrm>
            <a:off x="7818090" y="26289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ingestion</a:t>
            </a:r>
            <a:endParaRPr lang="en-US" sz="1800" dirty="0"/>
          </a:p>
        </p:txBody>
      </p:sp>
      <p:sp>
        <p:nvSpPr>
          <p:cNvPr id="14" name="Text 11"/>
          <p:cNvSpPr/>
          <p:nvPr/>
        </p:nvSpPr>
        <p:spPr>
          <a:xfrm>
            <a:off x="10622161" y="24003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15" name="Shape 12"/>
          <p:cNvSpPr/>
          <p:nvPr/>
        </p:nvSpPr>
        <p:spPr>
          <a:xfrm>
            <a:off x="11041261" y="2400300"/>
            <a:ext cx="3032820" cy="1104900"/>
          </a:xfrm>
          <a:prstGeom prst="rect">
            <a:avLst/>
          </a:prstGeom>
          <a:solidFill>
            <a:srgbClr val="F2F5F6"/>
          </a:solidFill>
          <a:ln/>
        </p:spPr>
      </p:sp>
      <p:sp>
        <p:nvSpPr>
          <p:cNvPr id="16" name="Text 13"/>
          <p:cNvSpPr/>
          <p:nvPr/>
        </p:nvSpPr>
        <p:spPr>
          <a:xfrm>
            <a:off x="11231761" y="2628900"/>
            <a:ext cx="2742804"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identity resolution</a:t>
            </a:r>
            <a:endParaRPr lang="en-US" sz="1800" dirty="0"/>
          </a:p>
        </p:txBody>
      </p:sp>
      <p:sp>
        <p:nvSpPr>
          <p:cNvPr id="17" name="Text 14"/>
          <p:cNvSpPr/>
          <p:nvPr/>
        </p:nvSpPr>
        <p:spPr>
          <a:xfrm>
            <a:off x="14035980" y="24003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18" name="Shape 15"/>
          <p:cNvSpPr/>
          <p:nvPr/>
        </p:nvSpPr>
        <p:spPr>
          <a:xfrm>
            <a:off x="14455080" y="2400300"/>
            <a:ext cx="3032671" cy="1104900"/>
          </a:xfrm>
          <a:prstGeom prst="rect">
            <a:avLst/>
          </a:prstGeom>
          <a:solidFill>
            <a:srgbClr val="F2F5F6"/>
          </a:solidFill>
          <a:ln/>
        </p:spPr>
      </p:sp>
      <p:sp>
        <p:nvSpPr>
          <p:cNvPr id="19" name="Text 16"/>
          <p:cNvSpPr/>
          <p:nvPr/>
        </p:nvSpPr>
        <p:spPr>
          <a:xfrm>
            <a:off x="14645580" y="26289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profile precedence</a:t>
            </a:r>
            <a:endParaRPr lang="en-US" sz="1800" dirty="0"/>
          </a:p>
        </p:txBody>
      </p:sp>
      <p:sp>
        <p:nvSpPr>
          <p:cNvPr id="20" name="Shape 17"/>
          <p:cNvSpPr/>
          <p:nvPr/>
        </p:nvSpPr>
        <p:spPr>
          <a:xfrm>
            <a:off x="800100" y="3695700"/>
            <a:ext cx="3032671" cy="1104900"/>
          </a:xfrm>
          <a:prstGeom prst="rect">
            <a:avLst/>
          </a:prstGeom>
          <a:solidFill>
            <a:srgbClr val="F2F5F6"/>
          </a:solidFill>
          <a:ln/>
        </p:spPr>
      </p:sp>
      <p:sp>
        <p:nvSpPr>
          <p:cNvPr id="21" name="Text 18"/>
          <p:cNvSpPr/>
          <p:nvPr/>
        </p:nvSpPr>
        <p:spPr>
          <a:xfrm>
            <a:off x="990600" y="39243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segment definition</a:t>
            </a:r>
            <a:endParaRPr lang="en-US" sz="1800" dirty="0"/>
          </a:p>
        </p:txBody>
      </p:sp>
      <p:sp>
        <p:nvSpPr>
          <p:cNvPr id="22" name="Text 19"/>
          <p:cNvSpPr/>
          <p:nvPr/>
        </p:nvSpPr>
        <p:spPr>
          <a:xfrm>
            <a:off x="3794671" y="36957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23" name="Shape 20"/>
          <p:cNvSpPr/>
          <p:nvPr/>
        </p:nvSpPr>
        <p:spPr>
          <a:xfrm>
            <a:off x="4213771" y="3695700"/>
            <a:ext cx="3032820" cy="1104900"/>
          </a:xfrm>
          <a:prstGeom prst="rect">
            <a:avLst/>
          </a:prstGeom>
          <a:solidFill>
            <a:srgbClr val="F2F5F6"/>
          </a:solidFill>
          <a:ln/>
        </p:spPr>
      </p:sp>
      <p:sp>
        <p:nvSpPr>
          <p:cNvPr id="24" name="Text 21"/>
          <p:cNvSpPr/>
          <p:nvPr/>
        </p:nvSpPr>
        <p:spPr>
          <a:xfrm>
            <a:off x="4404271" y="3924300"/>
            <a:ext cx="2742804"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qualification</a:t>
            </a:r>
            <a:endParaRPr lang="en-US" sz="1800" dirty="0"/>
          </a:p>
        </p:txBody>
      </p:sp>
      <p:sp>
        <p:nvSpPr>
          <p:cNvPr id="25" name="Text 22"/>
          <p:cNvSpPr/>
          <p:nvPr/>
        </p:nvSpPr>
        <p:spPr>
          <a:xfrm>
            <a:off x="7208490" y="36957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26" name="Shape 23"/>
          <p:cNvSpPr/>
          <p:nvPr/>
        </p:nvSpPr>
        <p:spPr>
          <a:xfrm>
            <a:off x="7627590" y="3695700"/>
            <a:ext cx="3032671" cy="1104900"/>
          </a:xfrm>
          <a:prstGeom prst="rect">
            <a:avLst/>
          </a:prstGeom>
          <a:solidFill>
            <a:srgbClr val="F2F5F6"/>
          </a:solidFill>
          <a:ln/>
        </p:spPr>
      </p:sp>
      <p:sp>
        <p:nvSpPr>
          <p:cNvPr id="27" name="Text 24"/>
          <p:cNvSpPr/>
          <p:nvPr/>
        </p:nvSpPr>
        <p:spPr>
          <a:xfrm>
            <a:off x="7818090" y="39243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activation destination</a:t>
            </a:r>
            <a:endParaRPr lang="en-US" sz="1800" dirty="0"/>
          </a:p>
        </p:txBody>
      </p:sp>
      <p:sp>
        <p:nvSpPr>
          <p:cNvPr id="28" name="Text 25"/>
          <p:cNvSpPr/>
          <p:nvPr/>
        </p:nvSpPr>
        <p:spPr>
          <a:xfrm>
            <a:off x="10622161" y="36957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29" name="Shape 26"/>
          <p:cNvSpPr/>
          <p:nvPr/>
        </p:nvSpPr>
        <p:spPr>
          <a:xfrm>
            <a:off x="11041261" y="3695700"/>
            <a:ext cx="3032820" cy="1104900"/>
          </a:xfrm>
          <a:prstGeom prst="rect">
            <a:avLst/>
          </a:prstGeom>
          <a:solidFill>
            <a:srgbClr val="F2F5F6"/>
          </a:solidFill>
          <a:ln/>
        </p:spPr>
      </p:sp>
      <p:sp>
        <p:nvSpPr>
          <p:cNvPr id="30" name="Text 27"/>
          <p:cNvSpPr/>
          <p:nvPr/>
        </p:nvSpPr>
        <p:spPr>
          <a:xfrm>
            <a:off x="11231761" y="3924300"/>
            <a:ext cx="2742804"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personalization outcome</a:t>
            </a:r>
            <a:endParaRPr lang="en-US" sz="1800" dirty="0"/>
          </a:p>
        </p:txBody>
      </p:sp>
      <p:sp>
        <p:nvSpPr>
          <p:cNvPr id="31" name="Text 28"/>
          <p:cNvSpPr/>
          <p:nvPr/>
        </p:nvSpPr>
        <p:spPr>
          <a:xfrm>
            <a:off x="14035980" y="3695700"/>
            <a:ext cx="457200" cy="1143000"/>
          </a:xfrm>
          <a:prstGeom prst="rect">
            <a:avLst/>
          </a:prstGeom>
          <a:noFill/>
          <a:ln/>
        </p:spPr>
        <p:txBody>
          <a:bodyPr wrap="square" lIns="25400" tIns="25400" rIns="25400" bIns="25400" rtlCol="0" anchor="ctr">
            <a:normAutofit/>
          </a:bodyPr>
          <a:lstStyle/>
          <a:p>
            <a:pPr algn="ctr" indent="0" marL="0">
              <a:buNone/>
            </a:pPr>
            <a:r>
              <a:rPr lang="en-US" sz="2100" dirty="0">
                <a:solidFill>
                  <a:srgbClr val="FF532C"/>
                </a:solidFill>
                <a:latin typeface="Arial" pitchFamily="34" charset="0"/>
                <a:ea typeface="Arial" pitchFamily="34" charset="-122"/>
                <a:cs typeface="Arial" pitchFamily="34" charset="-120"/>
              </a:rPr>
              <a:t>→</a:t>
            </a:r>
            <a:endParaRPr lang="en-US" sz="2100" dirty="0"/>
          </a:p>
        </p:txBody>
      </p:sp>
      <p:sp>
        <p:nvSpPr>
          <p:cNvPr id="32" name="Shape 29"/>
          <p:cNvSpPr/>
          <p:nvPr/>
        </p:nvSpPr>
        <p:spPr>
          <a:xfrm>
            <a:off x="14455080" y="3695700"/>
            <a:ext cx="3032671" cy="1104900"/>
          </a:xfrm>
          <a:prstGeom prst="rect">
            <a:avLst/>
          </a:prstGeom>
          <a:solidFill>
            <a:srgbClr val="F2F5F6"/>
          </a:solidFill>
          <a:ln/>
        </p:spPr>
      </p:sp>
      <p:sp>
        <p:nvSpPr>
          <p:cNvPr id="33" name="Text 30"/>
          <p:cNvSpPr/>
          <p:nvPr/>
        </p:nvSpPr>
        <p:spPr>
          <a:xfrm>
            <a:off x="14645580" y="3924300"/>
            <a:ext cx="2742651" cy="6858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measurement</a:t>
            </a:r>
            <a:endParaRPr lang="en-US" sz="1800" dirty="0"/>
          </a:p>
        </p:txBody>
      </p:sp>
      <p:sp>
        <p:nvSpPr>
          <p:cNvPr id="34" name="Text 31"/>
          <p:cNvSpPr/>
          <p:nvPr/>
        </p:nvSpPr>
        <p:spPr>
          <a:xfrm>
            <a:off x="800100" y="5295900"/>
            <a:ext cx="618778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 CHANGE ANYWHERE IN THAT CHAIN CAN ALTER</a:t>
            </a:r>
            <a:endParaRPr lang="en-US" sz="1650" dirty="0"/>
          </a:p>
        </p:txBody>
      </p:sp>
      <p:sp>
        <p:nvSpPr>
          <p:cNvPr id="35" name="Shape 32"/>
          <p:cNvSpPr/>
          <p:nvPr/>
        </p:nvSpPr>
        <p:spPr>
          <a:xfrm>
            <a:off x="800100" y="5753100"/>
            <a:ext cx="2255341" cy="542925"/>
          </a:xfrm>
          <a:prstGeom prst="rect">
            <a:avLst/>
          </a:prstGeom>
          <a:ln w="9525">
            <a:solidFill>
              <a:srgbClr val="131313">
                <a:alpha val="20000"/>
              </a:srgbClr>
            </a:solidFill>
            <a:prstDash val="solid"/>
          </a:ln>
        </p:spPr>
      </p:sp>
      <p:sp>
        <p:nvSpPr>
          <p:cNvPr id="36" name="Text 33"/>
          <p:cNvSpPr/>
          <p:nvPr/>
        </p:nvSpPr>
        <p:spPr>
          <a:xfrm>
            <a:off x="1038225" y="5876925"/>
            <a:ext cx="18552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Source mappings</a:t>
            </a:r>
            <a:endParaRPr lang="en-US" sz="1800" dirty="0"/>
          </a:p>
        </p:txBody>
      </p:sp>
      <p:sp>
        <p:nvSpPr>
          <p:cNvPr id="37" name="Shape 34"/>
          <p:cNvSpPr/>
          <p:nvPr/>
        </p:nvSpPr>
        <p:spPr>
          <a:xfrm>
            <a:off x="3169741" y="5753100"/>
            <a:ext cx="2267992" cy="542925"/>
          </a:xfrm>
          <a:prstGeom prst="rect">
            <a:avLst/>
          </a:prstGeom>
          <a:ln w="9525">
            <a:solidFill>
              <a:srgbClr val="131313">
                <a:alpha val="20000"/>
              </a:srgbClr>
            </a:solidFill>
            <a:prstDash val="solid"/>
          </a:ln>
        </p:spPr>
      </p:sp>
      <p:sp>
        <p:nvSpPr>
          <p:cNvPr id="38" name="Text 35"/>
          <p:cNvSpPr/>
          <p:nvPr/>
        </p:nvSpPr>
        <p:spPr>
          <a:xfrm>
            <a:off x="3407866" y="5876925"/>
            <a:ext cx="18679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Identity resolution</a:t>
            </a:r>
            <a:endParaRPr lang="en-US" sz="1800" dirty="0"/>
          </a:p>
        </p:txBody>
      </p:sp>
      <p:sp>
        <p:nvSpPr>
          <p:cNvPr id="39" name="Shape 36"/>
          <p:cNvSpPr/>
          <p:nvPr/>
        </p:nvSpPr>
        <p:spPr>
          <a:xfrm>
            <a:off x="5552033" y="5753100"/>
            <a:ext cx="2382441" cy="542925"/>
          </a:xfrm>
          <a:prstGeom prst="rect">
            <a:avLst/>
          </a:prstGeom>
          <a:ln w="9525">
            <a:solidFill>
              <a:srgbClr val="131313">
                <a:alpha val="20000"/>
              </a:srgbClr>
            </a:solidFill>
            <a:prstDash val="solid"/>
          </a:ln>
        </p:spPr>
      </p:sp>
      <p:sp>
        <p:nvSpPr>
          <p:cNvPr id="40" name="Text 37"/>
          <p:cNvSpPr/>
          <p:nvPr/>
        </p:nvSpPr>
        <p:spPr>
          <a:xfrm>
            <a:off x="5790158" y="5876925"/>
            <a:ext cx="19823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Profile precedence</a:t>
            </a:r>
            <a:endParaRPr lang="en-US" sz="1800" dirty="0"/>
          </a:p>
        </p:txBody>
      </p:sp>
      <p:sp>
        <p:nvSpPr>
          <p:cNvPr id="41" name="Shape 38"/>
          <p:cNvSpPr/>
          <p:nvPr/>
        </p:nvSpPr>
        <p:spPr>
          <a:xfrm>
            <a:off x="8048774" y="5753100"/>
            <a:ext cx="2991892" cy="542925"/>
          </a:xfrm>
          <a:prstGeom prst="rect">
            <a:avLst/>
          </a:prstGeom>
          <a:ln w="9525">
            <a:solidFill>
              <a:srgbClr val="131313">
                <a:alpha val="20000"/>
              </a:srgbClr>
            </a:solidFill>
            <a:prstDash val="solid"/>
          </a:ln>
        </p:spPr>
      </p:sp>
      <p:sp>
        <p:nvSpPr>
          <p:cNvPr id="42" name="Text 39"/>
          <p:cNvSpPr/>
          <p:nvPr/>
        </p:nvSpPr>
        <p:spPr>
          <a:xfrm>
            <a:off x="8286899" y="5876925"/>
            <a:ext cx="260539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Unified customer profiles</a:t>
            </a:r>
            <a:endParaRPr lang="en-US" sz="1800" dirty="0"/>
          </a:p>
        </p:txBody>
      </p:sp>
      <p:sp>
        <p:nvSpPr>
          <p:cNvPr id="43" name="Shape 40"/>
          <p:cNvSpPr/>
          <p:nvPr/>
        </p:nvSpPr>
        <p:spPr>
          <a:xfrm>
            <a:off x="11154966" y="5753100"/>
            <a:ext cx="2700338" cy="542925"/>
          </a:xfrm>
          <a:prstGeom prst="rect">
            <a:avLst/>
          </a:prstGeom>
          <a:ln w="9525">
            <a:solidFill>
              <a:srgbClr val="131313">
                <a:alpha val="20000"/>
              </a:srgbClr>
            </a:solidFill>
            <a:prstDash val="solid"/>
          </a:ln>
        </p:spPr>
      </p:sp>
      <p:sp>
        <p:nvSpPr>
          <p:cNvPr id="44" name="Text 41"/>
          <p:cNvSpPr/>
          <p:nvPr/>
        </p:nvSpPr>
        <p:spPr>
          <a:xfrm>
            <a:off x="11393091" y="5876925"/>
            <a:ext cx="230509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 qualification</a:t>
            </a:r>
            <a:endParaRPr lang="en-US" sz="1800" dirty="0"/>
          </a:p>
        </p:txBody>
      </p:sp>
      <p:sp>
        <p:nvSpPr>
          <p:cNvPr id="45" name="Shape 42"/>
          <p:cNvSpPr/>
          <p:nvPr/>
        </p:nvSpPr>
        <p:spPr>
          <a:xfrm>
            <a:off x="13969603" y="5753100"/>
            <a:ext cx="2890540" cy="542925"/>
          </a:xfrm>
          <a:prstGeom prst="rect">
            <a:avLst/>
          </a:prstGeom>
          <a:ln w="9525">
            <a:solidFill>
              <a:srgbClr val="131313">
                <a:alpha val="20000"/>
              </a:srgbClr>
            </a:solidFill>
            <a:prstDash val="solid"/>
          </a:ln>
        </p:spPr>
      </p:sp>
      <p:sp>
        <p:nvSpPr>
          <p:cNvPr id="46" name="Text 43"/>
          <p:cNvSpPr/>
          <p:nvPr/>
        </p:nvSpPr>
        <p:spPr>
          <a:xfrm>
            <a:off x="14207728" y="5876925"/>
            <a:ext cx="250100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Personalization delivery</a:t>
            </a:r>
            <a:endParaRPr lang="en-US" sz="1800" dirty="0"/>
          </a:p>
        </p:txBody>
      </p:sp>
      <p:sp>
        <p:nvSpPr>
          <p:cNvPr id="47" name="Shape 44"/>
          <p:cNvSpPr/>
          <p:nvPr/>
        </p:nvSpPr>
        <p:spPr>
          <a:xfrm>
            <a:off x="800100" y="6410325"/>
            <a:ext cx="2801689" cy="542925"/>
          </a:xfrm>
          <a:prstGeom prst="rect">
            <a:avLst/>
          </a:prstGeom>
          <a:ln w="9525">
            <a:solidFill>
              <a:srgbClr val="131313">
                <a:alpha val="20000"/>
              </a:srgbClr>
            </a:solidFill>
            <a:prstDash val="solid"/>
          </a:ln>
        </p:spPr>
      </p:sp>
      <p:sp>
        <p:nvSpPr>
          <p:cNvPr id="48" name="Text 45"/>
          <p:cNvSpPr/>
          <p:nvPr/>
        </p:nvSpPr>
        <p:spPr>
          <a:xfrm>
            <a:off x="1038225" y="6534150"/>
            <a:ext cx="240949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Analytics and reporting</a:t>
            </a:r>
            <a:endParaRPr lang="en-US" sz="1800" dirty="0"/>
          </a:p>
        </p:txBody>
      </p:sp>
      <p:sp>
        <p:nvSpPr>
          <p:cNvPr id="49" name="Shape 46"/>
          <p:cNvSpPr/>
          <p:nvPr/>
        </p:nvSpPr>
        <p:spPr>
          <a:xfrm>
            <a:off x="3716089" y="6410325"/>
            <a:ext cx="2547491" cy="542925"/>
          </a:xfrm>
          <a:prstGeom prst="rect">
            <a:avLst/>
          </a:prstGeom>
          <a:ln w="9525">
            <a:solidFill>
              <a:srgbClr val="131313">
                <a:alpha val="20000"/>
              </a:srgbClr>
            </a:solidFill>
            <a:prstDash val="solid"/>
          </a:ln>
        </p:spPr>
      </p:sp>
      <p:sp>
        <p:nvSpPr>
          <p:cNvPr id="50" name="Text 47"/>
          <p:cNvSpPr/>
          <p:nvPr/>
        </p:nvSpPr>
        <p:spPr>
          <a:xfrm>
            <a:off x="3954214" y="6534150"/>
            <a:ext cx="214766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Campaign activation</a:t>
            </a:r>
            <a:endParaRPr lang="en-US" sz="1800" dirty="0"/>
          </a:p>
        </p:txBody>
      </p:sp>
      <p:sp>
        <p:nvSpPr>
          <p:cNvPr id="51" name="Shape 48"/>
          <p:cNvSpPr/>
          <p:nvPr/>
        </p:nvSpPr>
        <p:spPr>
          <a:xfrm>
            <a:off x="6377880" y="6410325"/>
            <a:ext cx="3754785" cy="542925"/>
          </a:xfrm>
          <a:prstGeom prst="rect">
            <a:avLst/>
          </a:prstGeom>
          <a:ln w="9525">
            <a:solidFill>
              <a:srgbClr val="131313">
                <a:alpha val="20000"/>
              </a:srgbClr>
            </a:solidFill>
            <a:prstDash val="solid"/>
          </a:ln>
        </p:spPr>
      </p:sp>
      <p:sp>
        <p:nvSpPr>
          <p:cNvPr id="52" name="Text 49"/>
          <p:cNvSpPr/>
          <p:nvPr/>
        </p:nvSpPr>
        <p:spPr>
          <a:xfrm>
            <a:off x="6616005" y="6534150"/>
            <a:ext cx="339117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Privacy and governance posture</a:t>
            </a:r>
            <a:endParaRPr lang="en-US" sz="1800" dirty="0"/>
          </a:p>
        </p:txBody>
      </p:sp>
      <p:sp>
        <p:nvSpPr>
          <p:cNvPr id="53" name="Text 50"/>
          <p:cNvSpPr/>
          <p:nvPr/>
        </p:nvSpPr>
        <p:spPr>
          <a:xfrm>
            <a:off x="800100" y="762000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Understanding those dependencies — not operating any one interface — is what constituted advanced knowledge.</a:t>
            </a:r>
            <a:endParaRPr lang="en-US" sz="1800" dirty="0"/>
          </a:p>
        </p:txBody>
      </p:sp>
      <p:sp>
        <p:nvSpPr>
          <p:cNvPr id="54" name="Text 5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55" name="Text 5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56" name="Text 5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26</a:t>
            </a:r>
            <a:endParaRPr lang="en-US" sz="11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Intelligence · scope</a:t>
            </a:r>
            <a:endParaRPr lang="en-US" sz="3900" dirty="0"/>
          </a:p>
        </p:txBody>
      </p:sp>
      <p:sp>
        <p:nvSpPr>
          <p:cNvPr id="5" name="Shape 2"/>
          <p:cNvSpPr/>
          <p:nvPr/>
        </p:nvSpPr>
        <p:spPr>
          <a:xfrm>
            <a:off x="800100" y="2133600"/>
            <a:ext cx="3276600" cy="933450"/>
          </a:xfrm>
          <a:prstGeom prst="rect">
            <a:avLst/>
          </a:prstGeom>
          <a:solidFill>
            <a:srgbClr val="F2F5F6"/>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F2F5F6"/>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F2F5F6"/>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131313"/>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F2F5F6"/>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3771900"/>
          </a:xfrm>
          <a:prstGeom prst="rect">
            <a:avLst/>
          </a:prstGeom>
          <a:solidFill>
            <a:srgbClr val="F2F5F6"/>
          </a:solidFill>
          <a:ln/>
        </p:spPr>
      </p:sp>
      <p:sp>
        <p:nvSpPr>
          <p:cNvPr id="16" name="Shape 13"/>
          <p:cNvSpPr/>
          <p:nvPr/>
        </p:nvSpPr>
        <p:spPr>
          <a:xfrm>
            <a:off x="1257300" y="4038600"/>
            <a:ext cx="5154960" cy="628650"/>
          </a:xfrm>
          <a:prstGeom prst="rect">
            <a:avLst/>
          </a:prstGeom>
          <a:ln w="9525">
            <a:solidFill>
              <a:srgbClr val="131313">
                <a:alpha val="20000"/>
              </a:srgbClr>
            </a:solidFill>
            <a:prstDash val="solid"/>
          </a:ln>
        </p:spPr>
      </p:sp>
      <p:sp>
        <p:nvSpPr>
          <p:cNvPr id="17" name="Text 14"/>
          <p:cNvSpPr/>
          <p:nvPr/>
        </p:nvSpPr>
        <p:spPr>
          <a:xfrm>
            <a:off x="1514475" y="4181475"/>
            <a:ext cx="479525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Adobe Sensei and intelligence services</a:t>
            </a:r>
            <a:endParaRPr lang="en-US" sz="2100" dirty="0"/>
          </a:p>
        </p:txBody>
      </p:sp>
      <p:sp>
        <p:nvSpPr>
          <p:cNvPr id="18" name="Shape 15"/>
          <p:cNvSpPr/>
          <p:nvPr/>
        </p:nvSpPr>
        <p:spPr>
          <a:xfrm>
            <a:off x="6526560" y="4038600"/>
            <a:ext cx="4309467" cy="628650"/>
          </a:xfrm>
          <a:prstGeom prst="rect">
            <a:avLst/>
          </a:prstGeom>
          <a:ln w="9525">
            <a:solidFill>
              <a:srgbClr val="131313">
                <a:alpha val="20000"/>
              </a:srgbClr>
            </a:solidFill>
            <a:prstDash val="solid"/>
          </a:ln>
        </p:spPr>
      </p:sp>
      <p:sp>
        <p:nvSpPr>
          <p:cNvPr id="19" name="Text 16"/>
          <p:cNvSpPr/>
          <p:nvPr/>
        </p:nvSpPr>
        <p:spPr>
          <a:xfrm>
            <a:off x="6783735" y="4181475"/>
            <a:ext cx="3924401"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Predictive attributes and scoring</a:t>
            </a:r>
            <a:endParaRPr lang="en-US" sz="2100" dirty="0"/>
          </a:p>
        </p:txBody>
      </p:sp>
      <p:sp>
        <p:nvSpPr>
          <p:cNvPr id="20" name="Shape 17"/>
          <p:cNvSpPr/>
          <p:nvPr/>
        </p:nvSpPr>
        <p:spPr>
          <a:xfrm>
            <a:off x="1257300" y="4781550"/>
            <a:ext cx="6943725" cy="628650"/>
          </a:xfrm>
          <a:prstGeom prst="rect">
            <a:avLst/>
          </a:prstGeom>
          <a:ln w="9525">
            <a:solidFill>
              <a:srgbClr val="131313">
                <a:alpha val="20000"/>
              </a:srgbClr>
            </a:solidFill>
            <a:prstDash val="solid"/>
          </a:ln>
        </p:spPr>
      </p:sp>
      <p:sp>
        <p:nvSpPr>
          <p:cNvPr id="21" name="Text 18"/>
          <p:cNvSpPr/>
          <p:nvPr/>
        </p:nvSpPr>
        <p:spPr>
          <a:xfrm>
            <a:off x="1514475" y="4924425"/>
            <a:ext cx="6637687"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Query-based analysis against CDP and data-lake data</a:t>
            </a:r>
            <a:endParaRPr lang="en-US" sz="2100" dirty="0"/>
          </a:p>
        </p:txBody>
      </p:sp>
      <p:sp>
        <p:nvSpPr>
          <p:cNvPr id="22" name="Shape 19"/>
          <p:cNvSpPr/>
          <p:nvPr/>
        </p:nvSpPr>
        <p:spPr>
          <a:xfrm>
            <a:off x="8315325" y="4781550"/>
            <a:ext cx="6177707" cy="628650"/>
          </a:xfrm>
          <a:prstGeom prst="rect">
            <a:avLst/>
          </a:prstGeom>
          <a:ln w="9525">
            <a:solidFill>
              <a:srgbClr val="131313">
                <a:alpha val="20000"/>
              </a:srgbClr>
            </a:solidFill>
            <a:prstDash val="solid"/>
          </a:ln>
        </p:spPr>
      </p:sp>
      <p:sp>
        <p:nvSpPr>
          <p:cNvPr id="23" name="Text 20"/>
          <p:cNvSpPr/>
          <p:nvPr/>
        </p:nvSpPr>
        <p:spPr>
          <a:xfrm>
            <a:off x="8572500" y="4924425"/>
            <a:ext cx="5848688"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Data-science and machine-learning enablement</a:t>
            </a:r>
            <a:endParaRPr lang="en-US" sz="2100" dirty="0"/>
          </a:p>
        </p:txBody>
      </p:sp>
      <p:sp>
        <p:nvSpPr>
          <p:cNvPr id="24" name="Shape 21"/>
          <p:cNvSpPr/>
          <p:nvPr/>
        </p:nvSpPr>
        <p:spPr>
          <a:xfrm>
            <a:off x="1257300" y="5524500"/>
            <a:ext cx="6932861" cy="628650"/>
          </a:xfrm>
          <a:prstGeom prst="rect">
            <a:avLst/>
          </a:prstGeom>
          <a:ln w="9525">
            <a:solidFill>
              <a:srgbClr val="131313">
                <a:alpha val="20000"/>
              </a:srgbClr>
            </a:solidFill>
            <a:prstDash val="solid"/>
          </a:ln>
        </p:spPr>
      </p:sp>
      <p:sp>
        <p:nvSpPr>
          <p:cNvPr id="25" name="Text 22"/>
          <p:cNvSpPr/>
          <p:nvPr/>
        </p:nvSpPr>
        <p:spPr>
          <a:xfrm>
            <a:off x="1514475" y="5667375"/>
            <a:ext cx="662649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Enrichment of customer profiles with derived attributes</a:t>
            </a:r>
            <a:endParaRPr lang="en-US" sz="2100" dirty="0"/>
          </a:p>
        </p:txBody>
      </p:sp>
      <p:sp>
        <p:nvSpPr>
          <p:cNvPr id="26" name="Shape 23"/>
          <p:cNvSpPr/>
          <p:nvPr/>
        </p:nvSpPr>
        <p:spPr>
          <a:xfrm>
            <a:off x="1257300" y="6267450"/>
            <a:ext cx="9968508" cy="628650"/>
          </a:xfrm>
          <a:prstGeom prst="rect">
            <a:avLst/>
          </a:prstGeom>
          <a:ln w="9525">
            <a:solidFill>
              <a:srgbClr val="131313">
                <a:alpha val="20000"/>
              </a:srgbClr>
            </a:solidFill>
            <a:prstDash val="solid"/>
          </a:ln>
        </p:spPr>
      </p:sp>
      <p:sp>
        <p:nvSpPr>
          <p:cNvPr id="27" name="Text 24"/>
          <p:cNvSpPr/>
          <p:nvPr/>
        </p:nvSpPr>
        <p:spPr>
          <a:xfrm>
            <a:off x="1514475" y="6410325"/>
            <a:ext cx="975321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Loading data in and out of CDP from data lake, S3 and Snowflake environments</a:t>
            </a:r>
            <a:endParaRPr lang="en-US" sz="2100" dirty="0"/>
          </a:p>
        </p:txBody>
      </p:sp>
      <p:sp>
        <p:nvSpPr>
          <p:cNvPr id="28" name="Text 2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9" name="Text 2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0" name="Text 27"/>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27</a:t>
            </a:r>
            <a:endParaRPr lang="en-US" sz="11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Data Decisioning · measurement and KPI architecture</a:t>
            </a:r>
            <a:endParaRPr lang="en-US" sz="3900" dirty="0"/>
          </a:p>
        </p:txBody>
      </p:sp>
      <p:sp>
        <p:nvSpPr>
          <p:cNvPr id="5" name="Shape 2"/>
          <p:cNvSpPr/>
          <p:nvPr/>
        </p:nvSpPr>
        <p:spPr>
          <a:xfrm>
            <a:off x="800100" y="2133600"/>
            <a:ext cx="3276600" cy="933450"/>
          </a:xfrm>
          <a:prstGeom prst="rect">
            <a:avLst/>
          </a:prstGeom>
          <a:solidFill>
            <a:srgbClr val="F2F5F6"/>
          </a:solidFill>
          <a:ln/>
        </p:spPr>
      </p:sp>
      <p:sp>
        <p:nvSpPr>
          <p:cNvPr id="6" name="Text 3"/>
          <p:cNvSpPr/>
          <p:nvPr/>
        </p:nvSpPr>
        <p:spPr>
          <a:xfrm>
            <a:off x="10096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4152900" y="2133600"/>
            <a:ext cx="3276600" cy="933450"/>
          </a:xfrm>
          <a:prstGeom prst="rect">
            <a:avLst/>
          </a:prstGeom>
          <a:solidFill>
            <a:srgbClr val="F2F5F6"/>
          </a:solidFill>
          <a:ln/>
        </p:spPr>
      </p:sp>
      <p:sp>
        <p:nvSpPr>
          <p:cNvPr id="8" name="Text 5"/>
          <p:cNvSpPr/>
          <p:nvPr/>
        </p:nvSpPr>
        <p:spPr>
          <a:xfrm>
            <a:off x="43624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7505700" y="2133600"/>
            <a:ext cx="3276600" cy="933450"/>
          </a:xfrm>
          <a:prstGeom prst="rect">
            <a:avLst/>
          </a:prstGeom>
          <a:solidFill>
            <a:srgbClr val="F2F5F6"/>
          </a:solidFill>
          <a:ln/>
        </p:spPr>
      </p:sp>
      <p:sp>
        <p:nvSpPr>
          <p:cNvPr id="10" name="Text 7"/>
          <p:cNvSpPr/>
          <p:nvPr/>
        </p:nvSpPr>
        <p:spPr>
          <a:xfrm>
            <a:off x="77152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0858500" y="2133600"/>
            <a:ext cx="3276600" cy="933450"/>
          </a:xfrm>
          <a:prstGeom prst="rect">
            <a:avLst/>
          </a:prstGeom>
          <a:solidFill>
            <a:srgbClr val="F2F5F6"/>
          </a:solidFill>
          <a:ln/>
        </p:spPr>
      </p:sp>
      <p:sp>
        <p:nvSpPr>
          <p:cNvPr id="12" name="Text 9"/>
          <p:cNvSpPr/>
          <p:nvPr/>
        </p:nvSpPr>
        <p:spPr>
          <a:xfrm>
            <a:off x="110680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777777"/>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211300" y="2133600"/>
            <a:ext cx="3276600" cy="933450"/>
          </a:xfrm>
          <a:prstGeom prst="rect">
            <a:avLst/>
          </a:prstGeom>
          <a:solidFill>
            <a:srgbClr val="131313"/>
          </a:solidFill>
          <a:ln/>
        </p:spPr>
      </p:sp>
      <p:sp>
        <p:nvSpPr>
          <p:cNvPr id="14" name="Text 11"/>
          <p:cNvSpPr/>
          <p:nvPr/>
        </p:nvSpPr>
        <p:spPr>
          <a:xfrm>
            <a:off x="14420850" y="2305050"/>
            <a:ext cx="2955798" cy="62865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581400"/>
            <a:ext cx="16687800" cy="4514850"/>
          </a:xfrm>
          <a:prstGeom prst="rect">
            <a:avLst/>
          </a:prstGeom>
          <a:solidFill>
            <a:srgbClr val="F2F5F6"/>
          </a:solidFill>
          <a:ln/>
        </p:spPr>
      </p:sp>
      <p:sp>
        <p:nvSpPr>
          <p:cNvPr id="16" name="Shape 13"/>
          <p:cNvSpPr/>
          <p:nvPr/>
        </p:nvSpPr>
        <p:spPr>
          <a:xfrm>
            <a:off x="1257300" y="4038600"/>
            <a:ext cx="5258544" cy="628650"/>
          </a:xfrm>
          <a:prstGeom prst="rect">
            <a:avLst/>
          </a:prstGeom>
          <a:ln w="9525">
            <a:solidFill>
              <a:srgbClr val="131313">
                <a:alpha val="20000"/>
              </a:srgbClr>
            </a:solidFill>
            <a:prstDash val="solid"/>
          </a:ln>
        </p:spPr>
      </p:sp>
      <p:sp>
        <p:nvSpPr>
          <p:cNvPr id="17" name="Text 14"/>
          <p:cNvSpPr/>
          <p:nvPr/>
        </p:nvSpPr>
        <p:spPr>
          <a:xfrm>
            <a:off x="1514475" y="4181475"/>
            <a:ext cx="490195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Business requirement and KPI definition</a:t>
            </a:r>
            <a:endParaRPr lang="en-US" sz="2100" dirty="0"/>
          </a:p>
        </p:txBody>
      </p:sp>
      <p:sp>
        <p:nvSpPr>
          <p:cNvPr id="18" name="Shape 15"/>
          <p:cNvSpPr/>
          <p:nvPr/>
        </p:nvSpPr>
        <p:spPr>
          <a:xfrm>
            <a:off x="6630144" y="4038600"/>
            <a:ext cx="5362724" cy="628650"/>
          </a:xfrm>
          <a:prstGeom prst="rect">
            <a:avLst/>
          </a:prstGeom>
          <a:ln w="9525">
            <a:solidFill>
              <a:srgbClr val="131313">
                <a:alpha val="20000"/>
              </a:srgbClr>
            </a:solidFill>
            <a:prstDash val="solid"/>
          </a:ln>
        </p:spPr>
      </p:sp>
      <p:sp>
        <p:nvSpPr>
          <p:cNvPr id="19" name="Text 16"/>
          <p:cNvSpPr/>
          <p:nvPr/>
        </p:nvSpPr>
        <p:spPr>
          <a:xfrm>
            <a:off x="6887319" y="4181475"/>
            <a:ext cx="500925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Solution design reference documentation</a:t>
            </a:r>
            <a:endParaRPr lang="en-US" sz="2100" dirty="0"/>
          </a:p>
        </p:txBody>
      </p:sp>
      <p:sp>
        <p:nvSpPr>
          <p:cNvPr id="20" name="Shape 17"/>
          <p:cNvSpPr/>
          <p:nvPr/>
        </p:nvSpPr>
        <p:spPr>
          <a:xfrm>
            <a:off x="1257300" y="4781550"/>
            <a:ext cx="9526786" cy="628650"/>
          </a:xfrm>
          <a:prstGeom prst="rect">
            <a:avLst/>
          </a:prstGeom>
          <a:ln w="9525">
            <a:solidFill>
              <a:srgbClr val="131313">
                <a:alpha val="20000"/>
              </a:srgbClr>
            </a:solidFill>
            <a:prstDash val="solid"/>
          </a:ln>
        </p:spPr>
      </p:sp>
      <p:sp>
        <p:nvSpPr>
          <p:cNvPr id="21" name="Text 18"/>
          <p:cNvSpPr/>
          <p:nvPr/>
        </p:nvSpPr>
        <p:spPr>
          <a:xfrm>
            <a:off x="1514475" y="4924425"/>
            <a:ext cx="929824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Measurement architecture across Analytics and Customer Journey Analytics</a:t>
            </a:r>
            <a:endParaRPr lang="en-US" sz="2100" dirty="0"/>
          </a:p>
        </p:txBody>
      </p:sp>
      <p:sp>
        <p:nvSpPr>
          <p:cNvPr id="22" name="Shape 19"/>
          <p:cNvSpPr/>
          <p:nvPr/>
        </p:nvSpPr>
        <p:spPr>
          <a:xfrm>
            <a:off x="10898386" y="4781550"/>
            <a:ext cx="4557117" cy="628650"/>
          </a:xfrm>
          <a:prstGeom prst="rect">
            <a:avLst/>
          </a:prstGeom>
          <a:ln w="9525">
            <a:solidFill>
              <a:srgbClr val="131313">
                <a:alpha val="20000"/>
              </a:srgbClr>
            </a:solidFill>
            <a:prstDash val="solid"/>
          </a:ln>
        </p:spPr>
      </p:sp>
      <p:sp>
        <p:nvSpPr>
          <p:cNvPr id="23" name="Text 20"/>
          <p:cNvSpPr/>
          <p:nvPr/>
        </p:nvSpPr>
        <p:spPr>
          <a:xfrm>
            <a:off x="11155561" y="4924425"/>
            <a:ext cx="4179481"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Workspace and dashboard design</a:t>
            </a:r>
            <a:endParaRPr lang="en-US" sz="2100" dirty="0"/>
          </a:p>
        </p:txBody>
      </p:sp>
      <p:sp>
        <p:nvSpPr>
          <p:cNvPr id="24" name="Shape 21"/>
          <p:cNvSpPr/>
          <p:nvPr/>
        </p:nvSpPr>
        <p:spPr>
          <a:xfrm>
            <a:off x="1257300" y="5524500"/>
            <a:ext cx="4665315" cy="628650"/>
          </a:xfrm>
          <a:prstGeom prst="rect">
            <a:avLst/>
          </a:prstGeom>
          <a:ln w="9525">
            <a:solidFill>
              <a:srgbClr val="131313">
                <a:alpha val="20000"/>
              </a:srgbClr>
            </a:solidFill>
            <a:prstDash val="solid"/>
          </a:ln>
        </p:spPr>
      </p:sp>
      <p:sp>
        <p:nvSpPr>
          <p:cNvPr id="25" name="Text 22"/>
          <p:cNvSpPr/>
          <p:nvPr/>
        </p:nvSpPr>
        <p:spPr>
          <a:xfrm>
            <a:off x="1514475" y="5667375"/>
            <a:ext cx="4290925"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Multi-tenant analytics and reporting</a:t>
            </a:r>
            <a:endParaRPr lang="en-US" sz="2100" dirty="0"/>
          </a:p>
        </p:txBody>
      </p:sp>
      <p:sp>
        <p:nvSpPr>
          <p:cNvPr id="26" name="Shape 23"/>
          <p:cNvSpPr/>
          <p:nvPr/>
        </p:nvSpPr>
        <p:spPr>
          <a:xfrm>
            <a:off x="6036915" y="5524500"/>
            <a:ext cx="5288012" cy="628650"/>
          </a:xfrm>
          <a:prstGeom prst="rect">
            <a:avLst/>
          </a:prstGeom>
          <a:ln w="9525">
            <a:solidFill>
              <a:srgbClr val="131313">
                <a:alpha val="20000"/>
              </a:srgbClr>
            </a:solidFill>
            <a:prstDash val="solid"/>
          </a:ln>
        </p:spPr>
      </p:sp>
      <p:sp>
        <p:nvSpPr>
          <p:cNvPr id="27" name="Text 24"/>
          <p:cNvSpPr/>
          <p:nvPr/>
        </p:nvSpPr>
        <p:spPr>
          <a:xfrm>
            <a:off x="6294090" y="5667375"/>
            <a:ext cx="4932302"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Campaign and acquisition measurement</a:t>
            </a:r>
            <a:endParaRPr lang="en-US" sz="2100" dirty="0"/>
          </a:p>
        </p:txBody>
      </p:sp>
      <p:sp>
        <p:nvSpPr>
          <p:cNvPr id="28" name="Shape 25"/>
          <p:cNvSpPr/>
          <p:nvPr/>
        </p:nvSpPr>
        <p:spPr>
          <a:xfrm>
            <a:off x="1257300" y="6267450"/>
            <a:ext cx="7867204" cy="628650"/>
          </a:xfrm>
          <a:prstGeom prst="rect">
            <a:avLst/>
          </a:prstGeom>
          <a:ln w="9525">
            <a:solidFill>
              <a:srgbClr val="131313">
                <a:alpha val="20000"/>
              </a:srgbClr>
            </a:solidFill>
            <a:prstDash val="solid"/>
          </a:ln>
        </p:spPr>
      </p:sp>
      <p:sp>
        <p:nvSpPr>
          <p:cNvPr id="29" name="Text 26"/>
          <p:cNvSpPr/>
          <p:nvPr/>
        </p:nvSpPr>
        <p:spPr>
          <a:xfrm>
            <a:off x="1514475" y="6410325"/>
            <a:ext cx="7588870"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Paid-media measurement and return-on-investment attribution</a:t>
            </a:r>
            <a:endParaRPr lang="en-US" sz="2100" dirty="0"/>
          </a:p>
        </p:txBody>
      </p:sp>
      <p:sp>
        <p:nvSpPr>
          <p:cNvPr id="30" name="Shape 27"/>
          <p:cNvSpPr/>
          <p:nvPr/>
        </p:nvSpPr>
        <p:spPr>
          <a:xfrm>
            <a:off x="9238804" y="6267450"/>
            <a:ext cx="5792093" cy="628650"/>
          </a:xfrm>
          <a:prstGeom prst="rect">
            <a:avLst/>
          </a:prstGeom>
          <a:ln w="9525">
            <a:solidFill>
              <a:srgbClr val="131313">
                <a:alpha val="20000"/>
              </a:srgbClr>
            </a:solidFill>
            <a:prstDash val="solid"/>
          </a:ln>
        </p:spPr>
      </p:sp>
      <p:sp>
        <p:nvSpPr>
          <p:cNvPr id="31" name="Text 28"/>
          <p:cNvSpPr/>
          <p:nvPr/>
        </p:nvSpPr>
        <p:spPr>
          <a:xfrm>
            <a:off x="9495979" y="6410325"/>
            <a:ext cx="5451506"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Reporting automation through analytics APIs</a:t>
            </a:r>
            <a:endParaRPr lang="en-US" sz="2100" dirty="0"/>
          </a:p>
        </p:txBody>
      </p:sp>
      <p:sp>
        <p:nvSpPr>
          <p:cNvPr id="32" name="Shape 29"/>
          <p:cNvSpPr/>
          <p:nvPr/>
        </p:nvSpPr>
        <p:spPr>
          <a:xfrm>
            <a:off x="1257300" y="7010400"/>
            <a:ext cx="3790950" cy="628650"/>
          </a:xfrm>
          <a:prstGeom prst="rect">
            <a:avLst/>
          </a:prstGeom>
          <a:ln w="9525">
            <a:solidFill>
              <a:srgbClr val="131313">
                <a:alpha val="20000"/>
              </a:srgbClr>
            </a:solidFill>
            <a:prstDash val="solid"/>
          </a:ln>
        </p:spPr>
      </p:sp>
      <p:sp>
        <p:nvSpPr>
          <p:cNvPr id="33" name="Text 30"/>
          <p:cNvSpPr/>
          <p:nvPr/>
        </p:nvSpPr>
        <p:spPr>
          <a:xfrm>
            <a:off x="1514475" y="7153275"/>
            <a:ext cx="339032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131313"/>
                </a:solidFill>
                <a:latin typeface="Arial" pitchFamily="34" charset="0"/>
                <a:ea typeface="Arial" pitchFamily="34" charset="-122"/>
                <a:cs typeface="Arial" pitchFamily="34" charset="-120"/>
              </a:rPr>
              <a:t>Governance documentation</a:t>
            </a:r>
            <a:endParaRPr lang="en-US" sz="2100" dirty="0"/>
          </a:p>
        </p:txBody>
      </p:sp>
      <p:sp>
        <p:nvSpPr>
          <p:cNvPr id="34" name="Text 31"/>
          <p:cNvSpPr/>
          <p:nvPr/>
        </p:nvSpPr>
        <p:spPr>
          <a:xfrm>
            <a:off x="800100" y="843915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Ascent’s packaged offerings committed to a defined scope of key business requirements and workspace reports within a fixed price and timeline. Measurement architecture had to be correct at design time; there was no commercial provision for rebuilding it later.</a:t>
            </a:r>
            <a:endParaRPr lang="en-US" sz="1800" dirty="0"/>
          </a:p>
        </p:txBody>
      </p:sp>
      <p:sp>
        <p:nvSpPr>
          <p:cNvPr id="35" name="Text 32"/>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6" name="Text 33"/>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7" name="Text 34"/>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28</a:t>
            </a:r>
            <a:endParaRPr lang="en-US" sz="11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Integration architecture · the connective layer</a:t>
            </a:r>
            <a:endParaRPr lang="en-US" sz="3900" dirty="0"/>
          </a:p>
        </p:txBody>
      </p:sp>
      <p:sp>
        <p:nvSpPr>
          <p:cNvPr id="5" name="Shape 2"/>
          <p:cNvSpPr/>
          <p:nvPr/>
        </p:nvSpPr>
        <p:spPr>
          <a:xfrm>
            <a:off x="800100" y="2247900"/>
            <a:ext cx="5460950" cy="2209800"/>
          </a:xfrm>
          <a:prstGeom prst="rect">
            <a:avLst/>
          </a:prstGeom>
          <a:solidFill>
            <a:srgbClr val="F2F5F6"/>
          </a:solidFill>
          <a:ln/>
        </p:spPr>
      </p:sp>
      <p:sp>
        <p:nvSpPr>
          <p:cNvPr id="6" name="Text 3"/>
          <p:cNvSpPr/>
          <p:nvPr/>
        </p:nvSpPr>
        <p:spPr>
          <a:xfrm>
            <a:off x="1104900" y="25527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API and automation development</a:t>
            </a:r>
            <a:endParaRPr lang="en-US" sz="2100" dirty="0"/>
          </a:p>
        </p:txBody>
      </p:sp>
      <p:sp>
        <p:nvSpPr>
          <p:cNvPr id="7" name="Shape 4"/>
          <p:cNvSpPr/>
          <p:nvPr/>
        </p:nvSpPr>
        <p:spPr>
          <a:xfrm>
            <a:off x="6413450" y="2247900"/>
            <a:ext cx="5460950" cy="2209800"/>
          </a:xfrm>
          <a:prstGeom prst="rect">
            <a:avLst/>
          </a:prstGeom>
          <a:solidFill>
            <a:srgbClr val="F2F5F6"/>
          </a:solidFill>
          <a:ln/>
        </p:spPr>
      </p:sp>
      <p:sp>
        <p:nvSpPr>
          <p:cNvPr id="8" name="Text 5"/>
          <p:cNvSpPr/>
          <p:nvPr/>
        </p:nvSpPr>
        <p:spPr>
          <a:xfrm>
            <a:off x="6718250" y="25527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Real-time integrations across the Adobe suite</a:t>
            </a:r>
            <a:endParaRPr lang="en-US" sz="2100" dirty="0"/>
          </a:p>
        </p:txBody>
      </p:sp>
      <p:sp>
        <p:nvSpPr>
          <p:cNvPr id="9" name="Shape 6"/>
          <p:cNvSpPr/>
          <p:nvPr/>
        </p:nvSpPr>
        <p:spPr>
          <a:xfrm>
            <a:off x="12026801" y="2247900"/>
            <a:ext cx="5461099" cy="2209800"/>
          </a:xfrm>
          <a:prstGeom prst="rect">
            <a:avLst/>
          </a:prstGeom>
          <a:solidFill>
            <a:srgbClr val="F2F5F6"/>
          </a:solidFill>
          <a:ln/>
        </p:spPr>
      </p:sp>
      <p:sp>
        <p:nvSpPr>
          <p:cNvPr id="10" name="Text 7"/>
          <p:cNvSpPr/>
          <p:nvPr/>
        </p:nvSpPr>
        <p:spPr>
          <a:xfrm>
            <a:off x="12331601" y="2552700"/>
            <a:ext cx="5015332"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Marketing Data Stack integration</a:t>
            </a:r>
            <a:endParaRPr lang="en-US" sz="2100" dirty="0"/>
          </a:p>
        </p:txBody>
      </p:sp>
      <p:sp>
        <p:nvSpPr>
          <p:cNvPr id="11" name="Shape 8"/>
          <p:cNvSpPr/>
          <p:nvPr/>
        </p:nvSpPr>
        <p:spPr>
          <a:xfrm>
            <a:off x="800100" y="4610100"/>
            <a:ext cx="5460950" cy="2209800"/>
          </a:xfrm>
          <a:prstGeom prst="rect">
            <a:avLst/>
          </a:prstGeom>
          <a:solidFill>
            <a:srgbClr val="F2F5F6"/>
          </a:solidFill>
          <a:ln/>
        </p:spPr>
      </p:sp>
      <p:sp>
        <p:nvSpPr>
          <p:cNvPr id="12" name="Text 9"/>
          <p:cNvSpPr/>
          <p:nvPr/>
        </p:nvSpPr>
        <p:spPr>
          <a:xfrm>
            <a:off x="1104900" y="49149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Third-party tool integration and security assessment</a:t>
            </a:r>
            <a:endParaRPr lang="en-US" sz="2100" dirty="0"/>
          </a:p>
        </p:txBody>
      </p:sp>
      <p:sp>
        <p:nvSpPr>
          <p:cNvPr id="13" name="Shape 10"/>
          <p:cNvSpPr/>
          <p:nvPr/>
        </p:nvSpPr>
        <p:spPr>
          <a:xfrm>
            <a:off x="6413450" y="4610100"/>
            <a:ext cx="5460950" cy="2209800"/>
          </a:xfrm>
          <a:prstGeom prst="rect">
            <a:avLst/>
          </a:prstGeom>
          <a:solidFill>
            <a:srgbClr val="131313"/>
          </a:solidFill>
          <a:ln/>
        </p:spPr>
      </p:sp>
      <p:sp>
        <p:nvSpPr>
          <p:cNvPr id="14" name="Text 11"/>
          <p:cNvSpPr/>
          <p:nvPr/>
        </p:nvSpPr>
        <p:spPr>
          <a:xfrm>
            <a:off x="8646468" y="5324475"/>
            <a:ext cx="994916" cy="285750"/>
          </a:xfrm>
          <a:prstGeom prst="rect">
            <a:avLst/>
          </a:prstGeom>
          <a:noFill/>
          <a:ln/>
        </p:spPr>
        <p:txBody>
          <a:bodyPr wrap="square" lIns="25400" tIns="25400" rIns="25400" bIns="25400" rtlCol="0" anchor="t">
            <a:normAutofit/>
          </a:bodyPr>
          <a:lstStyle/>
          <a:p>
            <a:pPr algn="ctr" indent="0" marL="0">
              <a:buNone/>
            </a:pPr>
            <a:r>
              <a:rPr lang="en-US" sz="1650" b="1" spc="75" kern="0" dirty="0">
                <a:solidFill>
                  <a:srgbClr val="FF532C"/>
                </a:solidFill>
                <a:latin typeface="Arial" pitchFamily="34" charset="0"/>
                <a:ea typeface="Arial" pitchFamily="34" charset="-122"/>
                <a:cs typeface="Arial" pitchFamily="34" charset="-120"/>
              </a:rPr>
              <a:t>ASCENT</a:t>
            </a:r>
            <a:endParaRPr lang="en-US" sz="1650" dirty="0"/>
          </a:p>
        </p:txBody>
      </p:sp>
      <p:sp>
        <p:nvSpPr>
          <p:cNvPr id="15" name="Text 12"/>
          <p:cNvSpPr/>
          <p:nvPr/>
        </p:nvSpPr>
        <p:spPr>
          <a:xfrm>
            <a:off x="7321748" y="5724525"/>
            <a:ext cx="3644205" cy="419100"/>
          </a:xfrm>
          <a:prstGeom prst="rect">
            <a:avLst/>
          </a:prstGeom>
          <a:noFill/>
          <a:ln/>
        </p:spPr>
        <p:txBody>
          <a:bodyPr wrap="square" lIns="25400" tIns="25400" rIns="25400" bIns="25400" rtlCol="0" anchor="t">
            <a:normAutofit/>
          </a:bodyPr>
          <a:lstStyle/>
          <a:p>
            <a:pPr algn="ctr" indent="0" marL="0">
              <a:lnSpc>
                <a:spcPct val="108108"/>
              </a:lnSpc>
              <a:buNone/>
            </a:pPr>
            <a:r>
              <a:rPr lang="en-US" sz="2400" b="1" spc="-30" kern="0" dirty="0">
                <a:solidFill>
                  <a:srgbClr val="FFFFFF"/>
                </a:solidFill>
                <a:latin typeface="Arial" pitchFamily="34" charset="0"/>
                <a:ea typeface="Arial" pitchFamily="34" charset="-122"/>
                <a:cs typeface="Arial" pitchFamily="34" charset="-120"/>
              </a:rPr>
              <a:t>Integration architecture</a:t>
            </a:r>
            <a:endParaRPr lang="en-US" sz="2400" dirty="0"/>
          </a:p>
        </p:txBody>
      </p:sp>
      <p:sp>
        <p:nvSpPr>
          <p:cNvPr id="16" name="Shape 13"/>
          <p:cNvSpPr/>
          <p:nvPr/>
        </p:nvSpPr>
        <p:spPr>
          <a:xfrm>
            <a:off x="12026801" y="4610100"/>
            <a:ext cx="5461099" cy="2209800"/>
          </a:xfrm>
          <a:prstGeom prst="rect">
            <a:avLst/>
          </a:prstGeom>
          <a:solidFill>
            <a:srgbClr val="F2F5F6"/>
          </a:solidFill>
          <a:ln/>
        </p:spPr>
      </p:sp>
      <p:sp>
        <p:nvSpPr>
          <p:cNvPr id="17" name="Text 14"/>
          <p:cNvSpPr/>
          <p:nvPr/>
        </p:nvSpPr>
        <p:spPr>
          <a:xfrm>
            <a:off x="12331601" y="4914900"/>
            <a:ext cx="5015332"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Continuous integration and build/test automation</a:t>
            </a:r>
            <a:endParaRPr lang="en-US" sz="2100" dirty="0"/>
          </a:p>
        </p:txBody>
      </p:sp>
      <p:sp>
        <p:nvSpPr>
          <p:cNvPr id="18" name="Shape 15"/>
          <p:cNvSpPr/>
          <p:nvPr/>
        </p:nvSpPr>
        <p:spPr>
          <a:xfrm>
            <a:off x="800100" y="6972300"/>
            <a:ext cx="5460950" cy="2209800"/>
          </a:xfrm>
          <a:prstGeom prst="rect">
            <a:avLst/>
          </a:prstGeom>
          <a:solidFill>
            <a:srgbClr val="F2F5F6"/>
          </a:solidFill>
          <a:ln/>
        </p:spPr>
      </p:sp>
      <p:sp>
        <p:nvSpPr>
          <p:cNvPr id="19" name="Text 16"/>
          <p:cNvSpPr/>
          <p:nvPr/>
        </p:nvSpPr>
        <p:spPr>
          <a:xfrm>
            <a:off x="1104900" y="72771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Deployment and environment configuration</a:t>
            </a:r>
            <a:endParaRPr lang="en-US" sz="2100" dirty="0"/>
          </a:p>
        </p:txBody>
      </p:sp>
      <p:sp>
        <p:nvSpPr>
          <p:cNvPr id="20" name="Shape 17"/>
          <p:cNvSpPr/>
          <p:nvPr/>
        </p:nvSpPr>
        <p:spPr>
          <a:xfrm>
            <a:off x="6413450" y="6972300"/>
            <a:ext cx="5460950" cy="2209800"/>
          </a:xfrm>
          <a:prstGeom prst="rect">
            <a:avLst/>
          </a:prstGeom>
          <a:solidFill>
            <a:srgbClr val="F2F5F6"/>
          </a:solidFill>
          <a:ln/>
        </p:spPr>
      </p:sp>
      <p:sp>
        <p:nvSpPr>
          <p:cNvPr id="21" name="Text 18"/>
          <p:cNvSpPr/>
          <p:nvPr/>
        </p:nvSpPr>
        <p:spPr>
          <a:xfrm>
            <a:off x="6718250" y="7277100"/>
            <a:ext cx="5015179"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Repository layout, server architecture and communications frameworks</a:t>
            </a:r>
            <a:endParaRPr lang="en-US" sz="2100" dirty="0"/>
          </a:p>
        </p:txBody>
      </p:sp>
      <p:sp>
        <p:nvSpPr>
          <p:cNvPr id="22" name="Shape 19"/>
          <p:cNvSpPr/>
          <p:nvPr/>
        </p:nvSpPr>
        <p:spPr>
          <a:xfrm>
            <a:off x="12026801" y="6972300"/>
            <a:ext cx="5461099" cy="2209800"/>
          </a:xfrm>
          <a:prstGeom prst="rect">
            <a:avLst/>
          </a:prstGeom>
          <a:solidFill>
            <a:srgbClr val="F2F5F6"/>
          </a:solidFill>
          <a:ln/>
        </p:spPr>
      </p:sp>
      <p:sp>
        <p:nvSpPr>
          <p:cNvPr id="23" name="Text 20"/>
          <p:cNvSpPr/>
          <p:nvPr/>
        </p:nvSpPr>
        <p:spPr>
          <a:xfrm>
            <a:off x="12331601" y="7277100"/>
            <a:ext cx="5015332" cy="1638300"/>
          </a:xfrm>
          <a:prstGeom prst="rect">
            <a:avLst/>
          </a:prstGeom>
          <a:noFill/>
          <a:ln/>
        </p:spPr>
        <p:txBody>
          <a:bodyPr wrap="square" lIns="25400" tIns="25400" rIns="25400" bIns="25400" rtlCol="0" anchor="ctr">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Performance and security considerations</a:t>
            </a:r>
            <a:endParaRPr lang="en-US" sz="2100" dirty="0"/>
          </a:p>
        </p:txBody>
      </p:sp>
      <p:sp>
        <p:nvSpPr>
          <p:cNvPr id="24" name="Text 2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5" name="Text 2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6" name="Text 2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29</a:t>
            </a:r>
            <a:endParaRPr lang="en-US" sz="11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Cross-system dependency map</a:t>
            </a:r>
            <a:endParaRPr lang="en-US" sz="3900" dirty="0"/>
          </a:p>
        </p:txBody>
      </p:sp>
      <p:sp>
        <p:nvSpPr>
          <p:cNvPr id="5" name="Shape 2"/>
          <p:cNvSpPr/>
          <p:nvPr/>
        </p:nvSpPr>
        <p:spPr>
          <a:xfrm>
            <a:off x="3733800" y="2133600"/>
            <a:ext cx="2689771" cy="990600"/>
          </a:xfrm>
          <a:prstGeom prst="rect">
            <a:avLst/>
          </a:prstGeom>
          <a:solidFill>
            <a:srgbClr val="131313"/>
          </a:solidFill>
          <a:ln/>
        </p:spPr>
      </p:sp>
      <p:sp>
        <p:nvSpPr>
          <p:cNvPr id="6" name="Text 3"/>
          <p:cNvSpPr/>
          <p:nvPr/>
        </p:nvSpPr>
        <p:spPr>
          <a:xfrm>
            <a:off x="3943350" y="2324100"/>
            <a:ext cx="2351364"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Capture</a:t>
            </a:r>
            <a:endParaRPr lang="en-US" sz="1800" dirty="0"/>
          </a:p>
        </p:txBody>
      </p:sp>
      <p:sp>
        <p:nvSpPr>
          <p:cNvPr id="7" name="Shape 4"/>
          <p:cNvSpPr/>
          <p:nvPr/>
        </p:nvSpPr>
        <p:spPr>
          <a:xfrm>
            <a:off x="6499771" y="2133600"/>
            <a:ext cx="2689920" cy="990600"/>
          </a:xfrm>
          <a:prstGeom prst="rect">
            <a:avLst/>
          </a:prstGeom>
          <a:solidFill>
            <a:srgbClr val="131313"/>
          </a:solidFill>
          <a:ln/>
        </p:spPr>
      </p:sp>
      <p:sp>
        <p:nvSpPr>
          <p:cNvPr id="8" name="Text 5"/>
          <p:cNvSpPr/>
          <p:nvPr/>
        </p:nvSpPr>
        <p:spPr>
          <a:xfrm>
            <a:off x="6709321" y="2324100"/>
            <a:ext cx="2351517"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Management &amp; Profiling</a:t>
            </a:r>
            <a:endParaRPr lang="en-US" sz="1800" dirty="0"/>
          </a:p>
        </p:txBody>
      </p:sp>
      <p:sp>
        <p:nvSpPr>
          <p:cNvPr id="9" name="Shape 6"/>
          <p:cNvSpPr/>
          <p:nvPr/>
        </p:nvSpPr>
        <p:spPr>
          <a:xfrm>
            <a:off x="9265890" y="2133600"/>
            <a:ext cx="2689771" cy="990600"/>
          </a:xfrm>
          <a:prstGeom prst="rect">
            <a:avLst/>
          </a:prstGeom>
          <a:solidFill>
            <a:srgbClr val="131313"/>
          </a:solidFill>
          <a:ln/>
        </p:spPr>
      </p:sp>
      <p:sp>
        <p:nvSpPr>
          <p:cNvPr id="10" name="Text 7"/>
          <p:cNvSpPr/>
          <p:nvPr/>
        </p:nvSpPr>
        <p:spPr>
          <a:xfrm>
            <a:off x="9475440" y="2324100"/>
            <a:ext cx="2351364"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Activation</a:t>
            </a:r>
            <a:endParaRPr lang="en-US" sz="1800" dirty="0"/>
          </a:p>
        </p:txBody>
      </p:sp>
      <p:sp>
        <p:nvSpPr>
          <p:cNvPr id="11" name="Shape 8"/>
          <p:cNvSpPr/>
          <p:nvPr/>
        </p:nvSpPr>
        <p:spPr>
          <a:xfrm>
            <a:off x="12031861" y="2133600"/>
            <a:ext cx="2689920" cy="990600"/>
          </a:xfrm>
          <a:prstGeom prst="rect">
            <a:avLst/>
          </a:prstGeom>
          <a:solidFill>
            <a:srgbClr val="131313"/>
          </a:solidFill>
          <a:ln/>
        </p:spPr>
      </p:sp>
      <p:sp>
        <p:nvSpPr>
          <p:cNvPr id="12" name="Text 9"/>
          <p:cNvSpPr/>
          <p:nvPr/>
        </p:nvSpPr>
        <p:spPr>
          <a:xfrm>
            <a:off x="12241411" y="2324100"/>
            <a:ext cx="2351517"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Intelligence</a:t>
            </a:r>
            <a:endParaRPr lang="en-US" sz="1800" dirty="0"/>
          </a:p>
        </p:txBody>
      </p:sp>
      <p:sp>
        <p:nvSpPr>
          <p:cNvPr id="13" name="Shape 10"/>
          <p:cNvSpPr/>
          <p:nvPr/>
        </p:nvSpPr>
        <p:spPr>
          <a:xfrm>
            <a:off x="14797980" y="2133600"/>
            <a:ext cx="2689771" cy="990600"/>
          </a:xfrm>
          <a:prstGeom prst="rect">
            <a:avLst/>
          </a:prstGeom>
          <a:solidFill>
            <a:srgbClr val="131313"/>
          </a:solidFill>
          <a:ln/>
        </p:spPr>
      </p:sp>
      <p:sp>
        <p:nvSpPr>
          <p:cNvPr id="14" name="Text 11"/>
          <p:cNvSpPr/>
          <p:nvPr/>
        </p:nvSpPr>
        <p:spPr>
          <a:xfrm>
            <a:off x="15007530" y="2324100"/>
            <a:ext cx="2351364" cy="64770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 Decisioning</a:t>
            </a:r>
            <a:endParaRPr lang="en-US" sz="1800" dirty="0"/>
          </a:p>
        </p:txBody>
      </p:sp>
      <p:sp>
        <p:nvSpPr>
          <p:cNvPr id="15" name="Shape 12"/>
          <p:cNvSpPr/>
          <p:nvPr/>
        </p:nvSpPr>
        <p:spPr>
          <a:xfrm>
            <a:off x="800100" y="3200400"/>
            <a:ext cx="2857500" cy="1733550"/>
          </a:xfrm>
          <a:prstGeom prst="rect">
            <a:avLst/>
          </a:prstGeom>
          <a:solidFill>
            <a:srgbClr val="F2F5F6"/>
          </a:solidFill>
          <a:ln/>
        </p:spPr>
      </p:sp>
      <p:sp>
        <p:nvSpPr>
          <p:cNvPr id="16" name="Text 13"/>
          <p:cNvSpPr/>
          <p:nvPr/>
        </p:nvSpPr>
        <p:spPr>
          <a:xfrm>
            <a:off x="1009650" y="3390900"/>
            <a:ext cx="2524125" cy="139065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131313"/>
                </a:solidFill>
                <a:latin typeface="Arial" pitchFamily="34" charset="0"/>
                <a:ea typeface="Arial" pitchFamily="34" charset="-122"/>
                <a:cs typeface="Arial" pitchFamily="34" charset="-120"/>
              </a:rPr>
              <a:t>eCommerce AEM Web Application</a:t>
            </a:r>
            <a:endParaRPr lang="en-US" sz="1800" dirty="0"/>
          </a:p>
        </p:txBody>
      </p:sp>
      <p:sp>
        <p:nvSpPr>
          <p:cNvPr id="17" name="Shape 14"/>
          <p:cNvSpPr/>
          <p:nvPr/>
        </p:nvSpPr>
        <p:spPr>
          <a:xfrm>
            <a:off x="3733800" y="3200400"/>
            <a:ext cx="2689771" cy="1733550"/>
          </a:xfrm>
          <a:prstGeom prst="rect">
            <a:avLst/>
          </a:prstGeom>
          <a:ln w="9525">
            <a:solidFill>
              <a:srgbClr val="131313">
                <a:alpha val="14000"/>
              </a:srgbClr>
            </a:solidFill>
            <a:prstDash val="solid"/>
          </a:ln>
        </p:spPr>
      </p:sp>
      <p:sp>
        <p:nvSpPr>
          <p:cNvPr id="18" name="Shape 15"/>
          <p:cNvSpPr/>
          <p:nvPr/>
        </p:nvSpPr>
        <p:spPr>
          <a:xfrm>
            <a:off x="6499771" y="3200400"/>
            <a:ext cx="2689920" cy="1733550"/>
          </a:xfrm>
          <a:prstGeom prst="rect">
            <a:avLst/>
          </a:prstGeom>
          <a:ln w="9525">
            <a:solidFill>
              <a:srgbClr val="131313">
                <a:alpha val="14000"/>
              </a:srgbClr>
            </a:solidFill>
            <a:prstDash val="solid"/>
          </a:ln>
        </p:spPr>
      </p:sp>
      <p:sp>
        <p:nvSpPr>
          <p:cNvPr id="19" name="Shape 16"/>
          <p:cNvSpPr/>
          <p:nvPr/>
        </p:nvSpPr>
        <p:spPr>
          <a:xfrm>
            <a:off x="9265890" y="3200400"/>
            <a:ext cx="2689771" cy="1733550"/>
          </a:xfrm>
          <a:prstGeom prst="rect">
            <a:avLst/>
          </a:prstGeom>
          <a:ln w="9525">
            <a:solidFill>
              <a:srgbClr val="131313">
                <a:alpha val="14000"/>
              </a:srgbClr>
            </a:solidFill>
            <a:prstDash val="solid"/>
          </a:ln>
        </p:spPr>
      </p:sp>
      <p:sp>
        <p:nvSpPr>
          <p:cNvPr id="20" name="Shape 17"/>
          <p:cNvSpPr/>
          <p:nvPr/>
        </p:nvSpPr>
        <p:spPr>
          <a:xfrm>
            <a:off x="12031861" y="3200400"/>
            <a:ext cx="2689920" cy="1733550"/>
          </a:xfrm>
          <a:prstGeom prst="rect">
            <a:avLst/>
          </a:prstGeom>
          <a:ln w="9525">
            <a:solidFill>
              <a:srgbClr val="131313">
                <a:alpha val="14000"/>
              </a:srgbClr>
            </a:solidFill>
            <a:prstDash val="solid"/>
          </a:ln>
        </p:spPr>
      </p:sp>
      <p:sp>
        <p:nvSpPr>
          <p:cNvPr id="21" name="Shape 18"/>
          <p:cNvSpPr/>
          <p:nvPr/>
        </p:nvSpPr>
        <p:spPr>
          <a:xfrm>
            <a:off x="14797980" y="3200400"/>
            <a:ext cx="2689771" cy="1733550"/>
          </a:xfrm>
          <a:prstGeom prst="rect">
            <a:avLst/>
          </a:prstGeom>
          <a:ln w="9525">
            <a:solidFill>
              <a:srgbClr val="131313">
                <a:alpha val="14000"/>
              </a:srgbClr>
            </a:solidFill>
            <a:prstDash val="solid"/>
          </a:ln>
        </p:spPr>
      </p:sp>
      <p:sp>
        <p:nvSpPr>
          <p:cNvPr id="22" name="Shape 19"/>
          <p:cNvSpPr/>
          <p:nvPr/>
        </p:nvSpPr>
        <p:spPr>
          <a:xfrm>
            <a:off x="800100" y="5010150"/>
            <a:ext cx="2857500" cy="1733550"/>
          </a:xfrm>
          <a:prstGeom prst="rect">
            <a:avLst/>
          </a:prstGeom>
          <a:solidFill>
            <a:srgbClr val="F2F5F6"/>
          </a:solidFill>
          <a:ln/>
        </p:spPr>
      </p:sp>
      <p:sp>
        <p:nvSpPr>
          <p:cNvPr id="23" name="Text 20"/>
          <p:cNvSpPr/>
          <p:nvPr/>
        </p:nvSpPr>
        <p:spPr>
          <a:xfrm>
            <a:off x="1009650" y="5200650"/>
            <a:ext cx="2524125" cy="139065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131313"/>
                </a:solidFill>
                <a:latin typeface="Arial" pitchFamily="34" charset="0"/>
                <a:ea typeface="Arial" pitchFamily="34" charset="-122"/>
                <a:cs typeface="Arial" pitchFamily="34" charset="-120"/>
              </a:rPr>
              <a:t>eCommerce Connector</a:t>
            </a:r>
            <a:endParaRPr lang="en-US" sz="1800" dirty="0"/>
          </a:p>
        </p:txBody>
      </p:sp>
      <p:sp>
        <p:nvSpPr>
          <p:cNvPr id="24" name="Shape 21"/>
          <p:cNvSpPr/>
          <p:nvPr/>
        </p:nvSpPr>
        <p:spPr>
          <a:xfrm>
            <a:off x="3733800" y="5010150"/>
            <a:ext cx="2689771" cy="1733550"/>
          </a:xfrm>
          <a:prstGeom prst="rect">
            <a:avLst/>
          </a:prstGeom>
          <a:ln w="9525">
            <a:solidFill>
              <a:srgbClr val="131313">
                <a:alpha val="14000"/>
              </a:srgbClr>
            </a:solidFill>
            <a:prstDash val="solid"/>
          </a:ln>
        </p:spPr>
      </p:sp>
      <p:sp>
        <p:nvSpPr>
          <p:cNvPr id="25" name="Shape 22"/>
          <p:cNvSpPr/>
          <p:nvPr/>
        </p:nvSpPr>
        <p:spPr>
          <a:xfrm>
            <a:off x="6499771" y="5010150"/>
            <a:ext cx="2689920" cy="1733550"/>
          </a:xfrm>
          <a:prstGeom prst="rect">
            <a:avLst/>
          </a:prstGeom>
          <a:ln w="9525">
            <a:solidFill>
              <a:srgbClr val="131313">
                <a:alpha val="14000"/>
              </a:srgbClr>
            </a:solidFill>
            <a:prstDash val="solid"/>
          </a:ln>
        </p:spPr>
      </p:sp>
      <p:sp>
        <p:nvSpPr>
          <p:cNvPr id="26" name="Shape 23"/>
          <p:cNvSpPr/>
          <p:nvPr/>
        </p:nvSpPr>
        <p:spPr>
          <a:xfrm>
            <a:off x="9265890" y="5010150"/>
            <a:ext cx="2689771" cy="1733550"/>
          </a:xfrm>
          <a:prstGeom prst="rect">
            <a:avLst/>
          </a:prstGeom>
          <a:ln w="9525">
            <a:solidFill>
              <a:srgbClr val="131313">
                <a:alpha val="14000"/>
              </a:srgbClr>
            </a:solidFill>
            <a:prstDash val="solid"/>
          </a:ln>
        </p:spPr>
      </p:sp>
      <p:sp>
        <p:nvSpPr>
          <p:cNvPr id="27" name="Shape 24"/>
          <p:cNvSpPr/>
          <p:nvPr/>
        </p:nvSpPr>
        <p:spPr>
          <a:xfrm>
            <a:off x="12031861" y="5010150"/>
            <a:ext cx="2689920" cy="1733550"/>
          </a:xfrm>
          <a:prstGeom prst="rect">
            <a:avLst/>
          </a:prstGeom>
          <a:ln w="9525">
            <a:solidFill>
              <a:srgbClr val="131313">
                <a:alpha val="14000"/>
              </a:srgbClr>
            </a:solidFill>
            <a:prstDash val="solid"/>
          </a:ln>
        </p:spPr>
      </p:sp>
      <p:sp>
        <p:nvSpPr>
          <p:cNvPr id="28" name="Shape 25"/>
          <p:cNvSpPr/>
          <p:nvPr/>
        </p:nvSpPr>
        <p:spPr>
          <a:xfrm>
            <a:off x="14797980" y="5010150"/>
            <a:ext cx="2689771" cy="1733550"/>
          </a:xfrm>
          <a:prstGeom prst="rect">
            <a:avLst/>
          </a:prstGeom>
          <a:ln w="9525">
            <a:solidFill>
              <a:srgbClr val="131313">
                <a:alpha val="14000"/>
              </a:srgbClr>
            </a:solidFill>
            <a:prstDash val="solid"/>
          </a:ln>
        </p:spPr>
      </p:sp>
      <p:sp>
        <p:nvSpPr>
          <p:cNvPr id="29" name="Shape 26"/>
          <p:cNvSpPr/>
          <p:nvPr/>
        </p:nvSpPr>
        <p:spPr>
          <a:xfrm>
            <a:off x="800100" y="6819900"/>
            <a:ext cx="2857500" cy="1733550"/>
          </a:xfrm>
          <a:prstGeom prst="rect">
            <a:avLst/>
          </a:prstGeom>
          <a:solidFill>
            <a:srgbClr val="F2F5F6"/>
          </a:solidFill>
          <a:ln/>
        </p:spPr>
      </p:sp>
      <p:sp>
        <p:nvSpPr>
          <p:cNvPr id="30" name="Text 27"/>
          <p:cNvSpPr/>
          <p:nvPr/>
        </p:nvSpPr>
        <p:spPr>
          <a:xfrm>
            <a:off x="1009650" y="7010400"/>
            <a:ext cx="2524125" cy="139065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131313"/>
                </a:solidFill>
                <a:latin typeface="Arial" pitchFamily="34" charset="0"/>
                <a:ea typeface="Arial" pitchFamily="34" charset="-122"/>
                <a:cs typeface="Arial" pitchFamily="34" charset="-120"/>
              </a:rPr>
              <a:t>Digital Marketing Connector</a:t>
            </a:r>
            <a:endParaRPr lang="en-US" sz="1800" dirty="0"/>
          </a:p>
        </p:txBody>
      </p:sp>
      <p:sp>
        <p:nvSpPr>
          <p:cNvPr id="31" name="Shape 28"/>
          <p:cNvSpPr/>
          <p:nvPr/>
        </p:nvSpPr>
        <p:spPr>
          <a:xfrm>
            <a:off x="3733800" y="6819900"/>
            <a:ext cx="2689771" cy="1733550"/>
          </a:xfrm>
          <a:prstGeom prst="rect">
            <a:avLst/>
          </a:prstGeom>
          <a:ln w="9525">
            <a:solidFill>
              <a:srgbClr val="131313">
                <a:alpha val="14000"/>
              </a:srgbClr>
            </a:solidFill>
            <a:prstDash val="solid"/>
          </a:ln>
        </p:spPr>
      </p:sp>
      <p:sp>
        <p:nvSpPr>
          <p:cNvPr id="32" name="Shape 29"/>
          <p:cNvSpPr/>
          <p:nvPr/>
        </p:nvSpPr>
        <p:spPr>
          <a:xfrm>
            <a:off x="6499771" y="6819900"/>
            <a:ext cx="2689920" cy="1733550"/>
          </a:xfrm>
          <a:prstGeom prst="rect">
            <a:avLst/>
          </a:prstGeom>
          <a:ln w="9525">
            <a:solidFill>
              <a:srgbClr val="131313">
                <a:alpha val="14000"/>
              </a:srgbClr>
            </a:solidFill>
            <a:prstDash val="solid"/>
          </a:ln>
        </p:spPr>
      </p:sp>
      <p:sp>
        <p:nvSpPr>
          <p:cNvPr id="33" name="Shape 30"/>
          <p:cNvSpPr/>
          <p:nvPr/>
        </p:nvSpPr>
        <p:spPr>
          <a:xfrm>
            <a:off x="9265890" y="6819900"/>
            <a:ext cx="2689771" cy="1733550"/>
          </a:xfrm>
          <a:prstGeom prst="rect">
            <a:avLst/>
          </a:prstGeom>
          <a:ln w="9525">
            <a:solidFill>
              <a:srgbClr val="131313">
                <a:alpha val="14000"/>
              </a:srgbClr>
            </a:solidFill>
            <a:prstDash val="solid"/>
          </a:ln>
        </p:spPr>
      </p:sp>
      <p:sp>
        <p:nvSpPr>
          <p:cNvPr id="34" name="Shape 31"/>
          <p:cNvSpPr/>
          <p:nvPr/>
        </p:nvSpPr>
        <p:spPr>
          <a:xfrm>
            <a:off x="12031861" y="6819900"/>
            <a:ext cx="2689920" cy="1733550"/>
          </a:xfrm>
          <a:prstGeom prst="rect">
            <a:avLst/>
          </a:prstGeom>
          <a:ln w="9525">
            <a:solidFill>
              <a:srgbClr val="131313">
                <a:alpha val="14000"/>
              </a:srgbClr>
            </a:solidFill>
            <a:prstDash val="solid"/>
          </a:ln>
        </p:spPr>
      </p:sp>
      <p:sp>
        <p:nvSpPr>
          <p:cNvPr id="35" name="Shape 32"/>
          <p:cNvSpPr/>
          <p:nvPr/>
        </p:nvSpPr>
        <p:spPr>
          <a:xfrm>
            <a:off x="14797980" y="6819900"/>
            <a:ext cx="2689771" cy="1733550"/>
          </a:xfrm>
          <a:prstGeom prst="rect">
            <a:avLst/>
          </a:prstGeom>
          <a:ln w="9525">
            <a:solidFill>
              <a:srgbClr val="131313">
                <a:alpha val="14000"/>
              </a:srgbClr>
            </a:solidFill>
            <a:prstDash val="solid"/>
          </a:ln>
        </p:spPr>
      </p:sp>
      <p:sp>
        <p:nvSpPr>
          <p:cNvPr id="36" name="Text 33"/>
          <p:cNvSpPr/>
          <p:nvPr/>
        </p:nvSpPr>
        <p:spPr>
          <a:xfrm>
            <a:off x="800100" y="86868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This map is the practical expression of the specialized knowledge. It is not a description of tools; it is a description of how one company’s assembly of those tools behaved.</a:t>
            </a:r>
            <a:endParaRPr lang="en-US" sz="1800" dirty="0"/>
          </a:p>
        </p:txBody>
      </p:sp>
      <p:sp>
        <p:nvSpPr>
          <p:cNvPr id="37" name="Text 3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8" name="Text 3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9" name="Text 3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30</a:t>
            </a:r>
            <a:endParaRPr lang="en-US" sz="11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10035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AREAS OF ADVANCED KNOWLEDGE</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Where my knowledge is deepest</a:t>
            </a:r>
            <a:endParaRPr lang="en-US" sz="3900" dirty="0"/>
          </a:p>
        </p:txBody>
      </p:sp>
      <p:sp>
        <p:nvSpPr>
          <p:cNvPr id="5" name="Text 2"/>
          <p:cNvSpPr/>
          <p:nvPr/>
        </p:nvSpPr>
        <p:spPr>
          <a:xfrm>
            <a:off x="800100" y="2133600"/>
            <a:ext cx="3596074"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THE FIVE CAPABILITY AREAS</a:t>
            </a:r>
            <a:endParaRPr lang="en-US" sz="1650" dirty="0"/>
          </a:p>
        </p:txBody>
      </p:sp>
      <p:sp>
        <p:nvSpPr>
          <p:cNvPr id="6" name="Shape 3"/>
          <p:cNvSpPr/>
          <p:nvPr/>
        </p:nvSpPr>
        <p:spPr>
          <a:xfrm>
            <a:off x="800100" y="2628900"/>
            <a:ext cx="3276600" cy="1066800"/>
          </a:xfrm>
          <a:prstGeom prst="rect">
            <a:avLst/>
          </a:prstGeom>
          <a:solidFill>
            <a:srgbClr val="F2F5F6"/>
          </a:solidFill>
          <a:ln/>
        </p:spPr>
      </p:sp>
      <p:sp>
        <p:nvSpPr>
          <p:cNvPr id="7" name="Text 4"/>
          <p:cNvSpPr/>
          <p:nvPr/>
        </p:nvSpPr>
        <p:spPr>
          <a:xfrm>
            <a:off x="10096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Capture</a:t>
            </a:r>
            <a:endParaRPr lang="en-US" sz="1800" dirty="0"/>
          </a:p>
        </p:txBody>
      </p:sp>
      <p:sp>
        <p:nvSpPr>
          <p:cNvPr id="8" name="Shape 5"/>
          <p:cNvSpPr/>
          <p:nvPr/>
        </p:nvSpPr>
        <p:spPr>
          <a:xfrm>
            <a:off x="4152900" y="2628900"/>
            <a:ext cx="3276600" cy="1066800"/>
          </a:xfrm>
          <a:prstGeom prst="rect">
            <a:avLst/>
          </a:prstGeom>
          <a:solidFill>
            <a:srgbClr val="F2F5F6"/>
          </a:solidFill>
          <a:ln/>
        </p:spPr>
      </p:sp>
      <p:sp>
        <p:nvSpPr>
          <p:cNvPr id="9" name="Text 6"/>
          <p:cNvSpPr/>
          <p:nvPr/>
        </p:nvSpPr>
        <p:spPr>
          <a:xfrm>
            <a:off x="43624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Management &amp; Profiling</a:t>
            </a:r>
            <a:endParaRPr lang="en-US" sz="1800" dirty="0"/>
          </a:p>
        </p:txBody>
      </p:sp>
      <p:sp>
        <p:nvSpPr>
          <p:cNvPr id="10" name="Shape 7"/>
          <p:cNvSpPr/>
          <p:nvPr/>
        </p:nvSpPr>
        <p:spPr>
          <a:xfrm>
            <a:off x="7505700" y="2628900"/>
            <a:ext cx="3276600" cy="1066800"/>
          </a:xfrm>
          <a:prstGeom prst="rect">
            <a:avLst/>
          </a:prstGeom>
          <a:solidFill>
            <a:srgbClr val="F2F5F6"/>
          </a:solidFill>
          <a:ln/>
        </p:spPr>
      </p:sp>
      <p:sp>
        <p:nvSpPr>
          <p:cNvPr id="11" name="Text 8"/>
          <p:cNvSpPr/>
          <p:nvPr/>
        </p:nvSpPr>
        <p:spPr>
          <a:xfrm>
            <a:off x="77152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Activation</a:t>
            </a:r>
            <a:endParaRPr lang="en-US" sz="1800" dirty="0"/>
          </a:p>
        </p:txBody>
      </p:sp>
      <p:sp>
        <p:nvSpPr>
          <p:cNvPr id="12" name="Shape 9"/>
          <p:cNvSpPr/>
          <p:nvPr/>
        </p:nvSpPr>
        <p:spPr>
          <a:xfrm>
            <a:off x="10858500" y="2628900"/>
            <a:ext cx="3276600" cy="1066800"/>
          </a:xfrm>
          <a:prstGeom prst="rect">
            <a:avLst/>
          </a:prstGeom>
          <a:solidFill>
            <a:srgbClr val="F2F5F6"/>
          </a:solidFill>
          <a:ln/>
        </p:spPr>
      </p:sp>
      <p:sp>
        <p:nvSpPr>
          <p:cNvPr id="13" name="Text 10"/>
          <p:cNvSpPr/>
          <p:nvPr/>
        </p:nvSpPr>
        <p:spPr>
          <a:xfrm>
            <a:off x="110680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Intelligence</a:t>
            </a:r>
            <a:endParaRPr lang="en-US" sz="1800" dirty="0"/>
          </a:p>
        </p:txBody>
      </p:sp>
      <p:sp>
        <p:nvSpPr>
          <p:cNvPr id="14" name="Shape 11"/>
          <p:cNvSpPr/>
          <p:nvPr/>
        </p:nvSpPr>
        <p:spPr>
          <a:xfrm>
            <a:off x="14211300" y="2628900"/>
            <a:ext cx="3276600" cy="1066800"/>
          </a:xfrm>
          <a:prstGeom prst="rect">
            <a:avLst/>
          </a:prstGeom>
          <a:solidFill>
            <a:srgbClr val="F2F5F6"/>
          </a:solidFill>
          <a:ln/>
        </p:spPr>
      </p:sp>
      <p:sp>
        <p:nvSpPr>
          <p:cNvPr id="15" name="Text 12"/>
          <p:cNvSpPr/>
          <p:nvPr/>
        </p:nvSpPr>
        <p:spPr>
          <a:xfrm>
            <a:off x="14420850" y="2857500"/>
            <a:ext cx="2955798" cy="647700"/>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Decisioning</a:t>
            </a:r>
            <a:endParaRPr lang="en-US" sz="1800" dirty="0"/>
          </a:p>
        </p:txBody>
      </p:sp>
      <p:sp>
        <p:nvSpPr>
          <p:cNvPr id="16" name="Text 13"/>
          <p:cNvSpPr/>
          <p:nvPr/>
        </p:nvSpPr>
        <p:spPr>
          <a:xfrm>
            <a:off x="800100" y="4267200"/>
            <a:ext cx="1835658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Broad working knowledge across all three Ascent components.</a:t>
            </a:r>
            <a:endParaRPr lang="en-US" sz="1800" dirty="0"/>
          </a:p>
        </p:txBody>
      </p:sp>
      <p:sp>
        <p:nvSpPr>
          <p:cNvPr id="17" name="Text 14"/>
          <p:cNvSpPr/>
          <p:nvPr/>
        </p:nvSpPr>
        <p:spPr>
          <a:xfrm>
            <a:off x="800100" y="4953000"/>
            <a:ext cx="17188434" cy="1495425"/>
          </a:xfrm>
          <a:prstGeom prst="rect">
            <a:avLst/>
          </a:prstGeom>
          <a:noFill/>
          <a:ln/>
        </p:spPr>
        <p:txBody>
          <a:bodyPr wrap="square" lIns="25400" tIns="25400" rIns="25400" bIns="25400" rtlCol="0" anchor="t">
            <a:normAutofit/>
          </a:bodyPr>
          <a:lstStyle/>
          <a:p>
            <a:pPr algn="l" indent="0" marL="0">
              <a:lnSpc>
                <a:spcPct val="119302"/>
              </a:lnSpc>
              <a:buNone/>
            </a:pPr>
            <a:r>
              <a:rPr lang="en-US" sz="2850" b="1" spc="-45" kern="0" dirty="0">
                <a:solidFill>
                  <a:srgbClr val="131313"/>
                </a:solidFill>
                <a:latin typeface="Arial" pitchFamily="34" charset="0"/>
                <a:ea typeface="Arial" pitchFamily="34" charset="-122"/>
                <a:cs typeface="Arial" pitchFamily="34" charset="-120"/>
              </a:rPr>
              <a:t>Deepest specialization in how the data, analytics, customer data platform, audience, personalization and digital-marketing layers connect the entire Ascent solution together — the layer through which every other component’s behaviour ultimately expresses itself.</a:t>
            </a:r>
            <a:endParaRPr lang="en-US" sz="2850" dirty="0"/>
          </a:p>
        </p:txBody>
      </p:sp>
      <p:sp>
        <p:nvSpPr>
          <p:cNvPr id="18" name="Text 1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9" name="Text 1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0" name="Text 17"/>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31</a:t>
            </a:r>
            <a:endParaRPr lang="en-US" sz="11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05</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Component and Feature Contribution</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Contribution model</a:t>
            </a:r>
            <a:endParaRPr lang="en-US" sz="3900" dirty="0"/>
          </a:p>
        </p:txBody>
      </p:sp>
      <p:sp>
        <p:nvSpPr>
          <p:cNvPr id="5" name="Shape 2"/>
          <p:cNvSpPr/>
          <p:nvPr/>
        </p:nvSpPr>
        <p:spPr>
          <a:xfrm>
            <a:off x="800100" y="2905125"/>
            <a:ext cx="4572000" cy="19050"/>
          </a:xfrm>
          <a:prstGeom prst="rect">
            <a:avLst/>
          </a:prstGeom>
          <a:solidFill>
            <a:srgbClr val="131313"/>
          </a:solidFill>
          <a:ln/>
        </p:spPr>
      </p:sp>
      <p:sp>
        <p:nvSpPr>
          <p:cNvPr id="6" name="Text 3"/>
          <p:cNvSpPr/>
          <p:nvPr/>
        </p:nvSpPr>
        <p:spPr>
          <a:xfrm>
            <a:off x="800100" y="2476500"/>
            <a:ext cx="432816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MODE</a:t>
            </a:r>
            <a:endParaRPr lang="en-US" sz="1650" dirty="0"/>
          </a:p>
        </p:txBody>
      </p:sp>
      <p:sp>
        <p:nvSpPr>
          <p:cNvPr id="7" name="Shape 4"/>
          <p:cNvSpPr/>
          <p:nvPr/>
        </p:nvSpPr>
        <p:spPr>
          <a:xfrm>
            <a:off x="5372100" y="2905125"/>
            <a:ext cx="12115800" cy="19050"/>
          </a:xfrm>
          <a:prstGeom prst="rect">
            <a:avLst/>
          </a:prstGeom>
          <a:solidFill>
            <a:srgbClr val="131313"/>
          </a:solidFill>
          <a:ln/>
        </p:spPr>
      </p:sp>
      <p:sp>
        <p:nvSpPr>
          <p:cNvPr id="8" name="Text 5"/>
          <p:cNvSpPr/>
          <p:nvPr/>
        </p:nvSpPr>
        <p:spPr>
          <a:xfrm>
            <a:off x="5753100" y="2476500"/>
            <a:ext cx="12098274"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MEANING</a:t>
            </a:r>
            <a:endParaRPr lang="en-US" sz="1650" dirty="0"/>
          </a:p>
        </p:txBody>
      </p:sp>
      <p:sp>
        <p:nvSpPr>
          <p:cNvPr id="9" name="Shape 6"/>
          <p:cNvSpPr/>
          <p:nvPr/>
        </p:nvSpPr>
        <p:spPr>
          <a:xfrm>
            <a:off x="800100" y="3924300"/>
            <a:ext cx="4572000" cy="9525"/>
          </a:xfrm>
          <a:prstGeom prst="rect">
            <a:avLst/>
          </a:prstGeom>
          <a:solidFill>
            <a:srgbClr val="131313">
              <a:alpha val="14000"/>
            </a:srgbClr>
          </a:solidFill>
          <a:ln/>
        </p:spPr>
      </p:sp>
      <p:sp>
        <p:nvSpPr>
          <p:cNvPr id="10" name="Text 7"/>
          <p:cNvSpPr/>
          <p:nvPr/>
        </p:nvSpPr>
        <p:spPr>
          <a:xfrm>
            <a:off x="800100" y="3228975"/>
            <a:ext cx="432816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dirty="0">
                <a:solidFill>
                  <a:srgbClr val="131313"/>
                </a:solidFill>
                <a:latin typeface="Arial" pitchFamily="34" charset="0"/>
                <a:ea typeface="Arial" pitchFamily="34" charset="-122"/>
                <a:cs typeface="Arial" pitchFamily="34" charset="-120"/>
              </a:rPr>
              <a:t>Build / Extend</a:t>
            </a:r>
            <a:endParaRPr lang="en-US" sz="2400" dirty="0"/>
          </a:p>
        </p:txBody>
      </p:sp>
      <p:sp>
        <p:nvSpPr>
          <p:cNvPr id="11" name="Shape 8"/>
          <p:cNvSpPr/>
          <p:nvPr/>
        </p:nvSpPr>
        <p:spPr>
          <a:xfrm>
            <a:off x="5372100" y="3924300"/>
            <a:ext cx="12115800" cy="9525"/>
          </a:xfrm>
          <a:prstGeom prst="rect">
            <a:avLst/>
          </a:prstGeom>
          <a:solidFill>
            <a:srgbClr val="131313">
              <a:alpha val="14000"/>
            </a:srgbClr>
          </a:solidFill>
          <a:ln/>
        </p:spPr>
      </p:sp>
      <p:sp>
        <p:nvSpPr>
          <p:cNvPr id="12" name="Text 9"/>
          <p:cNvSpPr/>
          <p:nvPr/>
        </p:nvSpPr>
        <p:spPr>
          <a:xfrm>
            <a:off x="5753100" y="3228975"/>
            <a:ext cx="12098274" cy="428625"/>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Developed new capability or extended existing capability within the component</a:t>
            </a:r>
            <a:endParaRPr lang="en-US" sz="1800" dirty="0"/>
          </a:p>
        </p:txBody>
      </p:sp>
      <p:sp>
        <p:nvSpPr>
          <p:cNvPr id="13" name="Shape 10"/>
          <p:cNvSpPr/>
          <p:nvPr/>
        </p:nvSpPr>
        <p:spPr>
          <a:xfrm>
            <a:off x="800100" y="4933950"/>
            <a:ext cx="4572000" cy="9525"/>
          </a:xfrm>
          <a:prstGeom prst="rect">
            <a:avLst/>
          </a:prstGeom>
          <a:solidFill>
            <a:srgbClr val="131313">
              <a:alpha val="14000"/>
            </a:srgbClr>
          </a:solidFill>
          <a:ln/>
        </p:spPr>
      </p:sp>
      <p:sp>
        <p:nvSpPr>
          <p:cNvPr id="14" name="Text 11"/>
          <p:cNvSpPr/>
          <p:nvPr/>
        </p:nvSpPr>
        <p:spPr>
          <a:xfrm>
            <a:off x="800100" y="4238625"/>
            <a:ext cx="432816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dirty="0">
                <a:solidFill>
                  <a:srgbClr val="131313"/>
                </a:solidFill>
                <a:latin typeface="Arial" pitchFamily="34" charset="0"/>
                <a:ea typeface="Arial" pitchFamily="34" charset="-122"/>
                <a:cs typeface="Arial" pitchFamily="34" charset="-120"/>
              </a:rPr>
              <a:t>Integrate</a:t>
            </a:r>
            <a:endParaRPr lang="en-US" sz="2400" dirty="0"/>
          </a:p>
        </p:txBody>
      </p:sp>
      <p:sp>
        <p:nvSpPr>
          <p:cNvPr id="15" name="Shape 12"/>
          <p:cNvSpPr/>
          <p:nvPr/>
        </p:nvSpPr>
        <p:spPr>
          <a:xfrm>
            <a:off x="5372100" y="4933950"/>
            <a:ext cx="12115800" cy="9525"/>
          </a:xfrm>
          <a:prstGeom prst="rect">
            <a:avLst/>
          </a:prstGeom>
          <a:solidFill>
            <a:srgbClr val="131313">
              <a:alpha val="14000"/>
            </a:srgbClr>
          </a:solidFill>
          <a:ln/>
        </p:spPr>
      </p:sp>
      <p:sp>
        <p:nvSpPr>
          <p:cNvPr id="16" name="Text 13"/>
          <p:cNvSpPr/>
          <p:nvPr/>
        </p:nvSpPr>
        <p:spPr>
          <a:xfrm>
            <a:off x="5753100" y="4238625"/>
            <a:ext cx="12098274" cy="428625"/>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Connected the component to other Ascent components or external systems</a:t>
            </a:r>
            <a:endParaRPr lang="en-US" sz="1800" dirty="0"/>
          </a:p>
        </p:txBody>
      </p:sp>
      <p:sp>
        <p:nvSpPr>
          <p:cNvPr id="17" name="Shape 14"/>
          <p:cNvSpPr/>
          <p:nvPr/>
        </p:nvSpPr>
        <p:spPr>
          <a:xfrm>
            <a:off x="800100" y="5943600"/>
            <a:ext cx="4572000" cy="9525"/>
          </a:xfrm>
          <a:prstGeom prst="rect">
            <a:avLst/>
          </a:prstGeom>
          <a:solidFill>
            <a:srgbClr val="131313">
              <a:alpha val="14000"/>
            </a:srgbClr>
          </a:solidFill>
          <a:ln/>
        </p:spPr>
      </p:sp>
      <p:sp>
        <p:nvSpPr>
          <p:cNvPr id="18" name="Text 15"/>
          <p:cNvSpPr/>
          <p:nvPr/>
        </p:nvSpPr>
        <p:spPr>
          <a:xfrm>
            <a:off x="800100" y="5248275"/>
            <a:ext cx="432816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dirty="0">
                <a:solidFill>
                  <a:srgbClr val="131313"/>
                </a:solidFill>
                <a:latin typeface="Arial" pitchFamily="34" charset="0"/>
                <a:ea typeface="Arial" pitchFamily="34" charset="-122"/>
                <a:cs typeface="Arial" pitchFamily="34" charset="-120"/>
              </a:rPr>
              <a:t>Customize</a:t>
            </a:r>
            <a:endParaRPr lang="en-US" sz="2400" dirty="0"/>
          </a:p>
        </p:txBody>
      </p:sp>
      <p:sp>
        <p:nvSpPr>
          <p:cNvPr id="19" name="Shape 16"/>
          <p:cNvSpPr/>
          <p:nvPr/>
        </p:nvSpPr>
        <p:spPr>
          <a:xfrm>
            <a:off x="5372100" y="5943600"/>
            <a:ext cx="12115800" cy="9525"/>
          </a:xfrm>
          <a:prstGeom prst="rect">
            <a:avLst/>
          </a:prstGeom>
          <a:solidFill>
            <a:srgbClr val="131313">
              <a:alpha val="14000"/>
            </a:srgbClr>
          </a:solidFill>
          <a:ln/>
        </p:spPr>
      </p:sp>
      <p:sp>
        <p:nvSpPr>
          <p:cNvPr id="20" name="Text 17"/>
          <p:cNvSpPr/>
          <p:nvPr/>
        </p:nvSpPr>
        <p:spPr>
          <a:xfrm>
            <a:off x="5753100" y="5248275"/>
            <a:ext cx="12098274" cy="428625"/>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Adapted the component to specific client requirements without breaking the reusable core</a:t>
            </a:r>
            <a:endParaRPr lang="en-US" sz="1800" dirty="0"/>
          </a:p>
        </p:txBody>
      </p:sp>
      <p:sp>
        <p:nvSpPr>
          <p:cNvPr id="21" name="Shape 18"/>
          <p:cNvSpPr/>
          <p:nvPr/>
        </p:nvSpPr>
        <p:spPr>
          <a:xfrm>
            <a:off x="800100" y="6953250"/>
            <a:ext cx="4572000" cy="9525"/>
          </a:xfrm>
          <a:prstGeom prst="rect">
            <a:avLst/>
          </a:prstGeom>
          <a:solidFill>
            <a:srgbClr val="131313">
              <a:alpha val="14000"/>
            </a:srgbClr>
          </a:solidFill>
          <a:ln/>
        </p:spPr>
      </p:sp>
      <p:sp>
        <p:nvSpPr>
          <p:cNvPr id="22" name="Text 19"/>
          <p:cNvSpPr/>
          <p:nvPr/>
        </p:nvSpPr>
        <p:spPr>
          <a:xfrm>
            <a:off x="800100" y="6257925"/>
            <a:ext cx="432816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dirty="0">
                <a:solidFill>
                  <a:srgbClr val="131313"/>
                </a:solidFill>
                <a:latin typeface="Arial" pitchFamily="34" charset="0"/>
                <a:ea typeface="Arial" pitchFamily="34" charset="-122"/>
                <a:cs typeface="Arial" pitchFamily="34" charset="-120"/>
              </a:rPr>
              <a:t>Validate</a:t>
            </a:r>
            <a:endParaRPr lang="en-US" sz="2400" dirty="0"/>
          </a:p>
        </p:txBody>
      </p:sp>
      <p:sp>
        <p:nvSpPr>
          <p:cNvPr id="23" name="Shape 20"/>
          <p:cNvSpPr/>
          <p:nvPr/>
        </p:nvSpPr>
        <p:spPr>
          <a:xfrm>
            <a:off x="5372100" y="6953250"/>
            <a:ext cx="12115800" cy="9525"/>
          </a:xfrm>
          <a:prstGeom prst="rect">
            <a:avLst/>
          </a:prstGeom>
          <a:solidFill>
            <a:srgbClr val="131313">
              <a:alpha val="14000"/>
            </a:srgbClr>
          </a:solidFill>
          <a:ln/>
        </p:spPr>
      </p:sp>
      <p:sp>
        <p:nvSpPr>
          <p:cNvPr id="24" name="Text 21"/>
          <p:cNvSpPr/>
          <p:nvPr/>
        </p:nvSpPr>
        <p:spPr>
          <a:xfrm>
            <a:off x="5753100" y="6257925"/>
            <a:ext cx="12098274" cy="428625"/>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Reviewed, tested and approved or rejected work for deployment</a:t>
            </a:r>
            <a:endParaRPr lang="en-US" sz="1800" dirty="0"/>
          </a:p>
        </p:txBody>
      </p:sp>
      <p:sp>
        <p:nvSpPr>
          <p:cNvPr id="25" name="Text 22"/>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6" name="Text 23"/>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7" name="Text 24"/>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33</a:t>
            </a:r>
            <a:endParaRPr lang="en-US" sz="11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eCommerce AEM Web Application</a:t>
            </a:r>
            <a:endParaRPr lang="en-US" sz="3900" dirty="0"/>
          </a:p>
        </p:txBody>
      </p:sp>
      <p:sp>
        <p:nvSpPr>
          <p:cNvPr id="5" name="Shape 2"/>
          <p:cNvSpPr/>
          <p:nvPr/>
        </p:nvSpPr>
        <p:spPr>
          <a:xfrm>
            <a:off x="800100" y="1905000"/>
            <a:ext cx="16687800" cy="723900"/>
          </a:xfrm>
          <a:prstGeom prst="rect">
            <a:avLst/>
          </a:prstGeom>
          <a:solidFill>
            <a:srgbClr val="F2F5F6"/>
          </a:solidFill>
          <a:ln/>
        </p:spPr>
      </p:sp>
      <p:sp>
        <p:nvSpPr>
          <p:cNvPr id="6" name="Text 3"/>
          <p:cNvSpPr/>
          <p:nvPr/>
        </p:nvSpPr>
        <p:spPr>
          <a:xfrm>
            <a:off x="1104900" y="2143125"/>
            <a:ext cx="74295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MODE</a:t>
            </a:r>
            <a:endParaRPr lang="en-US" sz="1650" dirty="0"/>
          </a:p>
        </p:txBody>
      </p:sp>
      <p:sp>
        <p:nvSpPr>
          <p:cNvPr id="7" name="Text 4"/>
          <p:cNvSpPr/>
          <p:nvPr/>
        </p:nvSpPr>
        <p:spPr>
          <a:xfrm>
            <a:off x="2038350" y="2095500"/>
            <a:ext cx="4221778"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Extend · Integrate · Customize</a:t>
            </a:r>
            <a:endParaRPr lang="en-US" sz="2100" dirty="0"/>
          </a:p>
        </p:txBody>
      </p:sp>
      <p:sp>
        <p:nvSpPr>
          <p:cNvPr id="8" name="Text 5"/>
          <p:cNvSpPr/>
          <p:nvPr/>
        </p:nvSpPr>
        <p:spPr>
          <a:xfrm>
            <a:off x="800100" y="2933700"/>
            <a:ext cx="15697200" cy="8763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131313"/>
                </a:solidFill>
                <a:latin typeface="Arial" pitchFamily="34" charset="0"/>
                <a:ea typeface="Arial" pitchFamily="34" charset="-122"/>
                <a:cs typeface="Arial" pitchFamily="34" charset="-120"/>
              </a:rPr>
              <a:t>My work was at the intersection of the AEM application and the wider Ascent data and marketing architecture, rather than front-end component development.</a:t>
            </a:r>
            <a:endParaRPr lang="en-US" sz="2400" dirty="0"/>
          </a:p>
        </p:txBody>
      </p:sp>
      <p:sp>
        <p:nvSpPr>
          <p:cNvPr id="9" name="Shape 6"/>
          <p:cNvSpPr/>
          <p:nvPr/>
        </p:nvSpPr>
        <p:spPr>
          <a:xfrm>
            <a:off x="800100" y="4076700"/>
            <a:ext cx="7363867" cy="542925"/>
          </a:xfrm>
          <a:prstGeom prst="rect">
            <a:avLst/>
          </a:prstGeom>
          <a:ln w="9525">
            <a:solidFill>
              <a:srgbClr val="131313">
                <a:alpha val="20000"/>
              </a:srgbClr>
            </a:solidFill>
            <a:prstDash val="solid"/>
          </a:ln>
        </p:spPr>
      </p:sp>
      <p:sp>
        <p:nvSpPr>
          <p:cNvPr id="10" name="Text 7"/>
          <p:cNvSpPr/>
          <p:nvPr/>
        </p:nvSpPr>
        <p:spPr>
          <a:xfrm>
            <a:off x="1038225" y="4200525"/>
            <a:ext cx="710853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Integration with Adobe Analytics, Launch/Data Collection and Target</a:t>
            </a:r>
            <a:endParaRPr lang="en-US" sz="1800" dirty="0"/>
          </a:p>
        </p:txBody>
      </p:sp>
      <p:sp>
        <p:nvSpPr>
          <p:cNvPr id="11" name="Shape 8"/>
          <p:cNvSpPr/>
          <p:nvPr/>
        </p:nvSpPr>
        <p:spPr>
          <a:xfrm>
            <a:off x="8278267" y="4076700"/>
            <a:ext cx="4262884" cy="542925"/>
          </a:xfrm>
          <a:prstGeom prst="rect">
            <a:avLst/>
          </a:prstGeom>
          <a:ln w="9525">
            <a:solidFill>
              <a:srgbClr val="131313">
                <a:alpha val="20000"/>
              </a:srgbClr>
            </a:solidFill>
            <a:prstDash val="solid"/>
          </a:ln>
        </p:spPr>
      </p:sp>
      <p:sp>
        <p:nvSpPr>
          <p:cNvPr id="12" name="Text 9"/>
          <p:cNvSpPr/>
          <p:nvPr/>
        </p:nvSpPr>
        <p:spPr>
          <a:xfrm>
            <a:off x="8516392" y="4200525"/>
            <a:ext cx="391452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Data-layer architecture and validation</a:t>
            </a:r>
            <a:endParaRPr lang="en-US" sz="1800" dirty="0"/>
          </a:p>
        </p:txBody>
      </p:sp>
      <p:sp>
        <p:nvSpPr>
          <p:cNvPr id="13" name="Shape 10"/>
          <p:cNvSpPr/>
          <p:nvPr/>
        </p:nvSpPr>
        <p:spPr>
          <a:xfrm>
            <a:off x="800100" y="4733925"/>
            <a:ext cx="5115074" cy="542925"/>
          </a:xfrm>
          <a:prstGeom prst="rect">
            <a:avLst/>
          </a:prstGeom>
          <a:ln w="9525">
            <a:solidFill>
              <a:srgbClr val="131313">
                <a:alpha val="20000"/>
              </a:srgbClr>
            </a:solidFill>
            <a:prstDash val="solid"/>
          </a:ln>
        </p:spPr>
      </p:sp>
      <p:sp>
        <p:nvSpPr>
          <p:cNvPr id="14" name="Text 11"/>
          <p:cNvSpPr/>
          <p:nvPr/>
        </p:nvSpPr>
        <p:spPr>
          <a:xfrm>
            <a:off x="1038225" y="4857750"/>
            <a:ext cx="479227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Event and data-element design and validation</a:t>
            </a:r>
            <a:endParaRPr lang="en-US" sz="1800" dirty="0"/>
          </a:p>
        </p:txBody>
      </p:sp>
      <p:sp>
        <p:nvSpPr>
          <p:cNvPr id="15" name="Shape 12"/>
          <p:cNvSpPr/>
          <p:nvPr/>
        </p:nvSpPr>
        <p:spPr>
          <a:xfrm>
            <a:off x="6029474" y="4733925"/>
            <a:ext cx="2547491" cy="542925"/>
          </a:xfrm>
          <a:prstGeom prst="rect">
            <a:avLst/>
          </a:prstGeom>
          <a:ln w="9525">
            <a:solidFill>
              <a:srgbClr val="131313">
                <a:alpha val="20000"/>
              </a:srgbClr>
            </a:solidFill>
            <a:prstDash val="solid"/>
          </a:ln>
        </p:spPr>
      </p:sp>
      <p:sp>
        <p:nvSpPr>
          <p:cNvPr id="16" name="Text 13"/>
          <p:cNvSpPr/>
          <p:nvPr/>
        </p:nvSpPr>
        <p:spPr>
          <a:xfrm>
            <a:off x="6267599" y="4857750"/>
            <a:ext cx="214766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Behavioural tracking</a:t>
            </a:r>
            <a:endParaRPr lang="en-US" sz="1800" dirty="0"/>
          </a:p>
        </p:txBody>
      </p:sp>
      <p:sp>
        <p:nvSpPr>
          <p:cNvPr id="17" name="Shape 14"/>
          <p:cNvSpPr/>
          <p:nvPr/>
        </p:nvSpPr>
        <p:spPr>
          <a:xfrm>
            <a:off x="8691265" y="4733925"/>
            <a:ext cx="3271986" cy="542925"/>
          </a:xfrm>
          <a:prstGeom prst="rect">
            <a:avLst/>
          </a:prstGeom>
          <a:ln w="9525">
            <a:solidFill>
              <a:srgbClr val="131313">
                <a:alpha val="20000"/>
              </a:srgbClr>
            </a:solidFill>
            <a:prstDash val="solid"/>
          </a:ln>
        </p:spPr>
      </p:sp>
      <p:sp>
        <p:nvSpPr>
          <p:cNvPr id="18" name="Text 15"/>
          <p:cNvSpPr/>
          <p:nvPr/>
        </p:nvSpPr>
        <p:spPr>
          <a:xfrm>
            <a:off x="8929390" y="4857750"/>
            <a:ext cx="289389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Analytics tagging standards</a:t>
            </a:r>
            <a:endParaRPr lang="en-US" sz="1800" dirty="0"/>
          </a:p>
        </p:txBody>
      </p:sp>
      <p:sp>
        <p:nvSpPr>
          <p:cNvPr id="19" name="Shape 16"/>
          <p:cNvSpPr/>
          <p:nvPr/>
        </p:nvSpPr>
        <p:spPr>
          <a:xfrm>
            <a:off x="12077551" y="4733925"/>
            <a:ext cx="5279975" cy="542925"/>
          </a:xfrm>
          <a:prstGeom prst="rect">
            <a:avLst/>
          </a:prstGeom>
          <a:ln w="9525">
            <a:solidFill>
              <a:srgbClr val="131313">
                <a:alpha val="20000"/>
              </a:srgbClr>
            </a:solidFill>
            <a:prstDash val="solid"/>
          </a:ln>
        </p:spPr>
      </p:sp>
      <p:sp>
        <p:nvSpPr>
          <p:cNvPr id="20" name="Text 17"/>
          <p:cNvSpPr/>
          <p:nvPr/>
        </p:nvSpPr>
        <p:spPr>
          <a:xfrm>
            <a:off x="12315676" y="4857750"/>
            <a:ext cx="496212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Content and personalization variation validation</a:t>
            </a:r>
            <a:endParaRPr lang="en-US" sz="1800" dirty="0"/>
          </a:p>
        </p:txBody>
      </p:sp>
      <p:sp>
        <p:nvSpPr>
          <p:cNvPr id="21" name="Shape 18"/>
          <p:cNvSpPr/>
          <p:nvPr/>
        </p:nvSpPr>
        <p:spPr>
          <a:xfrm>
            <a:off x="800100" y="5391150"/>
            <a:ext cx="4097685" cy="542925"/>
          </a:xfrm>
          <a:prstGeom prst="rect">
            <a:avLst/>
          </a:prstGeom>
          <a:ln w="9525">
            <a:solidFill>
              <a:srgbClr val="131313">
                <a:alpha val="20000"/>
              </a:srgbClr>
            </a:solidFill>
            <a:prstDash val="solid"/>
          </a:ln>
        </p:spPr>
      </p:sp>
      <p:sp>
        <p:nvSpPr>
          <p:cNvPr id="22" name="Text 19"/>
          <p:cNvSpPr/>
          <p:nvPr/>
        </p:nvSpPr>
        <p:spPr>
          <a:xfrm>
            <a:off x="1038225" y="5514975"/>
            <a:ext cx="374436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System and application architecture</a:t>
            </a:r>
            <a:endParaRPr lang="en-US" sz="1800" dirty="0"/>
          </a:p>
        </p:txBody>
      </p:sp>
      <p:sp>
        <p:nvSpPr>
          <p:cNvPr id="23" name="Shape 20"/>
          <p:cNvSpPr/>
          <p:nvPr/>
        </p:nvSpPr>
        <p:spPr>
          <a:xfrm>
            <a:off x="5012085" y="5391150"/>
            <a:ext cx="2826841" cy="542925"/>
          </a:xfrm>
          <a:prstGeom prst="rect">
            <a:avLst/>
          </a:prstGeom>
          <a:ln w="9525">
            <a:solidFill>
              <a:srgbClr val="131313">
                <a:alpha val="20000"/>
              </a:srgbClr>
            </a:solidFill>
            <a:prstDash val="solid"/>
          </a:ln>
        </p:spPr>
      </p:sp>
      <p:sp>
        <p:nvSpPr>
          <p:cNvPr id="24" name="Text 21"/>
          <p:cNvSpPr/>
          <p:nvPr/>
        </p:nvSpPr>
        <p:spPr>
          <a:xfrm>
            <a:off x="5250210" y="5514975"/>
            <a:ext cx="243539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Third-party integrations</a:t>
            </a:r>
            <a:endParaRPr lang="en-US" sz="1800" dirty="0"/>
          </a:p>
        </p:txBody>
      </p:sp>
      <p:sp>
        <p:nvSpPr>
          <p:cNvPr id="25" name="Shape 22"/>
          <p:cNvSpPr/>
          <p:nvPr/>
        </p:nvSpPr>
        <p:spPr>
          <a:xfrm>
            <a:off x="7953226" y="5391150"/>
            <a:ext cx="3360241" cy="542925"/>
          </a:xfrm>
          <a:prstGeom prst="rect">
            <a:avLst/>
          </a:prstGeom>
          <a:ln w="9525">
            <a:solidFill>
              <a:srgbClr val="131313">
                <a:alpha val="20000"/>
              </a:srgbClr>
            </a:solidFill>
            <a:prstDash val="solid"/>
          </a:ln>
        </p:spPr>
      </p:sp>
      <p:sp>
        <p:nvSpPr>
          <p:cNvPr id="26" name="Text 23"/>
          <p:cNvSpPr/>
          <p:nvPr/>
        </p:nvSpPr>
        <p:spPr>
          <a:xfrm>
            <a:off x="8191351" y="5514975"/>
            <a:ext cx="298479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Client-specific customization</a:t>
            </a:r>
            <a:endParaRPr lang="en-US" sz="1800" dirty="0"/>
          </a:p>
        </p:txBody>
      </p:sp>
      <p:sp>
        <p:nvSpPr>
          <p:cNvPr id="27" name="Shape 24"/>
          <p:cNvSpPr/>
          <p:nvPr/>
        </p:nvSpPr>
        <p:spPr>
          <a:xfrm>
            <a:off x="11427768" y="5391150"/>
            <a:ext cx="4047232" cy="542925"/>
          </a:xfrm>
          <a:prstGeom prst="rect">
            <a:avLst/>
          </a:prstGeom>
          <a:ln w="9525">
            <a:solidFill>
              <a:srgbClr val="131313">
                <a:alpha val="20000"/>
              </a:srgbClr>
            </a:solidFill>
            <a:prstDash val="solid"/>
          </a:ln>
        </p:spPr>
      </p:sp>
      <p:sp>
        <p:nvSpPr>
          <p:cNvPr id="28" name="Text 25"/>
          <p:cNvSpPr/>
          <p:nvPr/>
        </p:nvSpPr>
        <p:spPr>
          <a:xfrm>
            <a:off x="11665893" y="5514975"/>
            <a:ext cx="369239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QA, testing and technical validation</a:t>
            </a:r>
            <a:endParaRPr lang="en-US" sz="1800" dirty="0"/>
          </a:p>
        </p:txBody>
      </p:sp>
      <p:sp>
        <p:nvSpPr>
          <p:cNvPr id="29" name="Shape 26"/>
          <p:cNvSpPr/>
          <p:nvPr/>
        </p:nvSpPr>
        <p:spPr>
          <a:xfrm>
            <a:off x="800100" y="6048375"/>
            <a:ext cx="13371761" cy="523875"/>
          </a:xfrm>
          <a:prstGeom prst="rect">
            <a:avLst/>
          </a:prstGeom>
          <a:solidFill>
            <a:srgbClr val="131313"/>
          </a:solidFill>
          <a:ln/>
        </p:spPr>
      </p:sp>
      <p:sp>
        <p:nvSpPr>
          <p:cNvPr id="30" name="Text 27"/>
          <p:cNvSpPr/>
          <p:nvPr/>
        </p:nvSpPr>
        <p:spPr>
          <a:xfrm>
            <a:off x="1028700" y="6162675"/>
            <a:ext cx="1331571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Identifying the downstream impact of application changes on analytics, CDP, audience and personalization capabilities</a:t>
            </a:r>
            <a:endParaRPr lang="en-US" sz="1800" dirty="0"/>
          </a:p>
        </p:txBody>
      </p:sp>
      <p:sp>
        <p:nvSpPr>
          <p:cNvPr id="31" name="Text 28"/>
          <p:cNvSpPr/>
          <p:nvPr/>
        </p:nvSpPr>
        <p:spPr>
          <a:xfrm>
            <a:off x="800100" y="687705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That last responsibility is the specialized one. Application changes were routinely proposed without visibility of what they would do to measurement, profile and activation behaviour several layers below.</a:t>
            </a:r>
            <a:endParaRPr lang="en-US" sz="1800" dirty="0"/>
          </a:p>
        </p:txBody>
      </p:sp>
      <p:sp>
        <p:nvSpPr>
          <p:cNvPr id="32" name="Text 2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3" name="Text 3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4" name="Text 3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34</a:t>
            </a:r>
            <a:endParaRPr lang="en-US" sz="11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eCommerce Connector</a:t>
            </a:r>
            <a:endParaRPr lang="en-US" sz="3900" dirty="0"/>
          </a:p>
        </p:txBody>
      </p:sp>
      <p:sp>
        <p:nvSpPr>
          <p:cNvPr id="5" name="Shape 2"/>
          <p:cNvSpPr/>
          <p:nvPr/>
        </p:nvSpPr>
        <p:spPr>
          <a:xfrm>
            <a:off x="800100" y="1905000"/>
            <a:ext cx="16687800" cy="723900"/>
          </a:xfrm>
          <a:prstGeom prst="rect">
            <a:avLst/>
          </a:prstGeom>
          <a:solidFill>
            <a:srgbClr val="F2F5F6"/>
          </a:solidFill>
          <a:ln/>
        </p:spPr>
      </p:sp>
      <p:sp>
        <p:nvSpPr>
          <p:cNvPr id="6" name="Text 3"/>
          <p:cNvSpPr/>
          <p:nvPr/>
        </p:nvSpPr>
        <p:spPr>
          <a:xfrm>
            <a:off x="1104900" y="2143125"/>
            <a:ext cx="74295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MODE</a:t>
            </a:r>
            <a:endParaRPr lang="en-US" sz="1650" dirty="0"/>
          </a:p>
        </p:txBody>
      </p:sp>
      <p:sp>
        <p:nvSpPr>
          <p:cNvPr id="7" name="Text 4"/>
          <p:cNvSpPr/>
          <p:nvPr/>
        </p:nvSpPr>
        <p:spPr>
          <a:xfrm>
            <a:off x="2038350" y="2095500"/>
            <a:ext cx="4221778"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Extend · Integrate · Customize</a:t>
            </a:r>
            <a:endParaRPr lang="en-US" sz="2100" dirty="0"/>
          </a:p>
        </p:txBody>
      </p:sp>
      <p:sp>
        <p:nvSpPr>
          <p:cNvPr id="8" name="Text 5"/>
          <p:cNvSpPr/>
          <p:nvPr/>
        </p:nvSpPr>
        <p:spPr>
          <a:xfrm>
            <a:off x="800100" y="2933700"/>
            <a:ext cx="15697200" cy="8763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131313"/>
                </a:solidFill>
                <a:latin typeface="Arial" pitchFamily="34" charset="0"/>
                <a:ea typeface="Arial" pitchFamily="34" charset="-122"/>
                <a:cs typeface="Arial" pitchFamily="34" charset="-120"/>
              </a:rPr>
              <a:t>Movement, transformation, validation and integration of data between commerce and customer interactions and the wider Ascent ecosystem.</a:t>
            </a:r>
            <a:endParaRPr lang="en-US" sz="2400" dirty="0"/>
          </a:p>
        </p:txBody>
      </p:sp>
      <p:sp>
        <p:nvSpPr>
          <p:cNvPr id="9" name="Shape 6"/>
          <p:cNvSpPr/>
          <p:nvPr/>
        </p:nvSpPr>
        <p:spPr>
          <a:xfrm>
            <a:off x="800100" y="4076700"/>
            <a:ext cx="6483251" cy="542925"/>
          </a:xfrm>
          <a:prstGeom prst="rect">
            <a:avLst/>
          </a:prstGeom>
          <a:ln w="9525">
            <a:solidFill>
              <a:srgbClr val="131313">
                <a:alpha val="20000"/>
              </a:srgbClr>
            </a:solidFill>
            <a:prstDash val="solid"/>
          </a:ln>
        </p:spPr>
      </p:sp>
      <p:sp>
        <p:nvSpPr>
          <p:cNvPr id="10" name="Text 7"/>
          <p:cNvSpPr/>
          <p:nvPr/>
        </p:nvSpPr>
        <p:spPr>
          <a:xfrm>
            <a:off x="1038225" y="4200525"/>
            <a:ext cx="620149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Integrating online behavioural with offline transactional data</a:t>
            </a:r>
            <a:endParaRPr lang="en-US" sz="1800" dirty="0"/>
          </a:p>
        </p:txBody>
      </p:sp>
      <p:sp>
        <p:nvSpPr>
          <p:cNvPr id="11" name="Shape 8"/>
          <p:cNvSpPr/>
          <p:nvPr/>
        </p:nvSpPr>
        <p:spPr>
          <a:xfrm>
            <a:off x="7397651" y="4076700"/>
            <a:ext cx="5457676" cy="542925"/>
          </a:xfrm>
          <a:prstGeom prst="rect">
            <a:avLst/>
          </a:prstGeom>
          <a:ln w="9525">
            <a:solidFill>
              <a:srgbClr val="131313">
                <a:alpha val="20000"/>
              </a:srgbClr>
            </a:solidFill>
            <a:prstDash val="solid"/>
          </a:ln>
        </p:spPr>
      </p:sp>
      <p:sp>
        <p:nvSpPr>
          <p:cNvPr id="12" name="Text 9"/>
          <p:cNvSpPr/>
          <p:nvPr/>
        </p:nvSpPr>
        <p:spPr>
          <a:xfrm>
            <a:off x="7635776" y="4200525"/>
            <a:ext cx="514515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Mapping source data to downstream destinations</a:t>
            </a:r>
            <a:endParaRPr lang="en-US" sz="1800" dirty="0"/>
          </a:p>
        </p:txBody>
      </p:sp>
      <p:sp>
        <p:nvSpPr>
          <p:cNvPr id="13" name="Shape 10"/>
          <p:cNvSpPr/>
          <p:nvPr/>
        </p:nvSpPr>
        <p:spPr>
          <a:xfrm>
            <a:off x="800100" y="4733925"/>
            <a:ext cx="6300639" cy="542925"/>
          </a:xfrm>
          <a:prstGeom prst="rect">
            <a:avLst/>
          </a:prstGeom>
          <a:ln w="9525">
            <a:solidFill>
              <a:srgbClr val="131313">
                <a:alpha val="20000"/>
              </a:srgbClr>
            </a:solidFill>
            <a:prstDash val="solid"/>
          </a:ln>
        </p:spPr>
      </p:sp>
      <p:sp>
        <p:nvSpPr>
          <p:cNvPr id="14" name="Text 11"/>
          <p:cNvSpPr/>
          <p:nvPr/>
        </p:nvSpPr>
        <p:spPr>
          <a:xfrm>
            <a:off x="1038225" y="4857750"/>
            <a:ext cx="601340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Validating ingestion into CDP and data-lake environments</a:t>
            </a:r>
            <a:endParaRPr lang="en-US" sz="1800" dirty="0"/>
          </a:p>
        </p:txBody>
      </p:sp>
      <p:sp>
        <p:nvSpPr>
          <p:cNvPr id="15" name="Shape 12"/>
          <p:cNvSpPr/>
          <p:nvPr/>
        </p:nvSpPr>
        <p:spPr>
          <a:xfrm>
            <a:off x="7215039" y="4733925"/>
            <a:ext cx="2573089" cy="542925"/>
          </a:xfrm>
          <a:prstGeom prst="rect">
            <a:avLst/>
          </a:prstGeom>
          <a:ln w="9525">
            <a:solidFill>
              <a:srgbClr val="131313">
                <a:alpha val="20000"/>
              </a:srgbClr>
            </a:solidFill>
            <a:prstDash val="solid"/>
          </a:ln>
        </p:spPr>
      </p:sp>
      <p:sp>
        <p:nvSpPr>
          <p:cNvPr id="16" name="Text 13"/>
          <p:cNvSpPr/>
          <p:nvPr/>
        </p:nvSpPr>
        <p:spPr>
          <a:xfrm>
            <a:off x="7453164" y="4857750"/>
            <a:ext cx="217403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Data standardization</a:t>
            </a:r>
            <a:endParaRPr lang="en-US" sz="1800" dirty="0"/>
          </a:p>
        </p:txBody>
      </p:sp>
      <p:sp>
        <p:nvSpPr>
          <p:cNvPr id="17" name="Shape 14"/>
          <p:cNvSpPr/>
          <p:nvPr/>
        </p:nvSpPr>
        <p:spPr>
          <a:xfrm>
            <a:off x="9902428" y="4733925"/>
            <a:ext cx="3296989" cy="542925"/>
          </a:xfrm>
          <a:prstGeom prst="rect">
            <a:avLst/>
          </a:prstGeom>
          <a:ln w="9525">
            <a:solidFill>
              <a:srgbClr val="131313">
                <a:alpha val="20000"/>
              </a:srgbClr>
            </a:solidFill>
            <a:prstDash val="solid"/>
          </a:ln>
        </p:spPr>
      </p:sp>
      <p:sp>
        <p:nvSpPr>
          <p:cNvPr id="18" name="Text 15"/>
          <p:cNvSpPr/>
          <p:nvPr/>
        </p:nvSpPr>
        <p:spPr>
          <a:xfrm>
            <a:off x="10140553" y="4857750"/>
            <a:ext cx="291964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Customer-profile integration</a:t>
            </a:r>
            <a:endParaRPr lang="en-US" sz="1800" dirty="0"/>
          </a:p>
        </p:txBody>
      </p:sp>
      <p:sp>
        <p:nvSpPr>
          <p:cNvPr id="19" name="Shape 16"/>
          <p:cNvSpPr/>
          <p:nvPr/>
        </p:nvSpPr>
        <p:spPr>
          <a:xfrm>
            <a:off x="800100" y="5391150"/>
            <a:ext cx="4314527" cy="542925"/>
          </a:xfrm>
          <a:prstGeom prst="rect">
            <a:avLst/>
          </a:prstGeom>
          <a:ln w="9525">
            <a:solidFill>
              <a:srgbClr val="131313">
                <a:alpha val="20000"/>
              </a:srgbClr>
            </a:solidFill>
            <a:prstDash val="solid"/>
          </a:ln>
        </p:spPr>
      </p:sp>
      <p:sp>
        <p:nvSpPr>
          <p:cNvPr id="20" name="Text 17"/>
          <p:cNvSpPr/>
          <p:nvPr/>
        </p:nvSpPr>
        <p:spPr>
          <a:xfrm>
            <a:off x="1038225" y="5514975"/>
            <a:ext cx="396771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Known and unknown identity handling</a:t>
            </a:r>
            <a:endParaRPr lang="en-US" sz="1800" dirty="0"/>
          </a:p>
        </p:txBody>
      </p:sp>
      <p:sp>
        <p:nvSpPr>
          <p:cNvPr id="21" name="Shape 18"/>
          <p:cNvSpPr/>
          <p:nvPr/>
        </p:nvSpPr>
        <p:spPr>
          <a:xfrm>
            <a:off x="5228927" y="5391150"/>
            <a:ext cx="2687687" cy="542925"/>
          </a:xfrm>
          <a:prstGeom prst="rect">
            <a:avLst/>
          </a:prstGeom>
          <a:ln w="9525">
            <a:solidFill>
              <a:srgbClr val="131313">
                <a:alpha val="20000"/>
              </a:srgbClr>
            </a:solidFill>
            <a:prstDash val="solid"/>
          </a:ln>
        </p:spPr>
      </p:sp>
      <p:sp>
        <p:nvSpPr>
          <p:cNvPr id="22" name="Text 19"/>
          <p:cNvSpPr/>
          <p:nvPr/>
        </p:nvSpPr>
        <p:spPr>
          <a:xfrm>
            <a:off x="5467052" y="5514975"/>
            <a:ext cx="229206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 enablement</a:t>
            </a:r>
            <a:endParaRPr lang="en-US" sz="1800" dirty="0"/>
          </a:p>
        </p:txBody>
      </p:sp>
      <p:sp>
        <p:nvSpPr>
          <p:cNvPr id="23" name="Shape 20"/>
          <p:cNvSpPr/>
          <p:nvPr/>
        </p:nvSpPr>
        <p:spPr>
          <a:xfrm>
            <a:off x="8030914" y="5391150"/>
            <a:ext cx="2699742" cy="542925"/>
          </a:xfrm>
          <a:prstGeom prst="rect">
            <a:avLst/>
          </a:prstGeom>
          <a:ln w="9525">
            <a:solidFill>
              <a:srgbClr val="131313">
                <a:alpha val="20000"/>
              </a:srgbClr>
            </a:solidFill>
            <a:prstDash val="solid"/>
          </a:ln>
        </p:spPr>
      </p:sp>
      <p:sp>
        <p:nvSpPr>
          <p:cNvPr id="24" name="Text 21"/>
          <p:cNvSpPr/>
          <p:nvPr/>
        </p:nvSpPr>
        <p:spPr>
          <a:xfrm>
            <a:off x="8269039" y="5514975"/>
            <a:ext cx="2304484"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Real-time integrations</a:t>
            </a:r>
            <a:endParaRPr lang="en-US" sz="1800" dirty="0"/>
          </a:p>
        </p:txBody>
      </p:sp>
      <p:sp>
        <p:nvSpPr>
          <p:cNvPr id="25" name="Shape 22"/>
          <p:cNvSpPr/>
          <p:nvPr/>
        </p:nvSpPr>
        <p:spPr>
          <a:xfrm>
            <a:off x="10844957" y="5391150"/>
            <a:ext cx="2826841" cy="542925"/>
          </a:xfrm>
          <a:prstGeom prst="rect">
            <a:avLst/>
          </a:prstGeom>
          <a:ln w="9525">
            <a:solidFill>
              <a:srgbClr val="131313">
                <a:alpha val="20000"/>
              </a:srgbClr>
            </a:solidFill>
            <a:prstDash val="solid"/>
          </a:ln>
        </p:spPr>
      </p:sp>
      <p:sp>
        <p:nvSpPr>
          <p:cNvPr id="26" name="Text 23"/>
          <p:cNvSpPr/>
          <p:nvPr/>
        </p:nvSpPr>
        <p:spPr>
          <a:xfrm>
            <a:off x="11083082" y="5514975"/>
            <a:ext cx="243539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Third-party integrations</a:t>
            </a:r>
            <a:endParaRPr lang="en-US" sz="1800" dirty="0"/>
          </a:p>
        </p:txBody>
      </p:sp>
      <p:sp>
        <p:nvSpPr>
          <p:cNvPr id="27" name="Shape 24"/>
          <p:cNvSpPr/>
          <p:nvPr/>
        </p:nvSpPr>
        <p:spPr>
          <a:xfrm>
            <a:off x="13786098" y="5391150"/>
            <a:ext cx="2814489" cy="542925"/>
          </a:xfrm>
          <a:prstGeom prst="rect">
            <a:avLst/>
          </a:prstGeom>
          <a:ln w="9525">
            <a:solidFill>
              <a:srgbClr val="131313">
                <a:alpha val="20000"/>
              </a:srgbClr>
            </a:solidFill>
            <a:prstDash val="solid"/>
          </a:ln>
        </p:spPr>
      </p:sp>
      <p:sp>
        <p:nvSpPr>
          <p:cNvPr id="28" name="Text 25"/>
          <p:cNvSpPr/>
          <p:nvPr/>
        </p:nvSpPr>
        <p:spPr>
          <a:xfrm>
            <a:off x="14024223" y="5514975"/>
            <a:ext cx="242267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Integration architecture</a:t>
            </a:r>
            <a:endParaRPr lang="en-US" sz="1800" dirty="0"/>
          </a:p>
        </p:txBody>
      </p:sp>
      <p:sp>
        <p:nvSpPr>
          <p:cNvPr id="29" name="Shape 26"/>
          <p:cNvSpPr/>
          <p:nvPr/>
        </p:nvSpPr>
        <p:spPr>
          <a:xfrm>
            <a:off x="800100" y="6048375"/>
            <a:ext cx="3284637" cy="542925"/>
          </a:xfrm>
          <a:prstGeom prst="rect">
            <a:avLst/>
          </a:prstGeom>
          <a:ln w="9525">
            <a:solidFill>
              <a:srgbClr val="131313">
                <a:alpha val="20000"/>
              </a:srgbClr>
            </a:solidFill>
            <a:prstDash val="solid"/>
          </a:ln>
        </p:spPr>
      </p:sp>
      <p:sp>
        <p:nvSpPr>
          <p:cNvPr id="30" name="Text 27"/>
          <p:cNvSpPr/>
          <p:nvPr/>
        </p:nvSpPr>
        <p:spPr>
          <a:xfrm>
            <a:off x="1038225" y="6172200"/>
            <a:ext cx="290692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Debugging data-flow issues</a:t>
            </a:r>
            <a:endParaRPr lang="en-US" sz="1800" dirty="0"/>
          </a:p>
        </p:txBody>
      </p:sp>
      <p:sp>
        <p:nvSpPr>
          <p:cNvPr id="31" name="Shape 28"/>
          <p:cNvSpPr/>
          <p:nvPr/>
        </p:nvSpPr>
        <p:spPr>
          <a:xfrm>
            <a:off x="800100" y="6705600"/>
            <a:ext cx="13694420" cy="523875"/>
          </a:xfrm>
          <a:prstGeom prst="rect">
            <a:avLst/>
          </a:prstGeom>
          <a:solidFill>
            <a:srgbClr val="131313"/>
          </a:solidFill>
          <a:ln/>
        </p:spPr>
      </p:sp>
      <p:sp>
        <p:nvSpPr>
          <p:cNvPr id="32" name="Text 29"/>
          <p:cNvSpPr/>
          <p:nvPr/>
        </p:nvSpPr>
        <p:spPr>
          <a:xfrm>
            <a:off x="1028700" y="6819900"/>
            <a:ext cx="1364805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Validating that upstream commerce activity produced the expected downstream analytics, profile and audience behaviour</a:t>
            </a:r>
            <a:endParaRPr lang="en-US" sz="1800" dirty="0"/>
          </a:p>
        </p:txBody>
      </p:sp>
      <p:sp>
        <p:nvSpPr>
          <p:cNvPr id="33" name="Text 3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4" name="Text 3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5" name="Text 3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35</a:t>
            </a:r>
            <a:endParaRPr lang="en-US" sz="11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Digital Marketing Connector</a:t>
            </a:r>
            <a:endParaRPr lang="en-US" sz="3900" dirty="0"/>
          </a:p>
        </p:txBody>
      </p:sp>
      <p:sp>
        <p:nvSpPr>
          <p:cNvPr id="5" name="Shape 2"/>
          <p:cNvSpPr/>
          <p:nvPr/>
        </p:nvSpPr>
        <p:spPr>
          <a:xfrm>
            <a:off x="800100" y="1905000"/>
            <a:ext cx="16687800" cy="723900"/>
          </a:xfrm>
          <a:prstGeom prst="rect">
            <a:avLst/>
          </a:prstGeom>
          <a:solidFill>
            <a:srgbClr val="131313"/>
          </a:solidFill>
          <a:ln/>
        </p:spPr>
      </p:sp>
      <p:sp>
        <p:nvSpPr>
          <p:cNvPr id="6" name="Text 3"/>
          <p:cNvSpPr/>
          <p:nvPr/>
        </p:nvSpPr>
        <p:spPr>
          <a:xfrm>
            <a:off x="1104900" y="2143125"/>
            <a:ext cx="74295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MODE</a:t>
            </a:r>
            <a:endParaRPr lang="en-US" sz="1650" dirty="0"/>
          </a:p>
        </p:txBody>
      </p:sp>
      <p:sp>
        <p:nvSpPr>
          <p:cNvPr id="7" name="Text 4"/>
          <p:cNvSpPr/>
          <p:nvPr/>
        </p:nvSpPr>
        <p:spPr>
          <a:xfrm>
            <a:off x="2038350" y="2095500"/>
            <a:ext cx="5199623"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FFFF"/>
                </a:solidFill>
                <a:latin typeface="Arial" pitchFamily="34" charset="0"/>
                <a:ea typeface="Arial" pitchFamily="34" charset="-122"/>
                <a:cs typeface="Arial" pitchFamily="34" charset="-120"/>
              </a:rPr>
              <a:t>Build / Extend · Integrate · Customize</a:t>
            </a:r>
            <a:endParaRPr lang="en-US" sz="2100" dirty="0"/>
          </a:p>
        </p:txBody>
      </p:sp>
      <p:sp>
        <p:nvSpPr>
          <p:cNvPr id="8" name="Text 5"/>
          <p:cNvSpPr/>
          <p:nvPr/>
        </p:nvSpPr>
        <p:spPr>
          <a:xfrm>
            <a:off x="7031980" y="2119313"/>
            <a:ext cx="401157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FF532C"/>
                </a:solidFill>
                <a:latin typeface="Arial" pitchFamily="34" charset="0"/>
                <a:ea typeface="Arial" pitchFamily="34" charset="-122"/>
                <a:cs typeface="Arial" pitchFamily="34" charset="-120"/>
              </a:rPr>
              <a:t>closest to my deepest specialization</a:t>
            </a:r>
            <a:endParaRPr lang="en-US" sz="1800" dirty="0"/>
          </a:p>
        </p:txBody>
      </p:sp>
      <p:sp>
        <p:nvSpPr>
          <p:cNvPr id="9" name="Text 6"/>
          <p:cNvSpPr/>
          <p:nvPr/>
        </p:nvSpPr>
        <p:spPr>
          <a:xfrm>
            <a:off x="800100" y="2895600"/>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INTEGRATION AND OPERATION OF</a:t>
            </a:r>
            <a:endParaRPr lang="en-US" sz="1650" dirty="0"/>
          </a:p>
        </p:txBody>
      </p:sp>
      <p:sp>
        <p:nvSpPr>
          <p:cNvPr id="10" name="Shape 7"/>
          <p:cNvSpPr/>
          <p:nvPr/>
        </p:nvSpPr>
        <p:spPr>
          <a:xfrm>
            <a:off x="800100" y="3409950"/>
            <a:ext cx="2115592" cy="542925"/>
          </a:xfrm>
          <a:prstGeom prst="rect">
            <a:avLst/>
          </a:prstGeom>
          <a:ln w="9525">
            <a:solidFill>
              <a:srgbClr val="131313">
                <a:alpha val="20000"/>
              </a:srgbClr>
            </a:solidFill>
            <a:prstDash val="solid"/>
          </a:ln>
        </p:spPr>
      </p:sp>
      <p:sp>
        <p:nvSpPr>
          <p:cNvPr id="11" name="Text 8"/>
          <p:cNvSpPr/>
          <p:nvPr/>
        </p:nvSpPr>
        <p:spPr>
          <a:xfrm>
            <a:off x="1038225" y="3533775"/>
            <a:ext cx="17155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Analytics</a:t>
            </a:r>
            <a:endParaRPr lang="en-US" sz="1800" dirty="0"/>
          </a:p>
        </p:txBody>
      </p:sp>
      <p:sp>
        <p:nvSpPr>
          <p:cNvPr id="12" name="Shape 9"/>
          <p:cNvSpPr/>
          <p:nvPr/>
        </p:nvSpPr>
        <p:spPr>
          <a:xfrm>
            <a:off x="3029992" y="3409950"/>
            <a:ext cx="5359450" cy="542925"/>
          </a:xfrm>
          <a:prstGeom prst="rect">
            <a:avLst/>
          </a:prstGeom>
          <a:ln w="9525">
            <a:solidFill>
              <a:srgbClr val="131313">
                <a:alpha val="20000"/>
              </a:srgbClr>
            </a:solidFill>
            <a:prstDash val="solid"/>
          </a:ln>
        </p:spPr>
      </p:sp>
      <p:sp>
        <p:nvSpPr>
          <p:cNvPr id="13" name="Text 10"/>
          <p:cNvSpPr/>
          <p:nvPr/>
        </p:nvSpPr>
        <p:spPr>
          <a:xfrm>
            <a:off x="3268117" y="3533775"/>
            <a:ext cx="504398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Experience Platform and Real-Time CDP</a:t>
            </a:r>
            <a:endParaRPr lang="en-US" sz="1800" dirty="0"/>
          </a:p>
        </p:txBody>
      </p:sp>
      <p:sp>
        <p:nvSpPr>
          <p:cNvPr id="14" name="Shape 11"/>
          <p:cNvSpPr/>
          <p:nvPr/>
        </p:nvSpPr>
        <p:spPr>
          <a:xfrm>
            <a:off x="8503741" y="3409950"/>
            <a:ext cx="3322141" cy="542925"/>
          </a:xfrm>
          <a:prstGeom prst="rect">
            <a:avLst/>
          </a:prstGeom>
          <a:ln w="9525">
            <a:solidFill>
              <a:srgbClr val="131313">
                <a:alpha val="20000"/>
              </a:srgbClr>
            </a:solidFill>
            <a:prstDash val="solid"/>
          </a:ln>
        </p:spPr>
      </p:sp>
      <p:sp>
        <p:nvSpPr>
          <p:cNvPr id="15" name="Text 12"/>
          <p:cNvSpPr/>
          <p:nvPr/>
        </p:nvSpPr>
        <p:spPr>
          <a:xfrm>
            <a:off x="8741866" y="3533775"/>
            <a:ext cx="294555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 Journey Analytics</a:t>
            </a:r>
            <a:endParaRPr lang="en-US" sz="1800" dirty="0"/>
          </a:p>
        </p:txBody>
      </p:sp>
      <p:sp>
        <p:nvSpPr>
          <p:cNvPr id="16" name="Shape 13"/>
          <p:cNvSpPr/>
          <p:nvPr/>
        </p:nvSpPr>
        <p:spPr>
          <a:xfrm>
            <a:off x="11940183" y="3409950"/>
            <a:ext cx="2395240" cy="542925"/>
          </a:xfrm>
          <a:prstGeom prst="rect">
            <a:avLst/>
          </a:prstGeom>
          <a:ln w="9525">
            <a:solidFill>
              <a:srgbClr val="131313">
                <a:alpha val="20000"/>
              </a:srgbClr>
            </a:solidFill>
            <a:prstDash val="solid"/>
          </a:ln>
        </p:spPr>
      </p:sp>
      <p:sp>
        <p:nvSpPr>
          <p:cNvPr id="17" name="Text 14"/>
          <p:cNvSpPr/>
          <p:nvPr/>
        </p:nvSpPr>
        <p:spPr>
          <a:xfrm>
            <a:off x="12178308" y="3533775"/>
            <a:ext cx="199519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 Manager</a:t>
            </a:r>
            <a:endParaRPr lang="en-US" sz="1800" dirty="0"/>
          </a:p>
        </p:txBody>
      </p:sp>
      <p:sp>
        <p:nvSpPr>
          <p:cNvPr id="18" name="Shape 15"/>
          <p:cNvSpPr/>
          <p:nvPr/>
        </p:nvSpPr>
        <p:spPr>
          <a:xfrm>
            <a:off x="14449723" y="3409950"/>
            <a:ext cx="1836241" cy="542925"/>
          </a:xfrm>
          <a:prstGeom prst="rect">
            <a:avLst/>
          </a:prstGeom>
          <a:ln w="9525">
            <a:solidFill>
              <a:srgbClr val="131313">
                <a:alpha val="20000"/>
              </a:srgbClr>
            </a:solidFill>
            <a:prstDash val="solid"/>
          </a:ln>
        </p:spPr>
      </p:sp>
      <p:sp>
        <p:nvSpPr>
          <p:cNvPr id="19" name="Text 16"/>
          <p:cNvSpPr/>
          <p:nvPr/>
        </p:nvSpPr>
        <p:spPr>
          <a:xfrm>
            <a:off x="14687848" y="3533775"/>
            <a:ext cx="1436191"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Target</a:t>
            </a:r>
            <a:endParaRPr lang="en-US" sz="1800" dirty="0"/>
          </a:p>
        </p:txBody>
      </p:sp>
      <p:sp>
        <p:nvSpPr>
          <p:cNvPr id="20" name="Shape 17"/>
          <p:cNvSpPr/>
          <p:nvPr/>
        </p:nvSpPr>
        <p:spPr>
          <a:xfrm>
            <a:off x="800100" y="4067175"/>
            <a:ext cx="2242840" cy="542925"/>
          </a:xfrm>
          <a:prstGeom prst="rect">
            <a:avLst/>
          </a:prstGeom>
          <a:ln w="9525">
            <a:solidFill>
              <a:srgbClr val="131313">
                <a:alpha val="20000"/>
              </a:srgbClr>
            </a:solidFill>
            <a:prstDash val="solid"/>
          </a:ln>
        </p:spPr>
      </p:sp>
      <p:sp>
        <p:nvSpPr>
          <p:cNvPr id="21" name="Text 18"/>
          <p:cNvSpPr/>
          <p:nvPr/>
        </p:nvSpPr>
        <p:spPr>
          <a:xfrm>
            <a:off x="1038225" y="4191000"/>
            <a:ext cx="184279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Campaign</a:t>
            </a:r>
            <a:endParaRPr lang="en-US" sz="1800" dirty="0"/>
          </a:p>
        </p:txBody>
      </p:sp>
      <p:sp>
        <p:nvSpPr>
          <p:cNvPr id="22" name="Shape 19"/>
          <p:cNvSpPr/>
          <p:nvPr/>
        </p:nvSpPr>
        <p:spPr>
          <a:xfrm>
            <a:off x="3157240" y="4067175"/>
            <a:ext cx="3055590" cy="542925"/>
          </a:xfrm>
          <a:prstGeom prst="rect">
            <a:avLst/>
          </a:prstGeom>
          <a:ln w="9525">
            <a:solidFill>
              <a:srgbClr val="131313">
                <a:alpha val="20000"/>
              </a:srgbClr>
            </a:solidFill>
            <a:prstDash val="solid"/>
          </a:ln>
        </p:spPr>
      </p:sp>
      <p:sp>
        <p:nvSpPr>
          <p:cNvPr id="23" name="Text 20"/>
          <p:cNvSpPr/>
          <p:nvPr/>
        </p:nvSpPr>
        <p:spPr>
          <a:xfrm>
            <a:off x="3395365" y="4191000"/>
            <a:ext cx="2671008"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Journey Optimizer</a:t>
            </a:r>
            <a:endParaRPr lang="en-US" sz="1800" dirty="0"/>
          </a:p>
        </p:txBody>
      </p:sp>
      <p:sp>
        <p:nvSpPr>
          <p:cNvPr id="24" name="Shape 21"/>
          <p:cNvSpPr/>
          <p:nvPr/>
        </p:nvSpPr>
        <p:spPr>
          <a:xfrm>
            <a:off x="6327130" y="4067175"/>
            <a:ext cx="4009430" cy="542925"/>
          </a:xfrm>
          <a:prstGeom prst="rect">
            <a:avLst/>
          </a:prstGeom>
          <a:ln w="9525">
            <a:solidFill>
              <a:srgbClr val="131313">
                <a:alpha val="20000"/>
              </a:srgbClr>
            </a:solidFill>
            <a:prstDash val="solid"/>
          </a:ln>
        </p:spPr>
      </p:sp>
      <p:sp>
        <p:nvSpPr>
          <p:cNvPr id="25" name="Text 22"/>
          <p:cNvSpPr/>
          <p:nvPr/>
        </p:nvSpPr>
        <p:spPr>
          <a:xfrm>
            <a:off x="6565255" y="4191000"/>
            <a:ext cx="365346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Adobe Launch and Data Collection</a:t>
            </a:r>
            <a:endParaRPr lang="en-US" sz="1800" dirty="0"/>
          </a:p>
        </p:txBody>
      </p:sp>
      <p:sp>
        <p:nvSpPr>
          <p:cNvPr id="26" name="Shape 23"/>
          <p:cNvSpPr/>
          <p:nvPr/>
        </p:nvSpPr>
        <p:spPr>
          <a:xfrm>
            <a:off x="10450860" y="4067175"/>
            <a:ext cx="1302097" cy="542925"/>
          </a:xfrm>
          <a:prstGeom prst="rect">
            <a:avLst/>
          </a:prstGeom>
          <a:ln w="9525">
            <a:solidFill>
              <a:srgbClr val="131313">
                <a:alpha val="20000"/>
              </a:srgbClr>
            </a:solidFill>
            <a:prstDash val="solid"/>
          </a:ln>
        </p:spPr>
      </p:sp>
      <p:sp>
        <p:nvSpPr>
          <p:cNvPr id="27" name="Text 24"/>
          <p:cNvSpPr/>
          <p:nvPr/>
        </p:nvSpPr>
        <p:spPr>
          <a:xfrm>
            <a:off x="10688985" y="4191000"/>
            <a:ext cx="90204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Marketo</a:t>
            </a:r>
            <a:endParaRPr lang="en-US" sz="1800" dirty="0"/>
          </a:p>
        </p:txBody>
      </p:sp>
      <p:sp>
        <p:nvSpPr>
          <p:cNvPr id="28" name="Text 25"/>
          <p:cNvSpPr/>
          <p:nvPr/>
        </p:nvSpPr>
        <p:spPr>
          <a:xfrm>
            <a:off x="800100" y="4876800"/>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TOGETHER WITH</a:t>
            </a:r>
            <a:endParaRPr lang="en-US" sz="1650" dirty="0"/>
          </a:p>
        </p:txBody>
      </p:sp>
      <p:sp>
        <p:nvSpPr>
          <p:cNvPr id="29" name="Shape 26"/>
          <p:cNvSpPr/>
          <p:nvPr/>
        </p:nvSpPr>
        <p:spPr>
          <a:xfrm>
            <a:off x="800100" y="5391150"/>
            <a:ext cx="4473327" cy="523875"/>
          </a:xfrm>
          <a:prstGeom prst="rect">
            <a:avLst/>
          </a:prstGeom>
          <a:solidFill>
            <a:srgbClr val="F2F5F6"/>
          </a:solidFill>
          <a:ln/>
        </p:spPr>
      </p:sp>
      <p:sp>
        <p:nvSpPr>
          <p:cNvPr id="30" name="Text 27"/>
          <p:cNvSpPr/>
          <p:nvPr/>
        </p:nvSpPr>
        <p:spPr>
          <a:xfrm>
            <a:off x="1028700" y="5505450"/>
            <a:ext cx="4150327"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Tagging and behavioural data collection</a:t>
            </a:r>
            <a:endParaRPr lang="en-US" sz="1800" dirty="0"/>
          </a:p>
        </p:txBody>
      </p:sp>
      <p:sp>
        <p:nvSpPr>
          <p:cNvPr id="31" name="Shape 28"/>
          <p:cNvSpPr/>
          <p:nvPr/>
        </p:nvSpPr>
        <p:spPr>
          <a:xfrm>
            <a:off x="5387727" y="5391150"/>
            <a:ext cx="3761482" cy="523875"/>
          </a:xfrm>
          <a:prstGeom prst="rect">
            <a:avLst/>
          </a:prstGeom>
          <a:solidFill>
            <a:srgbClr val="F2F5F6"/>
          </a:solidFill>
          <a:ln/>
        </p:spPr>
      </p:sp>
      <p:sp>
        <p:nvSpPr>
          <p:cNvPr id="32" name="Text 29"/>
          <p:cNvSpPr/>
          <p:nvPr/>
        </p:nvSpPr>
        <p:spPr>
          <a:xfrm>
            <a:off x="5616327" y="5505450"/>
            <a:ext cx="3417126"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Audience creation and activation</a:t>
            </a:r>
            <a:endParaRPr lang="en-US" sz="1800" dirty="0"/>
          </a:p>
        </p:txBody>
      </p:sp>
      <p:sp>
        <p:nvSpPr>
          <p:cNvPr id="33" name="Shape 30"/>
          <p:cNvSpPr/>
          <p:nvPr/>
        </p:nvSpPr>
        <p:spPr>
          <a:xfrm>
            <a:off x="9263509" y="5391150"/>
            <a:ext cx="3871913" cy="523875"/>
          </a:xfrm>
          <a:prstGeom prst="rect">
            <a:avLst/>
          </a:prstGeom>
          <a:solidFill>
            <a:srgbClr val="F2F5F6"/>
          </a:solidFill>
          <a:ln/>
        </p:spPr>
      </p:sp>
      <p:sp>
        <p:nvSpPr>
          <p:cNvPr id="34" name="Text 31"/>
          <p:cNvSpPr/>
          <p:nvPr/>
        </p:nvSpPr>
        <p:spPr>
          <a:xfrm>
            <a:off x="9492109" y="5505450"/>
            <a:ext cx="353087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Online and offline data integration</a:t>
            </a:r>
            <a:endParaRPr lang="en-US" sz="1800" dirty="0"/>
          </a:p>
        </p:txBody>
      </p:sp>
      <p:sp>
        <p:nvSpPr>
          <p:cNvPr id="35" name="Shape 32"/>
          <p:cNvSpPr/>
          <p:nvPr/>
        </p:nvSpPr>
        <p:spPr>
          <a:xfrm>
            <a:off x="13249721" y="5391150"/>
            <a:ext cx="3404741" cy="523875"/>
          </a:xfrm>
          <a:prstGeom prst="rect">
            <a:avLst/>
          </a:prstGeom>
          <a:solidFill>
            <a:srgbClr val="F2F5F6"/>
          </a:solidFill>
          <a:ln/>
        </p:spPr>
      </p:sp>
      <p:sp>
        <p:nvSpPr>
          <p:cNvPr id="36" name="Text 33"/>
          <p:cNvSpPr/>
          <p:nvPr/>
        </p:nvSpPr>
        <p:spPr>
          <a:xfrm>
            <a:off x="13478321" y="5505450"/>
            <a:ext cx="3049683"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Customer-profile architecture</a:t>
            </a:r>
            <a:endParaRPr lang="en-US" sz="1800" dirty="0"/>
          </a:p>
        </p:txBody>
      </p:sp>
      <p:sp>
        <p:nvSpPr>
          <p:cNvPr id="37" name="Shape 34"/>
          <p:cNvSpPr/>
          <p:nvPr/>
        </p:nvSpPr>
        <p:spPr>
          <a:xfrm>
            <a:off x="800100" y="6029325"/>
            <a:ext cx="2020342" cy="523875"/>
          </a:xfrm>
          <a:prstGeom prst="rect">
            <a:avLst/>
          </a:prstGeom>
          <a:solidFill>
            <a:srgbClr val="F2F5F6"/>
          </a:solidFill>
          <a:ln/>
        </p:spPr>
      </p:sp>
      <p:sp>
        <p:nvSpPr>
          <p:cNvPr id="38" name="Text 35"/>
          <p:cNvSpPr/>
          <p:nvPr/>
        </p:nvSpPr>
        <p:spPr>
          <a:xfrm>
            <a:off x="1028700" y="6143625"/>
            <a:ext cx="163934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Personalization</a:t>
            </a:r>
            <a:endParaRPr lang="en-US" sz="1800" dirty="0"/>
          </a:p>
        </p:txBody>
      </p:sp>
      <p:sp>
        <p:nvSpPr>
          <p:cNvPr id="39" name="Shape 36"/>
          <p:cNvSpPr/>
          <p:nvPr/>
        </p:nvSpPr>
        <p:spPr>
          <a:xfrm>
            <a:off x="2934742" y="6029325"/>
            <a:ext cx="4548932" cy="523875"/>
          </a:xfrm>
          <a:prstGeom prst="rect">
            <a:avLst/>
          </a:prstGeom>
          <a:solidFill>
            <a:srgbClr val="F2F5F6"/>
          </a:solidFill>
          <a:ln/>
        </p:spPr>
      </p:sp>
      <p:sp>
        <p:nvSpPr>
          <p:cNvPr id="40" name="Text 37"/>
          <p:cNvSpPr/>
          <p:nvPr/>
        </p:nvSpPr>
        <p:spPr>
          <a:xfrm>
            <a:off x="3163342" y="6143625"/>
            <a:ext cx="4228200"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Campaign and acquisition measurement</a:t>
            </a:r>
            <a:endParaRPr lang="en-US" sz="1800" dirty="0"/>
          </a:p>
        </p:txBody>
      </p:sp>
      <p:sp>
        <p:nvSpPr>
          <p:cNvPr id="41" name="Shape 38"/>
          <p:cNvSpPr/>
          <p:nvPr/>
        </p:nvSpPr>
        <p:spPr>
          <a:xfrm>
            <a:off x="7597973" y="6029325"/>
            <a:ext cx="3074640" cy="523875"/>
          </a:xfrm>
          <a:prstGeom prst="rect">
            <a:avLst/>
          </a:prstGeom>
          <a:solidFill>
            <a:srgbClr val="F2F5F6"/>
          </a:solidFill>
          <a:ln/>
        </p:spPr>
      </p:sp>
      <p:sp>
        <p:nvSpPr>
          <p:cNvPr id="42" name="Text 39"/>
          <p:cNvSpPr/>
          <p:nvPr/>
        </p:nvSpPr>
        <p:spPr>
          <a:xfrm>
            <a:off x="7826573" y="6143625"/>
            <a:ext cx="2709679"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Paid-media measurement</a:t>
            </a:r>
            <a:endParaRPr lang="en-US" sz="1800" dirty="0"/>
          </a:p>
        </p:txBody>
      </p:sp>
      <p:sp>
        <p:nvSpPr>
          <p:cNvPr id="43" name="Shape 40"/>
          <p:cNvSpPr/>
          <p:nvPr/>
        </p:nvSpPr>
        <p:spPr>
          <a:xfrm>
            <a:off x="10786914" y="6029325"/>
            <a:ext cx="3494187" cy="523875"/>
          </a:xfrm>
          <a:prstGeom prst="rect">
            <a:avLst/>
          </a:prstGeom>
          <a:solidFill>
            <a:srgbClr val="F2F5F6"/>
          </a:solidFill>
          <a:ln/>
        </p:spPr>
      </p:sp>
      <p:sp>
        <p:nvSpPr>
          <p:cNvPr id="44" name="Text 41"/>
          <p:cNvSpPr/>
          <p:nvPr/>
        </p:nvSpPr>
        <p:spPr>
          <a:xfrm>
            <a:off x="11015514" y="6143625"/>
            <a:ext cx="3141812"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KPI and reporting architecture</a:t>
            </a:r>
            <a:endParaRPr lang="en-US" sz="1800" dirty="0"/>
          </a:p>
        </p:txBody>
      </p:sp>
      <p:sp>
        <p:nvSpPr>
          <p:cNvPr id="45" name="Shape 42"/>
          <p:cNvSpPr/>
          <p:nvPr/>
        </p:nvSpPr>
        <p:spPr>
          <a:xfrm>
            <a:off x="800100" y="6667500"/>
            <a:ext cx="4650432" cy="523875"/>
          </a:xfrm>
          <a:prstGeom prst="rect">
            <a:avLst/>
          </a:prstGeom>
          <a:solidFill>
            <a:srgbClr val="F2F5F6"/>
          </a:solidFill>
          <a:ln/>
        </p:spPr>
      </p:sp>
      <p:sp>
        <p:nvSpPr>
          <p:cNvPr id="46" name="Text 43"/>
          <p:cNvSpPr/>
          <p:nvPr/>
        </p:nvSpPr>
        <p:spPr>
          <a:xfrm>
            <a:off x="1028700" y="6781800"/>
            <a:ext cx="4332745" cy="333375"/>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Broader Marketing Data Stack integration</a:t>
            </a:r>
            <a:endParaRPr lang="en-US" sz="1800" dirty="0"/>
          </a:p>
        </p:txBody>
      </p:sp>
      <p:sp>
        <p:nvSpPr>
          <p:cNvPr id="47" name="Text 4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8" name="Text 4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9" name="Text 4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36</a:t>
            </a:r>
            <a:endParaRPr lang="en-US" sz="11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Client-facing technical role</a:t>
            </a:r>
            <a:endParaRPr lang="en-US" sz="3900" dirty="0"/>
          </a:p>
        </p:txBody>
      </p:sp>
      <p:sp>
        <p:nvSpPr>
          <p:cNvPr id="5" name="Text 2"/>
          <p:cNvSpPr/>
          <p:nvPr/>
        </p:nvSpPr>
        <p:spPr>
          <a:xfrm>
            <a:off x="800100" y="3810000"/>
            <a:ext cx="15304770" cy="1981200"/>
          </a:xfrm>
          <a:prstGeom prst="rect">
            <a:avLst/>
          </a:prstGeom>
          <a:noFill/>
          <a:ln/>
        </p:spPr>
        <p:txBody>
          <a:bodyPr wrap="square" lIns="25400" tIns="25400" rIns="25400" bIns="25400" rtlCol="0" anchor="t">
            <a:normAutofit/>
          </a:bodyPr>
          <a:lstStyle/>
          <a:p>
            <a:pPr algn="l" indent="0" marL="0">
              <a:lnSpc>
                <a:spcPct val="114400"/>
              </a:lnSpc>
              <a:buNone/>
            </a:pPr>
            <a:r>
              <a:rPr lang="en-US" sz="3900" spc="-75" kern="0" dirty="0">
                <a:solidFill>
                  <a:srgbClr val="131313"/>
                </a:solidFill>
                <a:latin typeface="Arial" pitchFamily="34" charset="0"/>
                <a:ea typeface="Arial" pitchFamily="34" charset="-122"/>
                <a:cs typeface="Arial" pitchFamily="34" charset="-120"/>
              </a:rPr>
              <a:t>Named as Technical Architect on the proposed account team for a University of Chicago analytics and measurement engagement, alongside the practice director, delivery manager and account lead.</a:t>
            </a:r>
            <a:endParaRPr lang="en-US" sz="3900" dirty="0"/>
          </a:p>
        </p:txBody>
      </p:sp>
      <p:sp>
        <p:nvSpPr>
          <p:cNvPr id="6" name="Text 3"/>
          <p:cNvSpPr/>
          <p:nvPr/>
        </p:nvSpPr>
        <p:spPr>
          <a:xfrm>
            <a:off x="800100" y="6781800"/>
            <a:ext cx="3622432"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University of Chicago proposal</a:t>
            </a:r>
            <a:endParaRPr lang="en-US" sz="1500" dirty="0"/>
          </a:p>
        </p:txBody>
      </p:sp>
      <p:sp>
        <p:nvSpPr>
          <p:cNvPr id="7" name="Text 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8" name="Text 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9" name="Text 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37</a:t>
            </a:r>
            <a:endParaRPr lang="en-US" sz="11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Technical scoping and effort estimation</a:t>
            </a:r>
            <a:endParaRPr lang="en-US" sz="3900" dirty="0"/>
          </a:p>
        </p:txBody>
      </p:sp>
      <p:sp>
        <p:nvSpPr>
          <p:cNvPr id="5" name="Shape 2"/>
          <p:cNvSpPr/>
          <p:nvPr/>
        </p:nvSpPr>
        <p:spPr>
          <a:xfrm>
            <a:off x="800100" y="2133600"/>
            <a:ext cx="16687800" cy="19050"/>
          </a:xfrm>
          <a:prstGeom prst="rect">
            <a:avLst/>
          </a:prstGeom>
          <a:solidFill>
            <a:srgbClr val="131313"/>
          </a:solidFill>
          <a:ln/>
        </p:spPr>
      </p:sp>
      <p:sp>
        <p:nvSpPr>
          <p:cNvPr id="6" name="Text 3"/>
          <p:cNvSpPr/>
          <p:nvPr/>
        </p:nvSpPr>
        <p:spPr>
          <a:xfrm>
            <a:off x="800100" y="2305050"/>
            <a:ext cx="17188434"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THE RESPONSIBILITY</a:t>
            </a:r>
            <a:endParaRPr lang="en-US" sz="1650" dirty="0"/>
          </a:p>
        </p:txBody>
      </p:sp>
      <p:sp>
        <p:nvSpPr>
          <p:cNvPr id="7" name="Text 4"/>
          <p:cNvSpPr/>
          <p:nvPr/>
        </p:nvSpPr>
        <p:spPr>
          <a:xfrm>
            <a:off x="800100" y="272415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Fixed-price, fixed-scope Ascent engagements required accurate technical sizing before commitment. My role included feasibility analysis, solution scoping, implementation effort estimation and statement-of-work technical input.</a:t>
            </a:r>
            <a:endParaRPr lang="en-US" sz="1800" dirty="0"/>
          </a:p>
        </p:txBody>
      </p:sp>
      <p:sp>
        <p:nvSpPr>
          <p:cNvPr id="8" name="Shape 5"/>
          <p:cNvSpPr/>
          <p:nvPr/>
        </p:nvSpPr>
        <p:spPr>
          <a:xfrm>
            <a:off x="800100" y="3790950"/>
            <a:ext cx="16687800" cy="3371850"/>
          </a:xfrm>
          <a:prstGeom prst="rect">
            <a:avLst/>
          </a:prstGeom>
          <a:solidFill>
            <a:srgbClr val="131313"/>
          </a:solidFill>
          <a:ln/>
        </p:spPr>
      </p:sp>
      <p:sp>
        <p:nvSpPr>
          <p:cNvPr id="9" name="Text 6"/>
          <p:cNvSpPr/>
          <p:nvPr/>
        </p:nvSpPr>
        <p:spPr>
          <a:xfrm>
            <a:off x="1257300" y="424815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WHY IT REQUIRED ASCENT-SPECIFIC KNOWLEDGE</a:t>
            </a:r>
            <a:endParaRPr lang="en-US" sz="1650" dirty="0"/>
          </a:p>
        </p:txBody>
      </p:sp>
      <p:sp>
        <p:nvSpPr>
          <p:cNvPr id="10" name="Text 7"/>
          <p:cNvSpPr/>
          <p:nvPr/>
        </p:nvSpPr>
        <p:spPr>
          <a:xfrm>
            <a:off x="1257300" y="4762500"/>
            <a:ext cx="16246602" cy="1981200"/>
          </a:xfrm>
          <a:prstGeom prst="rect">
            <a:avLst/>
          </a:prstGeom>
          <a:noFill/>
          <a:ln/>
        </p:spPr>
        <p:txBody>
          <a:bodyPr wrap="square" lIns="25400" tIns="25400" rIns="25400" bIns="25400" rtlCol="0" anchor="t">
            <a:normAutofit/>
          </a:bodyPr>
          <a:lstStyle/>
          <a:p>
            <a:pPr algn="l" indent="0" marL="0">
              <a:lnSpc>
                <a:spcPct val="119302"/>
              </a:lnSpc>
              <a:buNone/>
            </a:pPr>
            <a:r>
              <a:rPr lang="en-US" sz="2850" b="1" spc="-37" kern="0" dirty="0">
                <a:solidFill>
                  <a:srgbClr val="FFFFFF"/>
                </a:solidFill>
                <a:latin typeface="Arial" pitchFamily="34" charset="0"/>
                <a:ea typeface="Arial" pitchFamily="34" charset="-122"/>
                <a:cs typeface="Arial" pitchFamily="34" charset="-120"/>
              </a:rPr>
              <a:t>Estimating a fixed-price implementation means knowing what the integrated build actually involves — which components are affected, which integrations carry risk, where customization is straightforward and where it cascades, and how much validation each layer requires. An estimate produced without that knowledge is absorbed by the firm, not the client.</a:t>
            </a:r>
            <a:endParaRPr lang="en-US" sz="2850" dirty="0"/>
          </a:p>
        </p:txBody>
      </p:sp>
      <p:sp>
        <p:nvSpPr>
          <p:cNvPr id="11" name="Shape 8"/>
          <p:cNvSpPr/>
          <p:nvPr/>
        </p:nvSpPr>
        <p:spPr>
          <a:xfrm>
            <a:off x="800100" y="7543800"/>
            <a:ext cx="16687800" cy="19050"/>
          </a:xfrm>
          <a:prstGeom prst="rect">
            <a:avLst/>
          </a:prstGeom>
          <a:solidFill>
            <a:srgbClr val="131313"/>
          </a:solidFill>
          <a:ln/>
        </p:spPr>
      </p:sp>
      <p:sp>
        <p:nvSpPr>
          <p:cNvPr id="12" name="Text 9"/>
          <p:cNvSpPr/>
          <p:nvPr/>
        </p:nvSpPr>
        <p:spPr>
          <a:xfrm>
            <a:off x="800100" y="7715250"/>
            <a:ext cx="17188434"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SCOPE OF THE WORK</a:t>
            </a:r>
            <a:endParaRPr lang="en-US" sz="1650" dirty="0"/>
          </a:p>
        </p:txBody>
      </p:sp>
      <p:sp>
        <p:nvSpPr>
          <p:cNvPr id="13" name="Text 10"/>
          <p:cNvSpPr/>
          <p:nvPr/>
        </p:nvSpPr>
        <p:spPr>
          <a:xfrm>
            <a:off x="800100" y="813435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This work spanned engagements beyond those I personally delivered, as technical scoping is separable from delivery allocation.</a:t>
            </a:r>
            <a:endParaRPr lang="en-US" sz="1800" dirty="0"/>
          </a:p>
        </p:txBody>
      </p:sp>
      <p:sp>
        <p:nvSpPr>
          <p:cNvPr id="14" name="Text 1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5" name="Text 1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6" name="Text 1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38</a:t>
            </a:r>
            <a:endParaRPr lang="en-US" sz="11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Feature development contributions</a:t>
            </a:r>
            <a:endParaRPr lang="en-US" sz="3900" dirty="0"/>
          </a:p>
        </p:txBody>
      </p:sp>
      <p:sp>
        <p:nvSpPr>
          <p:cNvPr id="5" name="Text 2"/>
          <p:cNvSpPr/>
          <p:nvPr/>
        </p:nvSpPr>
        <p:spPr>
          <a:xfrm>
            <a:off x="800100" y="1943100"/>
            <a:ext cx="15697200" cy="8763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131313"/>
                </a:solidFill>
                <a:latin typeface="Arial" pitchFamily="34" charset="0"/>
                <a:ea typeface="Arial" pitchFamily="34" charset="-122"/>
                <a:cs typeface="Arial" pitchFamily="34" charset="-120"/>
              </a:rPr>
              <a:t>My key Ascent feature-development contributions spanned five interconnected capabilities: </a:t>
            </a:r>
            <a:pPr algn="l" indent="0" marL="0">
              <a:lnSpc>
                <a:spcPct val="121081"/>
              </a:lnSpc>
              <a:buNone/>
            </a:pPr>
            <a:r>
              <a:rPr lang="en-US" sz="2400" b="1" spc="-22" kern="0" dirty="0">
                <a:solidFill>
                  <a:srgbClr val="131313"/>
                </a:solidFill>
                <a:latin typeface="Arial" pitchFamily="34" charset="0"/>
                <a:ea typeface="Arial" pitchFamily="34" charset="-122"/>
                <a:cs typeface="Arial" pitchFamily="34" charset="-120"/>
              </a:rPr>
              <a:t>Audience, Behavior, Paid Marketing Activities, Conversions and Acquisition.</a:t>
            </a:r>
            <a:endParaRPr lang="en-US" sz="2400" dirty="0"/>
          </a:p>
        </p:txBody>
      </p:sp>
      <p:sp>
        <p:nvSpPr>
          <p:cNvPr id="6" name="Shape 3"/>
          <p:cNvSpPr/>
          <p:nvPr/>
        </p:nvSpPr>
        <p:spPr>
          <a:xfrm>
            <a:off x="800100" y="3533775"/>
            <a:ext cx="4305300" cy="19050"/>
          </a:xfrm>
          <a:prstGeom prst="rect">
            <a:avLst/>
          </a:prstGeom>
          <a:solidFill>
            <a:srgbClr val="131313"/>
          </a:solidFill>
          <a:ln/>
        </p:spPr>
      </p:sp>
      <p:sp>
        <p:nvSpPr>
          <p:cNvPr id="7" name="Text 4"/>
          <p:cNvSpPr/>
          <p:nvPr/>
        </p:nvSpPr>
        <p:spPr>
          <a:xfrm>
            <a:off x="800100" y="3124200"/>
            <a:ext cx="412965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FEATURE</a:t>
            </a:r>
            <a:endParaRPr lang="en-US" sz="1650" dirty="0"/>
          </a:p>
        </p:txBody>
      </p:sp>
      <p:sp>
        <p:nvSpPr>
          <p:cNvPr id="8" name="Shape 5"/>
          <p:cNvSpPr/>
          <p:nvPr/>
        </p:nvSpPr>
        <p:spPr>
          <a:xfrm>
            <a:off x="5105400" y="3533775"/>
            <a:ext cx="7886700" cy="19050"/>
          </a:xfrm>
          <a:prstGeom prst="rect">
            <a:avLst/>
          </a:prstGeom>
          <a:solidFill>
            <a:srgbClr val="131313"/>
          </a:solidFill>
          <a:ln/>
        </p:spPr>
      </p:sp>
      <p:sp>
        <p:nvSpPr>
          <p:cNvPr id="9" name="Text 6"/>
          <p:cNvSpPr/>
          <p:nvPr/>
        </p:nvSpPr>
        <p:spPr>
          <a:xfrm>
            <a:off x="5105400" y="3124200"/>
            <a:ext cx="7818501"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BUSINESS CAPABILITY</a:t>
            </a:r>
            <a:endParaRPr lang="en-US" sz="1650" dirty="0"/>
          </a:p>
        </p:txBody>
      </p:sp>
      <p:sp>
        <p:nvSpPr>
          <p:cNvPr id="10" name="Shape 7"/>
          <p:cNvSpPr/>
          <p:nvPr/>
        </p:nvSpPr>
        <p:spPr>
          <a:xfrm>
            <a:off x="12992100" y="3533775"/>
            <a:ext cx="4495800" cy="19050"/>
          </a:xfrm>
          <a:prstGeom prst="rect">
            <a:avLst/>
          </a:prstGeom>
          <a:solidFill>
            <a:srgbClr val="131313"/>
          </a:solidFill>
          <a:ln/>
        </p:spPr>
      </p:sp>
      <p:sp>
        <p:nvSpPr>
          <p:cNvPr id="11" name="Text 8"/>
          <p:cNvSpPr/>
          <p:nvPr/>
        </p:nvSpPr>
        <p:spPr>
          <a:xfrm>
            <a:off x="13296900" y="3124200"/>
            <a:ext cx="4325874"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MY CONTRIBUTION DEPTH</a:t>
            </a:r>
            <a:endParaRPr lang="en-US" sz="1650" dirty="0"/>
          </a:p>
        </p:txBody>
      </p:sp>
      <p:sp>
        <p:nvSpPr>
          <p:cNvPr id="12" name="Shape 9"/>
          <p:cNvSpPr/>
          <p:nvPr/>
        </p:nvSpPr>
        <p:spPr>
          <a:xfrm>
            <a:off x="800100" y="4619625"/>
            <a:ext cx="4305300" cy="9525"/>
          </a:xfrm>
          <a:prstGeom prst="rect">
            <a:avLst/>
          </a:prstGeom>
          <a:solidFill>
            <a:srgbClr val="131313">
              <a:alpha val="14000"/>
            </a:srgbClr>
          </a:solidFill>
          <a:ln/>
        </p:spPr>
      </p:sp>
      <p:sp>
        <p:nvSpPr>
          <p:cNvPr id="13" name="Text 10"/>
          <p:cNvSpPr/>
          <p:nvPr/>
        </p:nvSpPr>
        <p:spPr>
          <a:xfrm>
            <a:off x="800100" y="3762375"/>
            <a:ext cx="4129659" cy="6858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Audience</a:t>
            </a:r>
            <a:endParaRPr lang="en-US" sz="2100" dirty="0"/>
          </a:p>
        </p:txBody>
      </p:sp>
      <p:sp>
        <p:nvSpPr>
          <p:cNvPr id="14" name="Shape 11"/>
          <p:cNvSpPr/>
          <p:nvPr/>
        </p:nvSpPr>
        <p:spPr>
          <a:xfrm>
            <a:off x="5105400" y="4619625"/>
            <a:ext cx="7886700" cy="9525"/>
          </a:xfrm>
          <a:prstGeom prst="rect">
            <a:avLst/>
          </a:prstGeom>
          <a:solidFill>
            <a:srgbClr val="131313">
              <a:alpha val="14000"/>
            </a:srgbClr>
          </a:solidFill>
          <a:ln/>
        </p:spPr>
      </p:sp>
      <p:sp>
        <p:nvSpPr>
          <p:cNvPr id="15" name="Text 12"/>
          <p:cNvSpPr/>
          <p:nvPr/>
        </p:nvSpPr>
        <p:spPr>
          <a:xfrm>
            <a:off x="5105400" y="3762375"/>
            <a:ext cx="7818501"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Enables alteration of shipping and advertising approaches based on audience location and characteristics</a:t>
            </a:r>
            <a:endParaRPr lang="en-US" sz="1800" dirty="0"/>
          </a:p>
        </p:txBody>
      </p:sp>
      <p:sp>
        <p:nvSpPr>
          <p:cNvPr id="16" name="Shape 13"/>
          <p:cNvSpPr/>
          <p:nvPr/>
        </p:nvSpPr>
        <p:spPr>
          <a:xfrm>
            <a:off x="12992100" y="4619625"/>
            <a:ext cx="4495800" cy="9525"/>
          </a:xfrm>
          <a:prstGeom prst="rect">
            <a:avLst/>
          </a:prstGeom>
          <a:solidFill>
            <a:srgbClr val="131313">
              <a:alpha val="14000"/>
            </a:srgbClr>
          </a:solidFill>
          <a:ln/>
        </p:spPr>
      </p:sp>
      <p:sp>
        <p:nvSpPr>
          <p:cNvPr id="17" name="Text 14"/>
          <p:cNvSpPr/>
          <p:nvPr/>
        </p:nvSpPr>
        <p:spPr>
          <a:xfrm>
            <a:off x="13296900" y="3762375"/>
            <a:ext cx="4325874"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131313"/>
                </a:solidFill>
                <a:latin typeface="Arial" pitchFamily="34" charset="0"/>
                <a:ea typeface="Arial" pitchFamily="34" charset="-122"/>
                <a:cs typeface="Arial" pitchFamily="34" charset="-120"/>
              </a:rPr>
              <a:t>Deepest</a:t>
            </a:r>
            <a:endParaRPr lang="en-US" sz="1800" dirty="0"/>
          </a:p>
        </p:txBody>
      </p:sp>
      <p:sp>
        <p:nvSpPr>
          <p:cNvPr id="18" name="Shape 15"/>
          <p:cNvSpPr/>
          <p:nvPr/>
        </p:nvSpPr>
        <p:spPr>
          <a:xfrm>
            <a:off x="800100" y="5391150"/>
            <a:ext cx="4305300" cy="9525"/>
          </a:xfrm>
          <a:prstGeom prst="rect">
            <a:avLst/>
          </a:prstGeom>
          <a:solidFill>
            <a:srgbClr val="131313">
              <a:alpha val="14000"/>
            </a:srgbClr>
          </a:solidFill>
          <a:ln/>
        </p:spPr>
      </p:sp>
      <p:sp>
        <p:nvSpPr>
          <p:cNvPr id="19" name="Text 16"/>
          <p:cNvSpPr/>
          <p:nvPr/>
        </p:nvSpPr>
        <p:spPr>
          <a:xfrm>
            <a:off x="800100" y="4838700"/>
            <a:ext cx="412965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Behavior</a:t>
            </a:r>
            <a:endParaRPr lang="en-US" sz="2100" dirty="0"/>
          </a:p>
        </p:txBody>
      </p:sp>
      <p:sp>
        <p:nvSpPr>
          <p:cNvPr id="20" name="Shape 17"/>
          <p:cNvSpPr/>
          <p:nvPr/>
        </p:nvSpPr>
        <p:spPr>
          <a:xfrm>
            <a:off x="5105400" y="5391150"/>
            <a:ext cx="7886700" cy="9525"/>
          </a:xfrm>
          <a:prstGeom prst="rect">
            <a:avLst/>
          </a:prstGeom>
          <a:solidFill>
            <a:srgbClr val="131313">
              <a:alpha val="14000"/>
            </a:srgbClr>
          </a:solidFill>
          <a:ln/>
        </p:spPr>
      </p:sp>
      <p:sp>
        <p:nvSpPr>
          <p:cNvPr id="21" name="Text 18"/>
          <p:cNvSpPr/>
          <p:nvPr/>
        </p:nvSpPr>
        <p:spPr>
          <a:xfrm>
            <a:off x="5105400" y="4838700"/>
            <a:ext cx="7818501"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Identifies which parts of a site drive engagement and conversion</a:t>
            </a:r>
            <a:endParaRPr lang="en-US" sz="1800" dirty="0"/>
          </a:p>
        </p:txBody>
      </p:sp>
      <p:sp>
        <p:nvSpPr>
          <p:cNvPr id="22" name="Shape 19"/>
          <p:cNvSpPr/>
          <p:nvPr/>
        </p:nvSpPr>
        <p:spPr>
          <a:xfrm>
            <a:off x="12992100" y="5391150"/>
            <a:ext cx="4495800" cy="9525"/>
          </a:xfrm>
          <a:prstGeom prst="rect">
            <a:avLst/>
          </a:prstGeom>
          <a:solidFill>
            <a:srgbClr val="131313">
              <a:alpha val="14000"/>
            </a:srgbClr>
          </a:solidFill>
          <a:ln/>
        </p:spPr>
      </p:sp>
      <p:sp>
        <p:nvSpPr>
          <p:cNvPr id="23" name="Text 20"/>
          <p:cNvSpPr/>
          <p:nvPr/>
        </p:nvSpPr>
        <p:spPr>
          <a:xfrm>
            <a:off x="13296900" y="4838700"/>
            <a:ext cx="4325874"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Deep</a:t>
            </a:r>
            <a:endParaRPr lang="en-US" sz="1800" dirty="0"/>
          </a:p>
        </p:txBody>
      </p:sp>
      <p:sp>
        <p:nvSpPr>
          <p:cNvPr id="24" name="Shape 21"/>
          <p:cNvSpPr/>
          <p:nvPr/>
        </p:nvSpPr>
        <p:spPr>
          <a:xfrm>
            <a:off x="800100" y="6162675"/>
            <a:ext cx="4305300" cy="9525"/>
          </a:xfrm>
          <a:prstGeom prst="rect">
            <a:avLst/>
          </a:prstGeom>
          <a:solidFill>
            <a:srgbClr val="131313">
              <a:alpha val="14000"/>
            </a:srgbClr>
          </a:solidFill>
          <a:ln/>
        </p:spPr>
      </p:sp>
      <p:sp>
        <p:nvSpPr>
          <p:cNvPr id="25" name="Text 22"/>
          <p:cNvSpPr/>
          <p:nvPr/>
        </p:nvSpPr>
        <p:spPr>
          <a:xfrm>
            <a:off x="800100" y="5610225"/>
            <a:ext cx="412965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Paid Marketing Activities</a:t>
            </a:r>
            <a:endParaRPr lang="en-US" sz="2100" dirty="0"/>
          </a:p>
        </p:txBody>
      </p:sp>
      <p:sp>
        <p:nvSpPr>
          <p:cNvPr id="26" name="Shape 23"/>
          <p:cNvSpPr/>
          <p:nvPr/>
        </p:nvSpPr>
        <p:spPr>
          <a:xfrm>
            <a:off x="5105400" y="6162675"/>
            <a:ext cx="7886700" cy="9525"/>
          </a:xfrm>
          <a:prstGeom prst="rect">
            <a:avLst/>
          </a:prstGeom>
          <a:solidFill>
            <a:srgbClr val="131313">
              <a:alpha val="14000"/>
            </a:srgbClr>
          </a:solidFill>
          <a:ln/>
        </p:spPr>
      </p:sp>
      <p:sp>
        <p:nvSpPr>
          <p:cNvPr id="27" name="Text 24"/>
          <p:cNvSpPr/>
          <p:nvPr/>
        </p:nvSpPr>
        <p:spPr>
          <a:xfrm>
            <a:off x="5105400" y="5610225"/>
            <a:ext cx="7818501"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Determines return on investment for paid campaigns</a:t>
            </a:r>
            <a:endParaRPr lang="en-US" sz="1800" dirty="0"/>
          </a:p>
        </p:txBody>
      </p:sp>
      <p:sp>
        <p:nvSpPr>
          <p:cNvPr id="28" name="Shape 25"/>
          <p:cNvSpPr/>
          <p:nvPr/>
        </p:nvSpPr>
        <p:spPr>
          <a:xfrm>
            <a:off x="12992100" y="6162675"/>
            <a:ext cx="4495800" cy="9525"/>
          </a:xfrm>
          <a:prstGeom prst="rect">
            <a:avLst/>
          </a:prstGeom>
          <a:solidFill>
            <a:srgbClr val="131313">
              <a:alpha val="14000"/>
            </a:srgbClr>
          </a:solidFill>
          <a:ln/>
        </p:spPr>
      </p:sp>
      <p:sp>
        <p:nvSpPr>
          <p:cNvPr id="29" name="Text 26"/>
          <p:cNvSpPr/>
          <p:nvPr/>
        </p:nvSpPr>
        <p:spPr>
          <a:xfrm>
            <a:off x="13296900" y="5610225"/>
            <a:ext cx="4325874"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Deep</a:t>
            </a:r>
            <a:endParaRPr lang="en-US" sz="1800" dirty="0"/>
          </a:p>
        </p:txBody>
      </p:sp>
      <p:sp>
        <p:nvSpPr>
          <p:cNvPr id="30" name="Shape 27"/>
          <p:cNvSpPr/>
          <p:nvPr/>
        </p:nvSpPr>
        <p:spPr>
          <a:xfrm>
            <a:off x="800100" y="7239000"/>
            <a:ext cx="4305300" cy="9525"/>
          </a:xfrm>
          <a:prstGeom prst="rect">
            <a:avLst/>
          </a:prstGeom>
          <a:solidFill>
            <a:srgbClr val="131313">
              <a:alpha val="14000"/>
            </a:srgbClr>
          </a:solidFill>
          <a:ln/>
        </p:spPr>
      </p:sp>
      <p:sp>
        <p:nvSpPr>
          <p:cNvPr id="31" name="Text 28"/>
          <p:cNvSpPr/>
          <p:nvPr/>
        </p:nvSpPr>
        <p:spPr>
          <a:xfrm>
            <a:off x="800100" y="6381750"/>
            <a:ext cx="4129659" cy="6858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Conversions</a:t>
            </a:r>
            <a:endParaRPr lang="en-US" sz="2100" dirty="0"/>
          </a:p>
        </p:txBody>
      </p:sp>
      <p:sp>
        <p:nvSpPr>
          <p:cNvPr id="32" name="Shape 29"/>
          <p:cNvSpPr/>
          <p:nvPr/>
        </p:nvSpPr>
        <p:spPr>
          <a:xfrm>
            <a:off x="5105400" y="7239000"/>
            <a:ext cx="7886700" cy="9525"/>
          </a:xfrm>
          <a:prstGeom prst="rect">
            <a:avLst/>
          </a:prstGeom>
          <a:solidFill>
            <a:srgbClr val="131313">
              <a:alpha val="14000"/>
            </a:srgbClr>
          </a:solidFill>
          <a:ln/>
        </p:spPr>
      </p:sp>
      <p:sp>
        <p:nvSpPr>
          <p:cNvPr id="33" name="Text 30"/>
          <p:cNvSpPr/>
          <p:nvPr/>
        </p:nvSpPr>
        <p:spPr>
          <a:xfrm>
            <a:off x="5105400" y="6381750"/>
            <a:ext cx="7818501"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Identifies which discounts and offers appeal to existing customers</a:t>
            </a:r>
            <a:endParaRPr lang="en-US" sz="1800" dirty="0"/>
          </a:p>
        </p:txBody>
      </p:sp>
      <p:sp>
        <p:nvSpPr>
          <p:cNvPr id="34" name="Shape 31"/>
          <p:cNvSpPr/>
          <p:nvPr/>
        </p:nvSpPr>
        <p:spPr>
          <a:xfrm>
            <a:off x="12992100" y="7239000"/>
            <a:ext cx="4495800" cy="9525"/>
          </a:xfrm>
          <a:prstGeom prst="rect">
            <a:avLst/>
          </a:prstGeom>
          <a:solidFill>
            <a:srgbClr val="131313">
              <a:alpha val="14000"/>
            </a:srgbClr>
          </a:solidFill>
          <a:ln/>
        </p:spPr>
      </p:sp>
      <p:sp>
        <p:nvSpPr>
          <p:cNvPr id="35" name="Text 32"/>
          <p:cNvSpPr/>
          <p:nvPr/>
        </p:nvSpPr>
        <p:spPr>
          <a:xfrm>
            <a:off x="13296900" y="6381750"/>
            <a:ext cx="4325874"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Substantial — data and measurement side</a:t>
            </a:r>
            <a:endParaRPr lang="en-US" sz="1800" dirty="0"/>
          </a:p>
        </p:txBody>
      </p:sp>
      <p:sp>
        <p:nvSpPr>
          <p:cNvPr id="36" name="Shape 33"/>
          <p:cNvSpPr/>
          <p:nvPr/>
        </p:nvSpPr>
        <p:spPr>
          <a:xfrm>
            <a:off x="800100" y="8010525"/>
            <a:ext cx="4305300" cy="9525"/>
          </a:xfrm>
          <a:prstGeom prst="rect">
            <a:avLst/>
          </a:prstGeom>
          <a:solidFill>
            <a:srgbClr val="131313">
              <a:alpha val="14000"/>
            </a:srgbClr>
          </a:solidFill>
          <a:ln/>
        </p:spPr>
      </p:sp>
      <p:sp>
        <p:nvSpPr>
          <p:cNvPr id="37" name="Text 34"/>
          <p:cNvSpPr/>
          <p:nvPr/>
        </p:nvSpPr>
        <p:spPr>
          <a:xfrm>
            <a:off x="800100" y="7458075"/>
            <a:ext cx="4129659" cy="3810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31313"/>
                </a:solidFill>
                <a:latin typeface="Arial" pitchFamily="34" charset="0"/>
                <a:ea typeface="Arial" pitchFamily="34" charset="-122"/>
                <a:cs typeface="Arial" pitchFamily="34" charset="-120"/>
              </a:rPr>
              <a:t>Acquisition</a:t>
            </a:r>
            <a:endParaRPr lang="en-US" sz="2100" dirty="0"/>
          </a:p>
        </p:txBody>
      </p:sp>
      <p:sp>
        <p:nvSpPr>
          <p:cNvPr id="38" name="Shape 35"/>
          <p:cNvSpPr/>
          <p:nvPr/>
        </p:nvSpPr>
        <p:spPr>
          <a:xfrm>
            <a:off x="5105400" y="8010525"/>
            <a:ext cx="7886700" cy="9525"/>
          </a:xfrm>
          <a:prstGeom prst="rect">
            <a:avLst/>
          </a:prstGeom>
          <a:solidFill>
            <a:srgbClr val="131313">
              <a:alpha val="14000"/>
            </a:srgbClr>
          </a:solidFill>
          <a:ln/>
        </p:spPr>
      </p:sp>
      <p:sp>
        <p:nvSpPr>
          <p:cNvPr id="39" name="Text 36"/>
          <p:cNvSpPr/>
          <p:nvPr/>
        </p:nvSpPr>
        <p:spPr>
          <a:xfrm>
            <a:off x="5105400" y="7458075"/>
            <a:ext cx="7818501"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Establishes how visitors found the site and arrived</a:t>
            </a:r>
            <a:endParaRPr lang="en-US" sz="1800" dirty="0"/>
          </a:p>
        </p:txBody>
      </p:sp>
      <p:sp>
        <p:nvSpPr>
          <p:cNvPr id="40" name="Shape 37"/>
          <p:cNvSpPr/>
          <p:nvPr/>
        </p:nvSpPr>
        <p:spPr>
          <a:xfrm>
            <a:off x="12992100" y="8010525"/>
            <a:ext cx="4495800" cy="9525"/>
          </a:xfrm>
          <a:prstGeom prst="rect">
            <a:avLst/>
          </a:prstGeom>
          <a:solidFill>
            <a:srgbClr val="131313">
              <a:alpha val="14000"/>
            </a:srgbClr>
          </a:solidFill>
          <a:ln/>
        </p:spPr>
      </p:sp>
      <p:sp>
        <p:nvSpPr>
          <p:cNvPr id="41" name="Text 38"/>
          <p:cNvSpPr/>
          <p:nvPr/>
        </p:nvSpPr>
        <p:spPr>
          <a:xfrm>
            <a:off x="13296900" y="7458075"/>
            <a:ext cx="4325874" cy="3810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Substantial — data and integration side</a:t>
            </a:r>
            <a:endParaRPr lang="en-US" sz="1800" dirty="0"/>
          </a:p>
        </p:txBody>
      </p:sp>
      <p:sp>
        <p:nvSpPr>
          <p:cNvPr id="42" name="Text 39"/>
          <p:cNvSpPr/>
          <p:nvPr/>
        </p:nvSpPr>
        <p:spPr>
          <a:xfrm>
            <a:off x="800100" y="8372475"/>
            <a:ext cx="1835658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a:t>
            </a:r>
            <a:endParaRPr lang="en-US" sz="1500" dirty="0"/>
          </a:p>
        </p:txBody>
      </p:sp>
      <p:sp>
        <p:nvSpPr>
          <p:cNvPr id="43" name="Text 4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4" name="Text 4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5" name="Text 4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39</a:t>
            </a:r>
            <a:endParaRPr lang="en-US" sz="11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Audience</a:t>
            </a:r>
            <a:endParaRPr lang="en-US" sz="3900" dirty="0"/>
          </a:p>
        </p:txBody>
      </p:sp>
      <p:sp>
        <p:nvSpPr>
          <p:cNvPr id="5" name="Shape 2"/>
          <p:cNvSpPr/>
          <p:nvPr/>
        </p:nvSpPr>
        <p:spPr>
          <a:xfrm>
            <a:off x="800100" y="1866900"/>
            <a:ext cx="8153400" cy="19050"/>
          </a:xfrm>
          <a:prstGeom prst="rect">
            <a:avLst/>
          </a:prstGeom>
          <a:solidFill>
            <a:srgbClr val="131313"/>
          </a:solidFill>
          <a:ln/>
        </p:spPr>
      </p:sp>
      <p:sp>
        <p:nvSpPr>
          <p:cNvPr id="6" name="Text 3"/>
          <p:cNvSpPr/>
          <p:nvPr/>
        </p:nvSpPr>
        <p:spPr>
          <a:xfrm>
            <a:off x="8001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 DID</a:t>
            </a:r>
            <a:endParaRPr lang="en-US" sz="1650" dirty="0"/>
          </a:p>
        </p:txBody>
      </p:sp>
      <p:sp>
        <p:nvSpPr>
          <p:cNvPr id="7" name="Text 4"/>
          <p:cNvSpPr/>
          <p:nvPr/>
        </p:nvSpPr>
        <p:spPr>
          <a:xfrm>
            <a:off x="800100" y="2457450"/>
            <a:ext cx="8398002" cy="29527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Designed and supported audience-related data flows across Ascent · integrated online behavioural with offline transactional information · centralised and standardised customer data from multiple sources · supported creation of a unified customer view across devices and touchpoints · worked with known and unknown identifiers · reviewed merge policies governing how data was prioritised into a unified profile · supported segmentation and audience qualification · supported activation into personalization and marketing capabilities · applied data-governance and privacy controls · validated whether resulting profiles and audiences represented the intended source information.</a:t>
            </a:r>
            <a:endParaRPr lang="en-US" sz="1800" dirty="0"/>
          </a:p>
        </p:txBody>
      </p:sp>
      <p:sp>
        <p:nvSpPr>
          <p:cNvPr id="8" name="Shape 5"/>
          <p:cNvSpPr/>
          <p:nvPr/>
        </p:nvSpPr>
        <p:spPr>
          <a:xfrm>
            <a:off x="9334500" y="1866900"/>
            <a:ext cx="8153400" cy="19050"/>
          </a:xfrm>
          <a:prstGeom prst="rect">
            <a:avLst/>
          </a:prstGeom>
          <a:solidFill>
            <a:srgbClr val="FF532C"/>
          </a:solidFill>
          <a:ln/>
        </p:spPr>
      </p:sp>
      <p:sp>
        <p:nvSpPr>
          <p:cNvPr id="9" name="Text 6"/>
          <p:cNvSpPr/>
          <p:nvPr/>
        </p:nvSpPr>
        <p:spPr>
          <a:xfrm>
            <a:off x="93345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MADE IT DIFFICULT</a:t>
            </a:r>
            <a:endParaRPr lang="en-US" sz="1650" dirty="0"/>
          </a:p>
        </p:txBody>
      </p:sp>
      <p:sp>
        <p:nvSpPr>
          <p:cNvPr id="10" name="Text 7"/>
          <p:cNvSpPr/>
          <p:nvPr/>
        </p:nvSpPr>
        <p:spPr>
          <a:xfrm>
            <a:off x="9334500" y="2457450"/>
            <a:ext cx="8398002" cy="19812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Creating an audience in a product interface is not the difficult part. The complexity was understanding how Ascent moved, normalised, reconciled and activated customer data across multiple integrated systems — and knowing that a change could affect source mappings, identity resolution, profile precedence, unified profiles, audience qualification, personalization, analytics, campaign activation and governance simultaneously.</a:t>
            </a:r>
            <a:endParaRPr lang="en-US" sz="1800" dirty="0"/>
          </a:p>
        </p:txBody>
      </p:sp>
      <p:sp>
        <p:nvSpPr>
          <p:cNvPr id="11" name="Shape 8"/>
          <p:cNvSpPr/>
          <p:nvPr/>
        </p:nvSpPr>
        <p:spPr>
          <a:xfrm>
            <a:off x="800100" y="5753100"/>
            <a:ext cx="8153400" cy="19050"/>
          </a:xfrm>
          <a:prstGeom prst="rect">
            <a:avLst/>
          </a:prstGeom>
          <a:solidFill>
            <a:srgbClr val="131313"/>
          </a:solidFill>
          <a:ln/>
        </p:spPr>
      </p:sp>
      <p:sp>
        <p:nvSpPr>
          <p:cNvPr id="12" name="Text 9"/>
          <p:cNvSpPr/>
          <p:nvPr/>
        </p:nvSpPr>
        <p:spPr>
          <a:xfrm>
            <a:off x="800100" y="59245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I ACQUIRED IT</a:t>
            </a:r>
            <a:endParaRPr lang="en-US" sz="1650" dirty="0"/>
          </a:p>
        </p:txBody>
      </p:sp>
      <p:sp>
        <p:nvSpPr>
          <p:cNvPr id="13" name="Text 10"/>
          <p:cNvSpPr/>
          <p:nvPr/>
        </p:nvSpPr>
        <p:spPr>
          <a:xfrm>
            <a:off x="800100" y="6343650"/>
            <a:ext cx="8398002" cy="16573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Sustained hands-on work: studying the existing Ascent architecture · working with codebases and configurations · integrations · customization · data processing · debugging · ingestion diagnostics · source-to-CDP validation · merge-policy review · code review · unit testing · client-specific solution design · technical documentation · repeated implementation and troubleshooting.</a:t>
            </a:r>
            <a:endParaRPr lang="en-US" sz="1800" dirty="0"/>
          </a:p>
        </p:txBody>
      </p:sp>
      <p:sp>
        <p:nvSpPr>
          <p:cNvPr id="14" name="Shape 11"/>
          <p:cNvSpPr/>
          <p:nvPr/>
        </p:nvSpPr>
        <p:spPr>
          <a:xfrm>
            <a:off x="9334500" y="5753100"/>
            <a:ext cx="8153400" cy="19050"/>
          </a:xfrm>
          <a:prstGeom prst="rect">
            <a:avLst/>
          </a:prstGeom>
          <a:solidFill>
            <a:srgbClr val="FF532C"/>
          </a:solidFill>
          <a:ln/>
        </p:spPr>
      </p:sp>
      <p:sp>
        <p:nvSpPr>
          <p:cNvPr id="15" name="Text 12"/>
          <p:cNvSpPr/>
          <p:nvPr/>
        </p:nvSpPr>
        <p:spPr>
          <a:xfrm>
            <a:off x="9334500" y="59245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WHY IT IS NOT QUICKLY TRANSFERABLE</a:t>
            </a:r>
            <a:endParaRPr lang="en-US" sz="1650" dirty="0"/>
          </a:p>
        </p:txBody>
      </p:sp>
      <p:sp>
        <p:nvSpPr>
          <p:cNvPr id="16" name="Text 13"/>
          <p:cNvSpPr/>
          <p:nvPr/>
        </p:nvSpPr>
        <p:spPr>
          <a:xfrm>
            <a:off x="9334500" y="6343650"/>
            <a:ext cx="8398002" cy="19812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An experienced Adobe engineer can learn how an individual Adobe feature works. Knowing how TA Digital Ascent configured and connected those technologies, why specific architectural decisions existed, which dependencies had to be protected, how customizations were implemented and how failures propagated across the ecosystem is a different body of knowledge — acquired progressively across approximately 27 months of direct full-time experience.</a:t>
            </a:r>
            <a:endParaRPr lang="en-US" sz="180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40</a:t>
            </a:r>
            <a:endParaRPr lang="en-US" sz="11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Behavior</a:t>
            </a:r>
            <a:endParaRPr lang="en-US" sz="3900" dirty="0"/>
          </a:p>
        </p:txBody>
      </p:sp>
      <p:sp>
        <p:nvSpPr>
          <p:cNvPr id="5" name="Shape 2"/>
          <p:cNvSpPr/>
          <p:nvPr/>
        </p:nvSpPr>
        <p:spPr>
          <a:xfrm>
            <a:off x="800100" y="1866900"/>
            <a:ext cx="8153400" cy="19050"/>
          </a:xfrm>
          <a:prstGeom prst="rect">
            <a:avLst/>
          </a:prstGeom>
          <a:solidFill>
            <a:srgbClr val="131313"/>
          </a:solidFill>
          <a:ln/>
        </p:spPr>
      </p:sp>
      <p:sp>
        <p:nvSpPr>
          <p:cNvPr id="6" name="Text 3"/>
          <p:cNvSpPr/>
          <p:nvPr/>
        </p:nvSpPr>
        <p:spPr>
          <a:xfrm>
            <a:off x="8001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 DID</a:t>
            </a:r>
            <a:endParaRPr lang="en-US" sz="1650" dirty="0"/>
          </a:p>
        </p:txBody>
      </p:sp>
      <p:sp>
        <p:nvSpPr>
          <p:cNvPr id="7" name="Text 4"/>
          <p:cNvSpPr/>
          <p:nvPr/>
        </p:nvSpPr>
        <p:spPr>
          <a:xfrm>
            <a:off x="800100" y="2457450"/>
            <a:ext cx="8398002" cy="26289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Created, managed and enforced analytics tagging standards · developed and customised tracking solutions · worked with the page and application data layer · validated events and data elements · validated values passed into analytics variables · supported Adobe Analytics and Customer Journey Analytics capabilities · tracked and analysed web and mobile behaviour · worked with behavioural data ingestion · developed reporting and KPI capabilities · supported multi-tenant analytics and reporting · performed QA, testing and debugging · connected behavioural data to audiences and personalization.</a:t>
            </a:r>
            <a:endParaRPr lang="en-US" sz="1800" dirty="0"/>
          </a:p>
        </p:txBody>
      </p:sp>
      <p:sp>
        <p:nvSpPr>
          <p:cNvPr id="8" name="Shape 5"/>
          <p:cNvSpPr/>
          <p:nvPr/>
        </p:nvSpPr>
        <p:spPr>
          <a:xfrm>
            <a:off x="9334500" y="1866900"/>
            <a:ext cx="8153400" cy="19050"/>
          </a:xfrm>
          <a:prstGeom prst="rect">
            <a:avLst/>
          </a:prstGeom>
          <a:solidFill>
            <a:srgbClr val="FF532C"/>
          </a:solidFill>
          <a:ln/>
        </p:spPr>
      </p:sp>
      <p:sp>
        <p:nvSpPr>
          <p:cNvPr id="9" name="Text 6"/>
          <p:cNvSpPr/>
          <p:nvPr/>
        </p:nvSpPr>
        <p:spPr>
          <a:xfrm>
            <a:off x="93345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MADE IT DIFFICULT</a:t>
            </a:r>
            <a:endParaRPr lang="en-US" sz="1650" dirty="0"/>
          </a:p>
        </p:txBody>
      </p:sp>
      <p:sp>
        <p:nvSpPr>
          <p:cNvPr id="10" name="Text 7"/>
          <p:cNvSpPr/>
          <p:nvPr/>
        </p:nvSpPr>
        <p:spPr>
          <a:xfrm>
            <a:off x="9334500" y="2457450"/>
            <a:ext cx="8398002" cy="16573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Behavioural measurement crossed several layers. A technically valid value at one layer could still create a semantically incorrect result downstream. The specialized knowledge was knowing the entire Ascent chain well enough to determine where a problem actually originated, and what downstream functionality it could affect.</a:t>
            </a:r>
            <a:endParaRPr lang="en-US" sz="1800" dirty="0"/>
          </a:p>
        </p:txBody>
      </p:sp>
      <p:sp>
        <p:nvSpPr>
          <p:cNvPr id="11" name="Shape 8"/>
          <p:cNvSpPr/>
          <p:nvPr/>
        </p:nvSpPr>
        <p:spPr>
          <a:xfrm>
            <a:off x="800100" y="5391150"/>
            <a:ext cx="2122587" cy="1066800"/>
          </a:xfrm>
          <a:prstGeom prst="rect">
            <a:avLst/>
          </a:prstGeom>
          <a:solidFill>
            <a:srgbClr val="F2F5F6"/>
          </a:solidFill>
          <a:ln/>
        </p:spPr>
      </p:sp>
      <p:sp>
        <p:nvSpPr>
          <p:cNvPr id="12" name="Text 9"/>
          <p:cNvSpPr/>
          <p:nvPr/>
        </p:nvSpPr>
        <p:spPr>
          <a:xfrm>
            <a:off x="933450" y="5562600"/>
            <a:ext cx="1932087"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application / content</a:t>
            </a:r>
            <a:endParaRPr lang="en-US" sz="1800" dirty="0"/>
          </a:p>
        </p:txBody>
      </p:sp>
      <p:sp>
        <p:nvSpPr>
          <p:cNvPr id="13" name="Text 10"/>
          <p:cNvSpPr/>
          <p:nvPr/>
        </p:nvSpPr>
        <p:spPr>
          <a:xfrm>
            <a:off x="2884587"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4" name="Shape 11"/>
          <p:cNvSpPr/>
          <p:nvPr/>
        </p:nvSpPr>
        <p:spPr>
          <a:xfrm>
            <a:off x="3227487" y="5391150"/>
            <a:ext cx="2122736" cy="1066800"/>
          </a:xfrm>
          <a:prstGeom prst="rect">
            <a:avLst/>
          </a:prstGeom>
          <a:solidFill>
            <a:srgbClr val="F2F5F6"/>
          </a:solidFill>
          <a:ln/>
        </p:spPr>
      </p:sp>
      <p:sp>
        <p:nvSpPr>
          <p:cNvPr id="15" name="Text 12"/>
          <p:cNvSpPr/>
          <p:nvPr/>
        </p:nvSpPr>
        <p:spPr>
          <a:xfrm>
            <a:off x="3360837"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data layer</a:t>
            </a:r>
            <a:endParaRPr lang="en-US" sz="1800" dirty="0"/>
          </a:p>
        </p:txBody>
      </p:sp>
      <p:sp>
        <p:nvSpPr>
          <p:cNvPr id="16" name="Text 13"/>
          <p:cNvSpPr/>
          <p:nvPr/>
        </p:nvSpPr>
        <p:spPr>
          <a:xfrm>
            <a:off x="5312122"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7" name="Shape 14"/>
          <p:cNvSpPr/>
          <p:nvPr/>
        </p:nvSpPr>
        <p:spPr>
          <a:xfrm>
            <a:off x="5655022" y="5391150"/>
            <a:ext cx="2122736" cy="1066800"/>
          </a:xfrm>
          <a:prstGeom prst="rect">
            <a:avLst/>
          </a:prstGeom>
          <a:solidFill>
            <a:srgbClr val="F2F5F6"/>
          </a:solidFill>
          <a:ln/>
        </p:spPr>
      </p:sp>
      <p:sp>
        <p:nvSpPr>
          <p:cNvPr id="18" name="Text 15"/>
          <p:cNvSpPr/>
          <p:nvPr/>
        </p:nvSpPr>
        <p:spPr>
          <a:xfrm>
            <a:off x="5788372"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events &amp; data elements</a:t>
            </a:r>
            <a:endParaRPr lang="en-US" sz="1800" dirty="0"/>
          </a:p>
        </p:txBody>
      </p:sp>
      <p:sp>
        <p:nvSpPr>
          <p:cNvPr id="19" name="Text 16"/>
          <p:cNvSpPr/>
          <p:nvPr/>
        </p:nvSpPr>
        <p:spPr>
          <a:xfrm>
            <a:off x="7739658"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0" name="Shape 17"/>
          <p:cNvSpPr/>
          <p:nvPr/>
        </p:nvSpPr>
        <p:spPr>
          <a:xfrm>
            <a:off x="8082558" y="5391150"/>
            <a:ext cx="2122736" cy="1066800"/>
          </a:xfrm>
          <a:prstGeom prst="rect">
            <a:avLst/>
          </a:prstGeom>
          <a:solidFill>
            <a:srgbClr val="F2F5F6"/>
          </a:solidFill>
          <a:ln/>
        </p:spPr>
      </p:sp>
      <p:sp>
        <p:nvSpPr>
          <p:cNvPr id="21" name="Text 18"/>
          <p:cNvSpPr/>
          <p:nvPr/>
        </p:nvSpPr>
        <p:spPr>
          <a:xfrm>
            <a:off x="8215908"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collection / tagging</a:t>
            </a:r>
            <a:endParaRPr lang="en-US" sz="1800" dirty="0"/>
          </a:p>
        </p:txBody>
      </p:sp>
      <p:sp>
        <p:nvSpPr>
          <p:cNvPr id="22" name="Text 19"/>
          <p:cNvSpPr/>
          <p:nvPr/>
        </p:nvSpPr>
        <p:spPr>
          <a:xfrm>
            <a:off x="10167193"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3" name="Shape 20"/>
          <p:cNvSpPr/>
          <p:nvPr/>
        </p:nvSpPr>
        <p:spPr>
          <a:xfrm>
            <a:off x="10510093" y="5391150"/>
            <a:ext cx="2122736" cy="1066800"/>
          </a:xfrm>
          <a:prstGeom prst="rect">
            <a:avLst/>
          </a:prstGeom>
          <a:solidFill>
            <a:srgbClr val="F2F5F6"/>
          </a:solidFill>
          <a:ln/>
        </p:spPr>
      </p:sp>
      <p:sp>
        <p:nvSpPr>
          <p:cNvPr id="24" name="Text 21"/>
          <p:cNvSpPr/>
          <p:nvPr/>
        </p:nvSpPr>
        <p:spPr>
          <a:xfrm>
            <a:off x="10643443"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analytics &amp; CDP</a:t>
            </a:r>
            <a:endParaRPr lang="en-US" sz="1800" dirty="0"/>
          </a:p>
        </p:txBody>
      </p:sp>
      <p:sp>
        <p:nvSpPr>
          <p:cNvPr id="25" name="Text 22"/>
          <p:cNvSpPr/>
          <p:nvPr/>
        </p:nvSpPr>
        <p:spPr>
          <a:xfrm>
            <a:off x="12594729"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6" name="Shape 23"/>
          <p:cNvSpPr/>
          <p:nvPr/>
        </p:nvSpPr>
        <p:spPr>
          <a:xfrm>
            <a:off x="12937629" y="5391150"/>
            <a:ext cx="2122736" cy="1066800"/>
          </a:xfrm>
          <a:prstGeom prst="rect">
            <a:avLst/>
          </a:prstGeom>
          <a:solidFill>
            <a:srgbClr val="F2F5F6"/>
          </a:solidFill>
          <a:ln/>
        </p:spPr>
      </p:sp>
      <p:sp>
        <p:nvSpPr>
          <p:cNvPr id="27" name="Text 24"/>
          <p:cNvSpPr/>
          <p:nvPr/>
        </p:nvSpPr>
        <p:spPr>
          <a:xfrm>
            <a:off x="13070979"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profile &amp; audience</a:t>
            </a:r>
            <a:endParaRPr lang="en-US" sz="1800" dirty="0"/>
          </a:p>
        </p:txBody>
      </p:sp>
      <p:sp>
        <p:nvSpPr>
          <p:cNvPr id="28" name="Text 25"/>
          <p:cNvSpPr/>
          <p:nvPr/>
        </p:nvSpPr>
        <p:spPr>
          <a:xfrm>
            <a:off x="15022264" y="5391150"/>
            <a:ext cx="381000" cy="11049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9" name="Shape 26"/>
          <p:cNvSpPr/>
          <p:nvPr/>
        </p:nvSpPr>
        <p:spPr>
          <a:xfrm>
            <a:off x="15365164" y="5391150"/>
            <a:ext cx="2122736" cy="1066800"/>
          </a:xfrm>
          <a:prstGeom prst="rect">
            <a:avLst/>
          </a:prstGeom>
          <a:solidFill>
            <a:srgbClr val="F2F5F6"/>
          </a:solidFill>
          <a:ln/>
        </p:spPr>
      </p:sp>
      <p:sp>
        <p:nvSpPr>
          <p:cNvPr id="30" name="Text 27"/>
          <p:cNvSpPr/>
          <p:nvPr/>
        </p:nvSpPr>
        <p:spPr>
          <a:xfrm>
            <a:off x="15498514" y="5562600"/>
            <a:ext cx="1932236" cy="762000"/>
          </a:xfrm>
          <a:prstGeom prst="rect">
            <a:avLst/>
          </a:prstGeom>
          <a:noFill/>
          <a:ln/>
        </p:spPr>
        <p:txBody>
          <a:bodyPr wrap="square" lIns="25400" tIns="25400" rIns="25400" bIns="25400" rtlCol="0" anchor="ctr">
            <a:normAutofit/>
          </a:bodyPr>
          <a:lstStyle/>
          <a:p>
            <a:pPr algn="l" indent="0" marL="0">
              <a:lnSpc>
                <a:spcPct val="107143"/>
              </a:lnSpc>
              <a:buNone/>
            </a:pPr>
            <a:r>
              <a:rPr lang="en-US" sz="1800" dirty="0">
                <a:solidFill>
                  <a:srgbClr val="131313"/>
                </a:solidFill>
                <a:latin typeface="Arial" pitchFamily="34" charset="0"/>
                <a:ea typeface="Arial" pitchFamily="34" charset="-122"/>
                <a:cs typeface="Arial" pitchFamily="34" charset="-120"/>
              </a:rPr>
              <a:t>personalization &amp; reporting</a:t>
            </a:r>
            <a:endParaRPr lang="en-US" sz="1800" dirty="0"/>
          </a:p>
        </p:txBody>
      </p:sp>
      <p:sp>
        <p:nvSpPr>
          <p:cNvPr id="31" name="Shape 28"/>
          <p:cNvSpPr/>
          <p:nvPr/>
        </p:nvSpPr>
        <p:spPr>
          <a:xfrm>
            <a:off x="800100" y="6800850"/>
            <a:ext cx="16687800" cy="19050"/>
          </a:xfrm>
          <a:prstGeom prst="rect">
            <a:avLst/>
          </a:prstGeom>
          <a:solidFill>
            <a:srgbClr val="131313"/>
          </a:solidFill>
          <a:ln/>
        </p:spPr>
      </p:sp>
      <p:sp>
        <p:nvSpPr>
          <p:cNvPr id="32" name="Text 29"/>
          <p:cNvSpPr/>
          <p:nvPr/>
        </p:nvSpPr>
        <p:spPr>
          <a:xfrm>
            <a:off x="800100" y="6972300"/>
            <a:ext cx="17188434"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I ACQUIRED IT</a:t>
            </a:r>
            <a:endParaRPr lang="en-US" sz="1650" dirty="0"/>
          </a:p>
        </p:txBody>
      </p:sp>
      <p:sp>
        <p:nvSpPr>
          <p:cNvPr id="33" name="Text 30"/>
          <p:cNvSpPr/>
          <p:nvPr/>
        </p:nvSpPr>
        <p:spPr>
          <a:xfrm>
            <a:off x="800100" y="7391400"/>
            <a:ext cx="167640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Repeated hands-on design, tagging, integration, implementation, testing, debugging, code review and client customization within Ascent.</a:t>
            </a:r>
            <a:endParaRPr lang="en-US" sz="1800" dirty="0"/>
          </a:p>
        </p:txBody>
      </p:sp>
      <p:sp>
        <p:nvSpPr>
          <p:cNvPr id="34" name="Text 3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5" name="Text 3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6" name="Text 3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41</a:t>
            </a:r>
            <a:endParaRPr lang="en-US" sz="11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Paid Marketing Activities</a:t>
            </a:r>
            <a:endParaRPr lang="en-US" sz="3900" dirty="0"/>
          </a:p>
        </p:txBody>
      </p:sp>
      <p:sp>
        <p:nvSpPr>
          <p:cNvPr id="5" name="Shape 2"/>
          <p:cNvSpPr/>
          <p:nvPr/>
        </p:nvSpPr>
        <p:spPr>
          <a:xfrm>
            <a:off x="800100" y="1866900"/>
            <a:ext cx="8153400" cy="19050"/>
          </a:xfrm>
          <a:prstGeom prst="rect">
            <a:avLst/>
          </a:prstGeom>
          <a:solidFill>
            <a:srgbClr val="131313"/>
          </a:solidFill>
          <a:ln/>
        </p:spPr>
      </p:sp>
      <p:sp>
        <p:nvSpPr>
          <p:cNvPr id="6" name="Text 3"/>
          <p:cNvSpPr/>
          <p:nvPr/>
        </p:nvSpPr>
        <p:spPr>
          <a:xfrm>
            <a:off x="8001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 DID</a:t>
            </a:r>
            <a:endParaRPr lang="en-US" sz="1650" dirty="0"/>
          </a:p>
        </p:txBody>
      </p:sp>
      <p:sp>
        <p:nvSpPr>
          <p:cNvPr id="7" name="Text 4"/>
          <p:cNvSpPr/>
          <p:nvPr/>
        </p:nvSpPr>
        <p:spPr>
          <a:xfrm>
            <a:off x="800100" y="2457450"/>
            <a:ext cx="8398002" cy="26289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Supported paid-marketing measurement · worked with campaign and channel data · supported return-on-investment measurement · integrated marketing and behavioural data · worked with campaign and acquisition tagging · supported audience activation and retargeting · connected online and offline data · integrated data into the wider Marketing Data Stack · supported analytics, reporting and campaign performance analysis · worked with Adobe technologies supporting targeting, personalization and engagement · supported keyword and search optimization capabilities within the Ascent responsibility set.</a:t>
            </a:r>
            <a:endParaRPr lang="en-US" sz="1800" dirty="0"/>
          </a:p>
        </p:txBody>
      </p:sp>
      <p:sp>
        <p:nvSpPr>
          <p:cNvPr id="8" name="Shape 5"/>
          <p:cNvSpPr/>
          <p:nvPr/>
        </p:nvSpPr>
        <p:spPr>
          <a:xfrm>
            <a:off x="9334500" y="1866900"/>
            <a:ext cx="8153400" cy="19050"/>
          </a:xfrm>
          <a:prstGeom prst="rect">
            <a:avLst/>
          </a:prstGeom>
          <a:solidFill>
            <a:srgbClr val="FF532C"/>
          </a:solidFill>
          <a:ln/>
        </p:spPr>
      </p:sp>
      <p:sp>
        <p:nvSpPr>
          <p:cNvPr id="9" name="Text 6"/>
          <p:cNvSpPr/>
          <p:nvPr/>
        </p:nvSpPr>
        <p:spPr>
          <a:xfrm>
            <a:off x="9334500" y="2038350"/>
            <a:ext cx="8398002"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MADE IT DIFFICULT</a:t>
            </a:r>
            <a:endParaRPr lang="en-US" sz="1650" dirty="0"/>
          </a:p>
        </p:txBody>
      </p:sp>
      <p:sp>
        <p:nvSpPr>
          <p:cNvPr id="10" name="Text 7"/>
          <p:cNvSpPr/>
          <p:nvPr/>
        </p:nvSpPr>
        <p:spPr>
          <a:xfrm>
            <a:off x="9334500" y="2457450"/>
            <a:ext cx="8398002" cy="19812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Paid marketing was not isolated from the rest of Ascent. It depended on the relationship among acquisition data, behavioural data, profile and audience information, content, commerce, conversion events, personalization, campaign data, and analytics and reporting. Maintaining measurement consistency across those systems required understanding the integrated Ascent architecture rather than any single advertising or analytics product.</a:t>
            </a:r>
            <a:endParaRPr lang="en-US" sz="1800" dirty="0"/>
          </a:p>
        </p:txBody>
      </p:sp>
      <p:sp>
        <p:nvSpPr>
          <p:cNvPr id="11" name="Shape 8"/>
          <p:cNvSpPr/>
          <p:nvPr/>
        </p:nvSpPr>
        <p:spPr>
          <a:xfrm>
            <a:off x="800100" y="5429250"/>
            <a:ext cx="16687800" cy="19050"/>
          </a:xfrm>
          <a:prstGeom prst="rect">
            <a:avLst/>
          </a:prstGeom>
          <a:solidFill>
            <a:srgbClr val="131313"/>
          </a:solidFill>
          <a:ln/>
        </p:spPr>
      </p:sp>
      <p:sp>
        <p:nvSpPr>
          <p:cNvPr id="12" name="Text 9"/>
          <p:cNvSpPr/>
          <p:nvPr/>
        </p:nvSpPr>
        <p:spPr>
          <a:xfrm>
            <a:off x="800100" y="5600700"/>
            <a:ext cx="17188434"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I ACQUIRED IT</a:t>
            </a:r>
            <a:endParaRPr lang="en-US" sz="1650" dirty="0"/>
          </a:p>
        </p:txBody>
      </p:sp>
      <p:sp>
        <p:nvSpPr>
          <p:cNvPr id="13" name="Text 10"/>
          <p:cNvSpPr/>
          <p:nvPr/>
        </p:nvSpPr>
        <p:spPr>
          <a:xfrm>
            <a:off x="800100" y="6019800"/>
            <a:ext cx="15697200"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Repeated implementation, integration, measurement, debugging, audience work and technical solutioning across the Ascent marketing-data ecosystem.</a:t>
            </a:r>
            <a:endParaRPr lang="en-US" sz="1800" dirty="0"/>
          </a:p>
        </p:txBody>
      </p:sp>
      <p:sp>
        <p:nvSpPr>
          <p:cNvPr id="14" name="Text 1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5" name="Text 1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6" name="Text 1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42</a:t>
            </a:r>
            <a:endParaRPr lang="en-US" sz="11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78466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COMPONENT AND FEATURE CONTRIBUTION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Conversions and Acquisition</a:t>
            </a:r>
            <a:endParaRPr lang="en-US" sz="3900" dirty="0"/>
          </a:p>
        </p:txBody>
      </p:sp>
      <p:sp>
        <p:nvSpPr>
          <p:cNvPr id="5" name="Shape 2"/>
          <p:cNvSpPr/>
          <p:nvPr/>
        </p:nvSpPr>
        <p:spPr>
          <a:xfrm>
            <a:off x="800100" y="2133600"/>
            <a:ext cx="8172450" cy="4133850"/>
          </a:xfrm>
          <a:prstGeom prst="rect">
            <a:avLst/>
          </a:prstGeom>
          <a:solidFill>
            <a:srgbClr val="F2F5F6"/>
          </a:solidFill>
          <a:ln/>
        </p:spPr>
      </p:sp>
      <p:sp>
        <p:nvSpPr>
          <p:cNvPr id="6" name="Text 3"/>
          <p:cNvSpPr/>
          <p:nvPr/>
        </p:nvSpPr>
        <p:spPr>
          <a:xfrm>
            <a:off x="125730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CONVERSIONS</a:t>
            </a:r>
            <a:endParaRPr lang="en-US" sz="1650" dirty="0"/>
          </a:p>
        </p:txBody>
      </p:sp>
      <p:sp>
        <p:nvSpPr>
          <p:cNvPr id="7" name="Text 4"/>
          <p:cNvSpPr/>
          <p:nvPr/>
        </p:nvSpPr>
        <p:spPr>
          <a:xfrm>
            <a:off x="1257300" y="3143250"/>
            <a:ext cx="7475792" cy="2705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Key development contributions from the data, measurement and personalization side: understanding and implementing how conversion behaviour was captured · validating conversion-related data · connecting outcomes with audience and customer information · supporting KPI measurement · enabling the data required to understand which offers, promotions and experiences drove desired outcomes.</a:t>
            </a:r>
            <a:endParaRPr lang="en-US" sz="2100" dirty="0"/>
          </a:p>
        </p:txBody>
      </p:sp>
      <p:sp>
        <p:nvSpPr>
          <p:cNvPr id="8" name="Shape 5"/>
          <p:cNvSpPr/>
          <p:nvPr/>
        </p:nvSpPr>
        <p:spPr>
          <a:xfrm>
            <a:off x="9315450" y="2133600"/>
            <a:ext cx="8172450" cy="4133850"/>
          </a:xfrm>
          <a:prstGeom prst="rect">
            <a:avLst/>
          </a:prstGeom>
          <a:solidFill>
            <a:srgbClr val="F2F5F6"/>
          </a:solidFill>
          <a:ln/>
        </p:spPr>
      </p:sp>
      <p:sp>
        <p:nvSpPr>
          <p:cNvPr id="9" name="Text 6"/>
          <p:cNvSpPr/>
          <p:nvPr/>
        </p:nvSpPr>
        <p:spPr>
          <a:xfrm>
            <a:off x="9772650" y="2590800"/>
            <a:ext cx="798385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ACQUISITION</a:t>
            </a:r>
            <a:endParaRPr lang="en-US" sz="1650" dirty="0"/>
          </a:p>
        </p:txBody>
      </p:sp>
      <p:sp>
        <p:nvSpPr>
          <p:cNvPr id="10" name="Text 7"/>
          <p:cNvSpPr/>
          <p:nvPr/>
        </p:nvSpPr>
        <p:spPr>
          <a:xfrm>
            <a:off x="9772650" y="3143250"/>
            <a:ext cx="7475792" cy="2705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Key development contributions from the data, tracking, analytics and integration side: understanding how visitors arrived at the experience · capturing acquisition and source information · integrating that data into the analytics architecture · ensuring it could subsequently be used in behavioural, conversion, audience and paid-marketing analysis.</a:t>
            </a:r>
            <a:endParaRPr lang="en-US" sz="2100" dirty="0"/>
          </a:p>
        </p:txBody>
      </p:sp>
      <p:sp>
        <p:nvSpPr>
          <p:cNvPr id="11" name="Text 8"/>
          <p:cNvSpPr/>
          <p:nvPr/>
        </p:nvSpPr>
        <p:spPr>
          <a:xfrm>
            <a:off x="800100" y="664845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 relevant knowledge in both cases is not the individual measurement technique. It is how conversion and acquisition data moved through Ascent’s integrated architecture and what depended on it downstream.</a:t>
            </a:r>
            <a:endParaRPr lang="en-US" sz="1800" dirty="0"/>
          </a:p>
        </p:txBody>
      </p:sp>
      <p:sp>
        <p:nvSpPr>
          <p:cNvPr id="12" name="Text 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3" name="Text 1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4" name="Text 1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43</a:t>
            </a:r>
            <a:endParaRPr lang="en-US" sz="11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06</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Technical Review and Approval Authority</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Review authority</a:t>
            </a:r>
            <a:endParaRPr lang="en-US" sz="3900" dirty="0"/>
          </a:p>
        </p:txBody>
      </p:sp>
      <p:sp>
        <p:nvSpPr>
          <p:cNvPr id="5" name="Text 2"/>
          <p:cNvSpPr/>
          <p:nvPr/>
        </p:nvSpPr>
        <p:spPr>
          <a:xfrm>
            <a:off x="800100" y="1943100"/>
            <a:ext cx="15697200" cy="1295400"/>
          </a:xfrm>
          <a:prstGeom prst="rect">
            <a:avLst/>
          </a:prstGeom>
          <a:noFill/>
          <a:ln/>
        </p:spPr>
        <p:txBody>
          <a:bodyPr wrap="square" lIns="25400" tIns="25400" rIns="25400" bIns="25400" rtlCol="0" anchor="t">
            <a:normAutofit/>
          </a:bodyPr>
          <a:lstStyle/>
          <a:p>
            <a:pPr algn="l" indent="0" marL="0">
              <a:lnSpc>
                <a:spcPct val="121081"/>
              </a:lnSpc>
              <a:buNone/>
            </a:pPr>
            <a:r>
              <a:rPr lang="en-US" sz="2400" spc="-22" kern="0" dirty="0">
                <a:solidFill>
                  <a:srgbClr val="131313"/>
                </a:solidFill>
                <a:latin typeface="Arial" pitchFamily="34" charset="0"/>
                <a:ea typeface="Arial" pitchFamily="34" charset="-122"/>
                <a:cs typeface="Arial" pitchFamily="34" charset="-120"/>
              </a:rPr>
              <a:t>As part of my Ascent responsibilities, I reviewed the work of other engineers and held authority to approve or reject technical work for deployment based on defined quality and validation standards. Reviews spanned Adobe Experience Platform, Adobe Analytics and the Ascent web application eCommerce functions.</a:t>
            </a:r>
            <a:endParaRPr lang="en-US" sz="2400" dirty="0"/>
          </a:p>
        </p:txBody>
      </p:sp>
      <p:sp>
        <p:nvSpPr>
          <p:cNvPr id="6" name="Shape 3"/>
          <p:cNvSpPr/>
          <p:nvPr/>
        </p:nvSpPr>
        <p:spPr>
          <a:xfrm>
            <a:off x="800100" y="3619500"/>
            <a:ext cx="5334000" cy="2257425"/>
          </a:xfrm>
          <a:prstGeom prst="rect">
            <a:avLst/>
          </a:prstGeom>
          <a:solidFill>
            <a:srgbClr val="F2F5F6"/>
          </a:solidFill>
          <a:ln/>
        </p:spPr>
      </p:sp>
      <p:sp>
        <p:nvSpPr>
          <p:cNvPr id="7" name="Text 4"/>
          <p:cNvSpPr/>
          <p:nvPr/>
        </p:nvSpPr>
        <p:spPr>
          <a:xfrm>
            <a:off x="1181100" y="4514850"/>
            <a:ext cx="1075879" cy="342900"/>
          </a:xfrm>
          <a:prstGeom prst="rect">
            <a:avLst/>
          </a:prstGeom>
          <a:noFill/>
          <a:ln/>
        </p:spPr>
        <p:txBody>
          <a:bodyPr wrap="square" lIns="25400" tIns="25400" rIns="25400" bIns="25400" rtlCol="0" anchor="t">
            <a:normAutofit/>
          </a:bodyPr>
          <a:lstStyle/>
          <a:p>
            <a:pPr algn="l" indent="0" marL="0">
              <a:lnSpc>
                <a:spcPct val="86486"/>
              </a:lnSpc>
              <a:buNone/>
            </a:pPr>
            <a:r>
              <a:rPr lang="en-US" sz="2400" dirty="0">
                <a:solidFill>
                  <a:srgbClr val="777777"/>
                </a:solidFill>
                <a:latin typeface="Arial" pitchFamily="34" charset="0"/>
                <a:ea typeface="Arial" pitchFamily="34" charset="-122"/>
                <a:cs typeface="Arial" pitchFamily="34" charset="-120"/>
              </a:rPr>
              <a:t>roughly</a:t>
            </a:r>
            <a:endParaRPr lang="en-US" sz="2400" dirty="0"/>
          </a:p>
        </p:txBody>
      </p:sp>
      <p:sp>
        <p:nvSpPr>
          <p:cNvPr id="8" name="Text 5"/>
          <p:cNvSpPr/>
          <p:nvPr/>
        </p:nvSpPr>
        <p:spPr>
          <a:xfrm>
            <a:off x="2314129" y="4000500"/>
            <a:ext cx="1950288"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131313"/>
                </a:solidFill>
                <a:latin typeface="Arial" pitchFamily="34" charset="0"/>
                <a:ea typeface="Arial" pitchFamily="34" charset="-122"/>
                <a:cs typeface="Arial" pitchFamily="34" charset="-120"/>
              </a:rPr>
              <a:t>15%</a:t>
            </a:r>
            <a:endParaRPr lang="en-US" sz="7200" dirty="0"/>
          </a:p>
        </p:txBody>
      </p:sp>
      <p:sp>
        <p:nvSpPr>
          <p:cNvPr id="9" name="Text 6"/>
          <p:cNvSpPr/>
          <p:nvPr/>
        </p:nvSpPr>
        <p:spPr>
          <a:xfrm>
            <a:off x="1181100" y="5143500"/>
            <a:ext cx="50292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Code quality management</a:t>
            </a:r>
            <a:endParaRPr lang="en-US" sz="2100" dirty="0"/>
          </a:p>
        </p:txBody>
      </p:sp>
      <p:sp>
        <p:nvSpPr>
          <p:cNvPr id="10" name="Shape 7"/>
          <p:cNvSpPr/>
          <p:nvPr/>
        </p:nvSpPr>
        <p:spPr>
          <a:xfrm>
            <a:off x="6477000" y="3619500"/>
            <a:ext cx="5334000" cy="2257425"/>
          </a:xfrm>
          <a:prstGeom prst="rect">
            <a:avLst/>
          </a:prstGeom>
          <a:solidFill>
            <a:srgbClr val="F2F5F6"/>
          </a:solidFill>
          <a:ln/>
        </p:spPr>
      </p:sp>
      <p:sp>
        <p:nvSpPr>
          <p:cNvPr id="11" name="Text 8"/>
          <p:cNvSpPr/>
          <p:nvPr/>
        </p:nvSpPr>
        <p:spPr>
          <a:xfrm>
            <a:off x="6858000" y="4000500"/>
            <a:ext cx="502920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131313"/>
                </a:solidFill>
                <a:latin typeface="Arial" pitchFamily="34" charset="0"/>
                <a:ea typeface="Arial" pitchFamily="34" charset="-122"/>
                <a:cs typeface="Arial" pitchFamily="34" charset="-120"/>
              </a:rPr>
              <a:t>65%</a:t>
            </a:r>
            <a:endParaRPr lang="en-US" sz="7200" dirty="0"/>
          </a:p>
        </p:txBody>
      </p:sp>
      <p:sp>
        <p:nvSpPr>
          <p:cNvPr id="12" name="Text 9"/>
          <p:cNvSpPr/>
          <p:nvPr/>
        </p:nvSpPr>
        <p:spPr>
          <a:xfrm>
            <a:off x="6858000" y="5143500"/>
            <a:ext cx="50292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Client consulting services</a:t>
            </a:r>
            <a:endParaRPr lang="en-US" sz="2100" dirty="0"/>
          </a:p>
        </p:txBody>
      </p:sp>
      <p:sp>
        <p:nvSpPr>
          <p:cNvPr id="13" name="Shape 10"/>
          <p:cNvSpPr/>
          <p:nvPr/>
        </p:nvSpPr>
        <p:spPr>
          <a:xfrm>
            <a:off x="12153900" y="3619500"/>
            <a:ext cx="5334000" cy="2257425"/>
          </a:xfrm>
          <a:prstGeom prst="rect">
            <a:avLst/>
          </a:prstGeom>
          <a:solidFill>
            <a:srgbClr val="F2F5F6"/>
          </a:solidFill>
          <a:ln/>
        </p:spPr>
      </p:sp>
      <p:sp>
        <p:nvSpPr>
          <p:cNvPr id="14" name="Text 11"/>
          <p:cNvSpPr/>
          <p:nvPr/>
        </p:nvSpPr>
        <p:spPr>
          <a:xfrm>
            <a:off x="12534900" y="4000500"/>
            <a:ext cx="502920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131313"/>
                </a:solidFill>
                <a:latin typeface="Arial" pitchFamily="34" charset="0"/>
                <a:ea typeface="Arial" pitchFamily="34" charset="-122"/>
                <a:cs typeface="Arial" pitchFamily="34" charset="-120"/>
              </a:rPr>
              <a:t>20%</a:t>
            </a:r>
            <a:endParaRPr lang="en-US" sz="7200" dirty="0"/>
          </a:p>
        </p:txBody>
      </p:sp>
      <p:sp>
        <p:nvSpPr>
          <p:cNvPr id="15" name="Text 12"/>
          <p:cNvSpPr/>
          <p:nvPr/>
        </p:nvSpPr>
        <p:spPr>
          <a:xfrm>
            <a:off x="12534900" y="5143500"/>
            <a:ext cx="50292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31313"/>
                </a:solidFill>
                <a:latin typeface="Arial" pitchFamily="34" charset="0"/>
                <a:ea typeface="Arial" pitchFamily="34" charset="-122"/>
                <a:cs typeface="Arial" pitchFamily="34" charset="-120"/>
              </a:rPr>
              <a:t>Internal system development</a:t>
            </a:r>
            <a:endParaRPr lang="en-US" sz="2100" dirty="0"/>
          </a:p>
        </p:txBody>
      </p:sp>
      <p:sp>
        <p:nvSpPr>
          <p:cNvPr id="16" name="Text 13"/>
          <p:cNvSpPr/>
          <p:nvPr/>
        </p:nvSpPr>
        <p:spPr>
          <a:xfrm>
            <a:off x="800100" y="6296025"/>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 each of the three utilising TA Digital Ascent.</a:t>
            </a:r>
            <a:endParaRPr lang="en-US" sz="1800" dirty="0"/>
          </a:p>
        </p:txBody>
      </p:sp>
      <p:sp>
        <p:nvSpPr>
          <p:cNvPr id="17" name="Text 14"/>
          <p:cNvSpPr/>
          <p:nvPr/>
        </p:nvSpPr>
        <p:spPr>
          <a:xfrm>
            <a:off x="800100" y="7058025"/>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These were </a:t>
            </a:r>
            <a:pPr algn="l" indent="0" marL="0">
              <a:lnSpc>
                <a:spcPct val="128571"/>
              </a:lnSpc>
              <a:buNone/>
            </a:pPr>
            <a:r>
              <a:rPr lang="en-US" sz="1800" b="1" dirty="0">
                <a:solidFill>
                  <a:srgbClr val="131313"/>
                </a:solidFill>
                <a:latin typeface="Arial" pitchFamily="34" charset="0"/>
                <a:ea typeface="Arial" pitchFamily="34" charset="-122"/>
                <a:cs typeface="Arial" pitchFamily="34" charset="-120"/>
              </a:rPr>
              <a:t>recurring quality gates </a:t>
            </a:r>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within Ascent development, maintenance, customization, code review and release activity — not isolated one-time exercises.</a:t>
            </a:r>
            <a:endParaRPr lang="en-US" sz="1800" dirty="0"/>
          </a:p>
        </p:txBody>
      </p:sp>
      <p:sp>
        <p:nvSpPr>
          <p:cNvPr id="18" name="Text 15"/>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9" name="Text 16"/>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0" name="Text 17"/>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45</a:t>
            </a:r>
            <a:endParaRPr lang="en-US" sz="11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five review procedures</a:t>
            </a:r>
            <a:endParaRPr lang="en-US" sz="3900" dirty="0"/>
          </a:p>
        </p:txBody>
      </p:sp>
      <p:sp>
        <p:nvSpPr>
          <p:cNvPr id="5" name="Shape 2"/>
          <p:cNvSpPr/>
          <p:nvPr/>
        </p:nvSpPr>
        <p:spPr>
          <a:xfrm>
            <a:off x="800100" y="2657475"/>
            <a:ext cx="1085850" cy="19050"/>
          </a:xfrm>
          <a:prstGeom prst="rect">
            <a:avLst/>
          </a:prstGeom>
          <a:solidFill>
            <a:srgbClr val="131313"/>
          </a:solidFill>
          <a:ln/>
        </p:spPr>
      </p:sp>
      <p:sp>
        <p:nvSpPr>
          <p:cNvPr id="6" name="Text 3"/>
          <p:cNvSpPr/>
          <p:nvPr/>
        </p:nvSpPr>
        <p:spPr>
          <a:xfrm>
            <a:off x="800100" y="2247900"/>
            <a:ext cx="93345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t>
            </a:r>
            <a:endParaRPr lang="en-US" sz="1650" dirty="0"/>
          </a:p>
        </p:txBody>
      </p:sp>
      <p:sp>
        <p:nvSpPr>
          <p:cNvPr id="7" name="Shape 4"/>
          <p:cNvSpPr/>
          <p:nvPr/>
        </p:nvSpPr>
        <p:spPr>
          <a:xfrm>
            <a:off x="1885950" y="2657475"/>
            <a:ext cx="7620000" cy="19050"/>
          </a:xfrm>
          <a:prstGeom prst="rect">
            <a:avLst/>
          </a:prstGeom>
          <a:solidFill>
            <a:srgbClr val="131313"/>
          </a:solidFill>
          <a:ln/>
        </p:spPr>
      </p:sp>
      <p:sp>
        <p:nvSpPr>
          <p:cNvPr id="8" name="Text 5"/>
          <p:cNvSpPr/>
          <p:nvPr/>
        </p:nvSpPr>
        <p:spPr>
          <a:xfrm>
            <a:off x="1885950" y="2247900"/>
            <a:ext cx="7467600"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PROCEDURE</a:t>
            </a:r>
            <a:endParaRPr lang="en-US" sz="1650" dirty="0"/>
          </a:p>
        </p:txBody>
      </p:sp>
      <p:sp>
        <p:nvSpPr>
          <p:cNvPr id="9" name="Shape 6"/>
          <p:cNvSpPr/>
          <p:nvPr/>
        </p:nvSpPr>
        <p:spPr>
          <a:xfrm>
            <a:off x="9505950" y="2657475"/>
            <a:ext cx="7981950" cy="19050"/>
          </a:xfrm>
          <a:prstGeom prst="rect">
            <a:avLst/>
          </a:prstGeom>
          <a:solidFill>
            <a:srgbClr val="131313"/>
          </a:solidFill>
          <a:ln/>
        </p:spPr>
      </p:sp>
      <p:sp>
        <p:nvSpPr>
          <p:cNvPr id="10" name="Text 7"/>
          <p:cNvSpPr/>
          <p:nvPr/>
        </p:nvSpPr>
        <p:spPr>
          <a:xfrm>
            <a:off x="9886950" y="2247900"/>
            <a:ext cx="784040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IT PROTECTS</a:t>
            </a:r>
            <a:endParaRPr lang="en-US" sz="1650" dirty="0"/>
          </a:p>
        </p:txBody>
      </p:sp>
      <p:sp>
        <p:nvSpPr>
          <p:cNvPr id="11" name="Shape 8"/>
          <p:cNvSpPr/>
          <p:nvPr/>
        </p:nvSpPr>
        <p:spPr>
          <a:xfrm>
            <a:off x="800100" y="3524250"/>
            <a:ext cx="1085850" cy="9525"/>
          </a:xfrm>
          <a:prstGeom prst="rect">
            <a:avLst/>
          </a:prstGeom>
          <a:solidFill>
            <a:srgbClr val="131313">
              <a:alpha val="14000"/>
            </a:srgbClr>
          </a:solidFill>
          <a:ln/>
        </p:spPr>
      </p:sp>
      <p:sp>
        <p:nvSpPr>
          <p:cNvPr id="12" name="Text 9"/>
          <p:cNvSpPr/>
          <p:nvPr/>
        </p:nvSpPr>
        <p:spPr>
          <a:xfrm>
            <a:off x="800100" y="2924175"/>
            <a:ext cx="933450" cy="39052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1</a:t>
            </a:r>
            <a:endParaRPr lang="en-US" sz="2100" dirty="0"/>
          </a:p>
        </p:txBody>
      </p:sp>
      <p:sp>
        <p:nvSpPr>
          <p:cNvPr id="13" name="Shape 10"/>
          <p:cNvSpPr/>
          <p:nvPr/>
        </p:nvSpPr>
        <p:spPr>
          <a:xfrm>
            <a:off x="1885950" y="3524250"/>
            <a:ext cx="7620000" cy="9525"/>
          </a:xfrm>
          <a:prstGeom prst="rect">
            <a:avLst/>
          </a:prstGeom>
          <a:solidFill>
            <a:srgbClr val="131313">
              <a:alpha val="14000"/>
            </a:srgbClr>
          </a:solidFill>
          <a:ln/>
        </p:spPr>
      </p:sp>
      <p:sp>
        <p:nvSpPr>
          <p:cNvPr id="14" name="Text 11"/>
          <p:cNvSpPr/>
          <p:nvPr/>
        </p:nvSpPr>
        <p:spPr>
          <a:xfrm>
            <a:off x="1885950" y="2924175"/>
            <a:ext cx="74676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Data-ingestion error diagnostics</a:t>
            </a:r>
            <a:endParaRPr lang="en-US" sz="2100" dirty="0"/>
          </a:p>
        </p:txBody>
      </p:sp>
      <p:sp>
        <p:nvSpPr>
          <p:cNvPr id="15" name="Shape 12"/>
          <p:cNvSpPr/>
          <p:nvPr/>
        </p:nvSpPr>
        <p:spPr>
          <a:xfrm>
            <a:off x="9505950" y="3524250"/>
            <a:ext cx="7981950" cy="9525"/>
          </a:xfrm>
          <a:prstGeom prst="rect">
            <a:avLst/>
          </a:prstGeom>
          <a:solidFill>
            <a:srgbClr val="131313">
              <a:alpha val="14000"/>
            </a:srgbClr>
          </a:solidFill>
          <a:ln/>
        </p:spPr>
      </p:sp>
      <p:sp>
        <p:nvSpPr>
          <p:cNvPr id="16" name="Text 13"/>
          <p:cNvSpPr/>
          <p:nvPr/>
        </p:nvSpPr>
        <p:spPr>
          <a:xfrm>
            <a:off x="9886950" y="2924175"/>
            <a:ext cx="7840409" cy="390525"/>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Correctness of source-to-destination field mapping</a:t>
            </a:r>
            <a:endParaRPr lang="en-US" sz="1800" dirty="0"/>
          </a:p>
        </p:txBody>
      </p:sp>
      <p:sp>
        <p:nvSpPr>
          <p:cNvPr id="17" name="Shape 14"/>
          <p:cNvSpPr/>
          <p:nvPr/>
        </p:nvSpPr>
        <p:spPr>
          <a:xfrm>
            <a:off x="800100" y="4381500"/>
            <a:ext cx="1085850" cy="9525"/>
          </a:xfrm>
          <a:prstGeom prst="rect">
            <a:avLst/>
          </a:prstGeom>
          <a:solidFill>
            <a:srgbClr val="131313">
              <a:alpha val="14000"/>
            </a:srgbClr>
          </a:solidFill>
          <a:ln/>
        </p:spPr>
      </p:sp>
      <p:sp>
        <p:nvSpPr>
          <p:cNvPr id="18" name="Text 15"/>
          <p:cNvSpPr/>
          <p:nvPr/>
        </p:nvSpPr>
        <p:spPr>
          <a:xfrm>
            <a:off x="800100" y="3781425"/>
            <a:ext cx="933450" cy="39052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2</a:t>
            </a:r>
            <a:endParaRPr lang="en-US" sz="2100" dirty="0"/>
          </a:p>
        </p:txBody>
      </p:sp>
      <p:sp>
        <p:nvSpPr>
          <p:cNvPr id="19" name="Shape 16"/>
          <p:cNvSpPr/>
          <p:nvPr/>
        </p:nvSpPr>
        <p:spPr>
          <a:xfrm>
            <a:off x="1885950" y="4381500"/>
            <a:ext cx="7620000" cy="9525"/>
          </a:xfrm>
          <a:prstGeom prst="rect">
            <a:avLst/>
          </a:prstGeom>
          <a:solidFill>
            <a:srgbClr val="131313">
              <a:alpha val="14000"/>
            </a:srgbClr>
          </a:solidFill>
          <a:ln/>
        </p:spPr>
      </p:sp>
      <p:sp>
        <p:nvSpPr>
          <p:cNvPr id="20" name="Text 17"/>
          <p:cNvSpPr/>
          <p:nvPr/>
        </p:nvSpPr>
        <p:spPr>
          <a:xfrm>
            <a:off x="1885950" y="3781425"/>
            <a:ext cx="74676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Source-to-CDP / data-lake sanity testing</a:t>
            </a:r>
            <a:endParaRPr lang="en-US" sz="2100" dirty="0"/>
          </a:p>
        </p:txBody>
      </p:sp>
      <p:sp>
        <p:nvSpPr>
          <p:cNvPr id="21" name="Shape 18"/>
          <p:cNvSpPr/>
          <p:nvPr/>
        </p:nvSpPr>
        <p:spPr>
          <a:xfrm>
            <a:off x="9505950" y="4381500"/>
            <a:ext cx="7981950" cy="9525"/>
          </a:xfrm>
          <a:prstGeom prst="rect">
            <a:avLst/>
          </a:prstGeom>
          <a:solidFill>
            <a:srgbClr val="131313">
              <a:alpha val="14000"/>
            </a:srgbClr>
          </a:solidFill>
          <a:ln/>
        </p:spPr>
      </p:sp>
      <p:sp>
        <p:nvSpPr>
          <p:cNvPr id="22" name="Text 19"/>
          <p:cNvSpPr/>
          <p:nvPr/>
        </p:nvSpPr>
        <p:spPr>
          <a:xfrm>
            <a:off x="9886950" y="3781425"/>
            <a:ext cx="7840409" cy="390525"/>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That code and configuration changes function without introducing defects</a:t>
            </a:r>
            <a:endParaRPr lang="en-US" sz="1800" dirty="0"/>
          </a:p>
        </p:txBody>
      </p:sp>
      <p:sp>
        <p:nvSpPr>
          <p:cNvPr id="23" name="Shape 20"/>
          <p:cNvSpPr/>
          <p:nvPr/>
        </p:nvSpPr>
        <p:spPr>
          <a:xfrm>
            <a:off x="800100" y="5238750"/>
            <a:ext cx="1085850" cy="9525"/>
          </a:xfrm>
          <a:prstGeom prst="rect">
            <a:avLst/>
          </a:prstGeom>
          <a:solidFill>
            <a:srgbClr val="131313">
              <a:alpha val="14000"/>
            </a:srgbClr>
          </a:solidFill>
          <a:ln/>
        </p:spPr>
      </p:sp>
      <p:sp>
        <p:nvSpPr>
          <p:cNvPr id="24" name="Text 21"/>
          <p:cNvSpPr/>
          <p:nvPr/>
        </p:nvSpPr>
        <p:spPr>
          <a:xfrm>
            <a:off x="800100" y="4638675"/>
            <a:ext cx="933450" cy="39052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3</a:t>
            </a:r>
            <a:endParaRPr lang="en-US" sz="2100" dirty="0"/>
          </a:p>
        </p:txBody>
      </p:sp>
      <p:sp>
        <p:nvSpPr>
          <p:cNvPr id="25" name="Shape 22"/>
          <p:cNvSpPr/>
          <p:nvPr/>
        </p:nvSpPr>
        <p:spPr>
          <a:xfrm>
            <a:off x="1885950" y="5238750"/>
            <a:ext cx="7620000" cy="9525"/>
          </a:xfrm>
          <a:prstGeom prst="rect">
            <a:avLst/>
          </a:prstGeom>
          <a:solidFill>
            <a:srgbClr val="131313">
              <a:alpha val="14000"/>
            </a:srgbClr>
          </a:solidFill>
          <a:ln/>
        </p:spPr>
      </p:sp>
      <p:sp>
        <p:nvSpPr>
          <p:cNvPr id="26" name="Text 23"/>
          <p:cNvSpPr/>
          <p:nvPr/>
        </p:nvSpPr>
        <p:spPr>
          <a:xfrm>
            <a:off x="1885950" y="4638675"/>
            <a:ext cx="74676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Merge-policy review</a:t>
            </a:r>
            <a:endParaRPr lang="en-US" sz="2100" dirty="0"/>
          </a:p>
        </p:txBody>
      </p:sp>
      <p:sp>
        <p:nvSpPr>
          <p:cNvPr id="27" name="Shape 24"/>
          <p:cNvSpPr/>
          <p:nvPr/>
        </p:nvSpPr>
        <p:spPr>
          <a:xfrm>
            <a:off x="9505950" y="5238750"/>
            <a:ext cx="7981950" cy="9525"/>
          </a:xfrm>
          <a:prstGeom prst="rect">
            <a:avLst/>
          </a:prstGeom>
          <a:solidFill>
            <a:srgbClr val="131313">
              <a:alpha val="14000"/>
            </a:srgbClr>
          </a:solidFill>
          <a:ln/>
        </p:spPr>
      </p:sp>
      <p:sp>
        <p:nvSpPr>
          <p:cNvPr id="28" name="Text 25"/>
          <p:cNvSpPr/>
          <p:nvPr/>
        </p:nvSpPr>
        <p:spPr>
          <a:xfrm>
            <a:off x="9886950" y="4638675"/>
            <a:ext cx="7840409" cy="390525"/>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That profile precedence produces the intended customer representation</a:t>
            </a:r>
            <a:endParaRPr lang="en-US" sz="1800" dirty="0"/>
          </a:p>
        </p:txBody>
      </p:sp>
      <p:sp>
        <p:nvSpPr>
          <p:cNvPr id="29" name="Shape 26"/>
          <p:cNvSpPr/>
          <p:nvPr/>
        </p:nvSpPr>
        <p:spPr>
          <a:xfrm>
            <a:off x="800100" y="6096000"/>
            <a:ext cx="1085850" cy="9525"/>
          </a:xfrm>
          <a:prstGeom prst="rect">
            <a:avLst/>
          </a:prstGeom>
          <a:solidFill>
            <a:srgbClr val="131313">
              <a:alpha val="14000"/>
            </a:srgbClr>
          </a:solidFill>
          <a:ln/>
        </p:spPr>
      </p:sp>
      <p:sp>
        <p:nvSpPr>
          <p:cNvPr id="30" name="Text 27"/>
          <p:cNvSpPr/>
          <p:nvPr/>
        </p:nvSpPr>
        <p:spPr>
          <a:xfrm>
            <a:off x="800100" y="5495925"/>
            <a:ext cx="933450" cy="39052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4</a:t>
            </a:r>
            <a:endParaRPr lang="en-US" sz="2100" dirty="0"/>
          </a:p>
        </p:txBody>
      </p:sp>
      <p:sp>
        <p:nvSpPr>
          <p:cNvPr id="31" name="Shape 28"/>
          <p:cNvSpPr/>
          <p:nvPr/>
        </p:nvSpPr>
        <p:spPr>
          <a:xfrm>
            <a:off x="1885950" y="6096000"/>
            <a:ext cx="7620000" cy="9525"/>
          </a:xfrm>
          <a:prstGeom prst="rect">
            <a:avLst/>
          </a:prstGeom>
          <a:solidFill>
            <a:srgbClr val="131313">
              <a:alpha val="14000"/>
            </a:srgbClr>
          </a:solidFill>
          <a:ln/>
        </p:spPr>
      </p:sp>
      <p:sp>
        <p:nvSpPr>
          <p:cNvPr id="32" name="Text 29"/>
          <p:cNvSpPr/>
          <p:nvPr/>
        </p:nvSpPr>
        <p:spPr>
          <a:xfrm>
            <a:off x="1885950" y="5495925"/>
            <a:ext cx="7467600" cy="39052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Target / content-variation validation</a:t>
            </a:r>
            <a:endParaRPr lang="en-US" sz="2100" dirty="0"/>
          </a:p>
        </p:txBody>
      </p:sp>
      <p:sp>
        <p:nvSpPr>
          <p:cNvPr id="33" name="Shape 30"/>
          <p:cNvSpPr/>
          <p:nvPr/>
        </p:nvSpPr>
        <p:spPr>
          <a:xfrm>
            <a:off x="9505950" y="6096000"/>
            <a:ext cx="7981950" cy="9525"/>
          </a:xfrm>
          <a:prstGeom prst="rect">
            <a:avLst/>
          </a:prstGeom>
          <a:solidFill>
            <a:srgbClr val="131313">
              <a:alpha val="14000"/>
            </a:srgbClr>
          </a:solidFill>
          <a:ln/>
        </p:spPr>
      </p:sp>
      <p:sp>
        <p:nvSpPr>
          <p:cNvPr id="34" name="Text 31"/>
          <p:cNvSpPr/>
          <p:nvPr/>
        </p:nvSpPr>
        <p:spPr>
          <a:xfrm>
            <a:off x="9886950" y="5495925"/>
            <a:ext cx="7840409" cy="390525"/>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That content variations target audiences correctly</a:t>
            </a:r>
            <a:endParaRPr lang="en-US" sz="1800" dirty="0"/>
          </a:p>
        </p:txBody>
      </p:sp>
      <p:sp>
        <p:nvSpPr>
          <p:cNvPr id="35" name="Shape 32"/>
          <p:cNvSpPr/>
          <p:nvPr/>
        </p:nvSpPr>
        <p:spPr>
          <a:xfrm>
            <a:off x="800100" y="7248525"/>
            <a:ext cx="1085850" cy="9525"/>
          </a:xfrm>
          <a:prstGeom prst="rect">
            <a:avLst/>
          </a:prstGeom>
          <a:solidFill>
            <a:srgbClr val="131313">
              <a:alpha val="14000"/>
            </a:srgbClr>
          </a:solidFill>
          <a:ln/>
        </p:spPr>
      </p:sp>
      <p:sp>
        <p:nvSpPr>
          <p:cNvPr id="36" name="Text 33"/>
          <p:cNvSpPr/>
          <p:nvPr/>
        </p:nvSpPr>
        <p:spPr>
          <a:xfrm>
            <a:off x="800100" y="6353175"/>
            <a:ext cx="933450" cy="68580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FF532C"/>
                </a:solidFill>
                <a:latin typeface="Arial" pitchFamily="34" charset="0"/>
                <a:ea typeface="Arial" pitchFamily="34" charset="-122"/>
                <a:cs typeface="Arial" pitchFamily="34" charset="-120"/>
              </a:rPr>
              <a:t>5</a:t>
            </a:r>
            <a:endParaRPr lang="en-US" sz="2100" dirty="0"/>
          </a:p>
        </p:txBody>
      </p:sp>
      <p:sp>
        <p:nvSpPr>
          <p:cNvPr id="37" name="Shape 34"/>
          <p:cNvSpPr/>
          <p:nvPr/>
        </p:nvSpPr>
        <p:spPr>
          <a:xfrm>
            <a:off x="1885950" y="7248525"/>
            <a:ext cx="7620000" cy="9525"/>
          </a:xfrm>
          <a:prstGeom prst="rect">
            <a:avLst/>
          </a:prstGeom>
          <a:solidFill>
            <a:srgbClr val="131313">
              <a:alpha val="14000"/>
            </a:srgbClr>
          </a:solidFill>
          <a:ln/>
        </p:spPr>
      </p:sp>
      <p:sp>
        <p:nvSpPr>
          <p:cNvPr id="38" name="Text 35"/>
          <p:cNvSpPr/>
          <p:nvPr/>
        </p:nvSpPr>
        <p:spPr>
          <a:xfrm>
            <a:off x="1885950" y="6353175"/>
            <a:ext cx="7467600" cy="685800"/>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31313"/>
                </a:solidFill>
                <a:latin typeface="Arial" pitchFamily="34" charset="0"/>
                <a:ea typeface="Arial" pitchFamily="34" charset="-122"/>
                <a:cs typeface="Arial" pitchFamily="34" charset="-120"/>
              </a:rPr>
              <a:t>Events / data-elements / data-layer validation</a:t>
            </a:r>
            <a:endParaRPr lang="en-US" sz="2100" dirty="0"/>
          </a:p>
        </p:txBody>
      </p:sp>
      <p:sp>
        <p:nvSpPr>
          <p:cNvPr id="39" name="Shape 36"/>
          <p:cNvSpPr/>
          <p:nvPr/>
        </p:nvSpPr>
        <p:spPr>
          <a:xfrm>
            <a:off x="9505950" y="7248525"/>
            <a:ext cx="7981950" cy="9525"/>
          </a:xfrm>
          <a:prstGeom prst="rect">
            <a:avLst/>
          </a:prstGeom>
          <a:solidFill>
            <a:srgbClr val="131313">
              <a:alpha val="14000"/>
            </a:srgbClr>
          </a:solidFill>
          <a:ln/>
        </p:spPr>
      </p:sp>
      <p:sp>
        <p:nvSpPr>
          <p:cNvPr id="40" name="Text 37"/>
          <p:cNvSpPr/>
          <p:nvPr/>
        </p:nvSpPr>
        <p:spPr>
          <a:xfrm>
            <a:off x="9886950" y="6353175"/>
            <a:ext cx="7840409"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That analytics variables are populated correctly, subject to governance standards</a:t>
            </a:r>
            <a:endParaRPr lang="en-US" sz="1800" dirty="0"/>
          </a:p>
        </p:txBody>
      </p:sp>
      <p:sp>
        <p:nvSpPr>
          <p:cNvPr id="41" name="Text 38"/>
          <p:cNvSpPr/>
          <p:nvPr/>
        </p:nvSpPr>
        <p:spPr>
          <a:xfrm>
            <a:off x="800100" y="7610475"/>
            <a:ext cx="18356580" cy="3048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777777"/>
                </a:solidFill>
                <a:latin typeface="Arial" pitchFamily="34" charset="0"/>
                <a:ea typeface="Arial" pitchFamily="34" charset="-122"/>
                <a:cs typeface="Arial" pitchFamily="34" charset="-120"/>
              </a:rPr>
              <a:t>Source: TA Digital Ascent – Navdeep</a:t>
            </a:r>
            <a:endParaRPr lang="en-US" sz="1500" dirty="0"/>
          </a:p>
        </p:txBody>
      </p:sp>
      <p:sp>
        <p:nvSpPr>
          <p:cNvPr id="42" name="Text 39"/>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3" name="Text 40"/>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4" name="Text 41"/>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46</a:t>
            </a:r>
            <a:endParaRPr lang="en-US" sz="112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Procedures 1 and 2 in detail</a:t>
            </a:r>
            <a:endParaRPr lang="en-US" sz="3900" dirty="0"/>
          </a:p>
        </p:txBody>
      </p:sp>
      <p:sp>
        <p:nvSpPr>
          <p:cNvPr id="5" name="Shape 2"/>
          <p:cNvSpPr/>
          <p:nvPr/>
        </p:nvSpPr>
        <p:spPr>
          <a:xfrm>
            <a:off x="800100" y="2362200"/>
            <a:ext cx="8172450" cy="5286375"/>
          </a:xfrm>
          <a:prstGeom prst="rect">
            <a:avLst/>
          </a:prstGeom>
          <a:solidFill>
            <a:srgbClr val="F2F5F6"/>
          </a:solidFill>
          <a:ln/>
        </p:spPr>
      </p:sp>
      <p:sp>
        <p:nvSpPr>
          <p:cNvPr id="6" name="Text 3"/>
          <p:cNvSpPr/>
          <p:nvPr/>
        </p:nvSpPr>
        <p:spPr>
          <a:xfrm>
            <a:off x="1333500" y="2895600"/>
            <a:ext cx="7816215"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1</a:t>
            </a:r>
            <a:endParaRPr lang="en-US" sz="7200" dirty="0"/>
          </a:p>
        </p:txBody>
      </p:sp>
      <p:sp>
        <p:nvSpPr>
          <p:cNvPr id="7" name="Text 4"/>
          <p:cNvSpPr/>
          <p:nvPr/>
        </p:nvSpPr>
        <p:spPr>
          <a:xfrm>
            <a:off x="1333500" y="4076700"/>
            <a:ext cx="7816215" cy="485775"/>
          </a:xfrm>
          <a:prstGeom prst="rect">
            <a:avLst/>
          </a:prstGeom>
          <a:noFill/>
          <a:ln/>
        </p:spPr>
        <p:txBody>
          <a:bodyPr wrap="square" lIns="25400" tIns="25400" rIns="25400" bIns="25400" rtlCol="0" anchor="t">
            <a:normAutofit/>
          </a:bodyPr>
          <a:lstStyle/>
          <a:p>
            <a:pPr algn="l" indent="0" marL="0">
              <a:lnSpc>
                <a:spcPct val="110465"/>
              </a:lnSpc>
              <a:buNone/>
            </a:pPr>
            <a:r>
              <a:rPr lang="en-US" sz="2850" b="1" spc="-45" kern="0" dirty="0">
                <a:solidFill>
                  <a:srgbClr val="131313"/>
                </a:solidFill>
                <a:latin typeface="Arial" pitchFamily="34" charset="0"/>
                <a:ea typeface="Arial" pitchFamily="34" charset="-122"/>
                <a:cs typeface="Arial" pitchFamily="34" charset="-120"/>
              </a:rPr>
              <a:t>Data-ingestion error diagnostics</a:t>
            </a:r>
            <a:endParaRPr lang="en-US" sz="2850" dirty="0"/>
          </a:p>
        </p:txBody>
      </p:sp>
      <p:sp>
        <p:nvSpPr>
          <p:cNvPr id="8" name="Text 5"/>
          <p:cNvSpPr/>
          <p:nvPr/>
        </p:nvSpPr>
        <p:spPr>
          <a:xfrm>
            <a:off x="1333500" y="4829175"/>
            <a:ext cx="7318820" cy="2324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Diagnosing incorrect mappings between source and destination, and investigating why expected source values were not appearing correctly downstream. Requires knowledge of Ascent’s own source mappings and integration patterns, not only of the destination platform’s behaviour.</a:t>
            </a:r>
            <a:endParaRPr lang="en-US" sz="2100" dirty="0"/>
          </a:p>
        </p:txBody>
      </p:sp>
      <p:sp>
        <p:nvSpPr>
          <p:cNvPr id="9" name="Shape 6"/>
          <p:cNvSpPr/>
          <p:nvPr/>
        </p:nvSpPr>
        <p:spPr>
          <a:xfrm>
            <a:off x="9315450" y="2362200"/>
            <a:ext cx="8172450" cy="5286375"/>
          </a:xfrm>
          <a:prstGeom prst="rect">
            <a:avLst/>
          </a:prstGeom>
          <a:solidFill>
            <a:srgbClr val="F2F5F6"/>
          </a:solidFill>
          <a:ln/>
        </p:spPr>
      </p:sp>
      <p:sp>
        <p:nvSpPr>
          <p:cNvPr id="10" name="Text 7"/>
          <p:cNvSpPr/>
          <p:nvPr/>
        </p:nvSpPr>
        <p:spPr>
          <a:xfrm>
            <a:off x="9848850" y="2895600"/>
            <a:ext cx="7816215"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2</a:t>
            </a:r>
            <a:endParaRPr lang="en-US" sz="7200" dirty="0"/>
          </a:p>
        </p:txBody>
      </p:sp>
      <p:sp>
        <p:nvSpPr>
          <p:cNvPr id="11" name="Text 8"/>
          <p:cNvSpPr/>
          <p:nvPr/>
        </p:nvSpPr>
        <p:spPr>
          <a:xfrm>
            <a:off x="9848850" y="4076700"/>
            <a:ext cx="7816215" cy="485775"/>
          </a:xfrm>
          <a:prstGeom prst="rect">
            <a:avLst/>
          </a:prstGeom>
          <a:noFill/>
          <a:ln/>
        </p:spPr>
        <p:txBody>
          <a:bodyPr wrap="square" lIns="25400" tIns="25400" rIns="25400" bIns="25400" rtlCol="0" anchor="t">
            <a:normAutofit/>
          </a:bodyPr>
          <a:lstStyle/>
          <a:p>
            <a:pPr algn="l" indent="0" marL="0">
              <a:lnSpc>
                <a:spcPct val="110465"/>
              </a:lnSpc>
              <a:buNone/>
            </a:pPr>
            <a:r>
              <a:rPr lang="en-US" sz="2850" b="1" spc="-45" kern="0" dirty="0">
                <a:solidFill>
                  <a:srgbClr val="131313"/>
                </a:solidFill>
                <a:latin typeface="Arial" pitchFamily="34" charset="0"/>
                <a:ea typeface="Arial" pitchFamily="34" charset="-122"/>
                <a:cs typeface="Arial" pitchFamily="34" charset="-120"/>
              </a:rPr>
              <a:t>Source-to-CDP / data-lake sanity testing</a:t>
            </a:r>
            <a:endParaRPr lang="en-US" sz="2850" dirty="0"/>
          </a:p>
        </p:txBody>
      </p:sp>
      <p:sp>
        <p:nvSpPr>
          <p:cNvPr id="12" name="Text 9"/>
          <p:cNvSpPr/>
          <p:nvPr/>
        </p:nvSpPr>
        <p:spPr>
          <a:xfrm>
            <a:off x="9848850" y="4829175"/>
            <a:ext cx="7318820" cy="2324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Comparing source information against downstream CDP and data-lake data to determine whether code or configuration changes were functioning correctly and without introducing defects. Requires knowing what the correct downstream representation should be for that particular Ascent implementation.</a:t>
            </a:r>
            <a:endParaRPr lang="en-US" sz="2100" dirty="0"/>
          </a:p>
        </p:txBody>
      </p:sp>
      <p:sp>
        <p:nvSpPr>
          <p:cNvPr id="13" name="Text 10"/>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4" name="Text 11"/>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5" name="Text 12"/>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47</a:t>
            </a:r>
            <a:endParaRPr lang="en-US" sz="11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Procedures 3, 4 and 5 in detail</a:t>
            </a:r>
            <a:endParaRPr lang="en-US" sz="3900" dirty="0"/>
          </a:p>
        </p:txBody>
      </p:sp>
      <p:sp>
        <p:nvSpPr>
          <p:cNvPr id="5" name="Shape 2"/>
          <p:cNvSpPr/>
          <p:nvPr/>
        </p:nvSpPr>
        <p:spPr>
          <a:xfrm>
            <a:off x="800100" y="2362200"/>
            <a:ext cx="5334000" cy="4838700"/>
          </a:xfrm>
          <a:prstGeom prst="rect">
            <a:avLst/>
          </a:prstGeom>
          <a:solidFill>
            <a:srgbClr val="F2F5F6"/>
          </a:solidFill>
          <a:ln/>
        </p:spPr>
      </p:sp>
      <p:sp>
        <p:nvSpPr>
          <p:cNvPr id="6" name="Text 3"/>
          <p:cNvSpPr/>
          <p:nvPr/>
        </p:nvSpPr>
        <p:spPr>
          <a:xfrm>
            <a:off x="1257300" y="2819400"/>
            <a:ext cx="486156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3</a:t>
            </a:r>
            <a:endParaRPr lang="en-US" sz="7200" dirty="0"/>
          </a:p>
        </p:txBody>
      </p:sp>
      <p:sp>
        <p:nvSpPr>
          <p:cNvPr id="7" name="Text 4"/>
          <p:cNvSpPr/>
          <p:nvPr/>
        </p:nvSpPr>
        <p:spPr>
          <a:xfrm>
            <a:off x="1257300" y="4000500"/>
            <a:ext cx="486156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Merge-policy review</a:t>
            </a:r>
            <a:endParaRPr lang="en-US" sz="2400" dirty="0"/>
          </a:p>
        </p:txBody>
      </p:sp>
      <p:sp>
        <p:nvSpPr>
          <p:cNvPr id="8" name="Text 5"/>
          <p:cNvSpPr/>
          <p:nvPr/>
        </p:nvSpPr>
        <p:spPr>
          <a:xfrm>
            <a:off x="1257300" y="4648200"/>
            <a:ext cx="4552188" cy="17526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Reviewing how data was prioritised when building unified customer profiles, and evaluating whether profile precedence produced the intended customer representation.</a:t>
            </a:r>
            <a:endParaRPr lang="en-US" sz="1800" dirty="0"/>
          </a:p>
        </p:txBody>
      </p:sp>
      <p:sp>
        <p:nvSpPr>
          <p:cNvPr id="9" name="Shape 6"/>
          <p:cNvSpPr/>
          <p:nvPr/>
        </p:nvSpPr>
        <p:spPr>
          <a:xfrm>
            <a:off x="6477000" y="2362200"/>
            <a:ext cx="5334000" cy="4838700"/>
          </a:xfrm>
          <a:prstGeom prst="rect">
            <a:avLst/>
          </a:prstGeom>
          <a:solidFill>
            <a:srgbClr val="F2F5F6"/>
          </a:solidFill>
          <a:ln/>
        </p:spPr>
      </p:sp>
      <p:sp>
        <p:nvSpPr>
          <p:cNvPr id="10" name="Text 7"/>
          <p:cNvSpPr/>
          <p:nvPr/>
        </p:nvSpPr>
        <p:spPr>
          <a:xfrm>
            <a:off x="6934200" y="2819400"/>
            <a:ext cx="486156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4</a:t>
            </a:r>
            <a:endParaRPr lang="en-US" sz="7200" dirty="0"/>
          </a:p>
        </p:txBody>
      </p:sp>
      <p:sp>
        <p:nvSpPr>
          <p:cNvPr id="11" name="Text 8"/>
          <p:cNvSpPr/>
          <p:nvPr/>
        </p:nvSpPr>
        <p:spPr>
          <a:xfrm>
            <a:off x="6934200" y="4000500"/>
            <a:ext cx="4552188"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Target / content-variation validation</a:t>
            </a:r>
            <a:endParaRPr lang="en-US" sz="2400" dirty="0"/>
          </a:p>
        </p:txBody>
      </p:sp>
      <p:sp>
        <p:nvSpPr>
          <p:cNvPr id="12" name="Text 9"/>
          <p:cNvSpPr/>
          <p:nvPr/>
        </p:nvSpPr>
        <p:spPr>
          <a:xfrm>
            <a:off x="6934200" y="5029200"/>
            <a:ext cx="4552188" cy="10668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Validating content code and configuration across the variations required to target audiences correctly.</a:t>
            </a:r>
            <a:endParaRPr lang="en-US" sz="1800" dirty="0"/>
          </a:p>
        </p:txBody>
      </p:sp>
      <p:sp>
        <p:nvSpPr>
          <p:cNvPr id="13" name="Shape 10"/>
          <p:cNvSpPr/>
          <p:nvPr/>
        </p:nvSpPr>
        <p:spPr>
          <a:xfrm>
            <a:off x="12153900" y="2362200"/>
            <a:ext cx="5334000" cy="4838700"/>
          </a:xfrm>
          <a:prstGeom prst="rect">
            <a:avLst/>
          </a:prstGeom>
          <a:solidFill>
            <a:srgbClr val="F2F5F6"/>
          </a:solidFill>
          <a:ln/>
        </p:spPr>
      </p:sp>
      <p:sp>
        <p:nvSpPr>
          <p:cNvPr id="14" name="Text 11"/>
          <p:cNvSpPr/>
          <p:nvPr/>
        </p:nvSpPr>
        <p:spPr>
          <a:xfrm>
            <a:off x="12611100" y="2819400"/>
            <a:ext cx="486156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150" kern="0" dirty="0">
                <a:solidFill>
                  <a:srgbClr val="FF532C"/>
                </a:solidFill>
                <a:latin typeface="Arial" pitchFamily="34" charset="0"/>
                <a:ea typeface="Arial" pitchFamily="34" charset="-122"/>
                <a:cs typeface="Arial" pitchFamily="34" charset="-120"/>
              </a:rPr>
              <a:t>5</a:t>
            </a:r>
            <a:endParaRPr lang="en-US" sz="7200" dirty="0"/>
          </a:p>
        </p:txBody>
      </p:sp>
      <p:sp>
        <p:nvSpPr>
          <p:cNvPr id="15" name="Text 12"/>
          <p:cNvSpPr/>
          <p:nvPr/>
        </p:nvSpPr>
        <p:spPr>
          <a:xfrm>
            <a:off x="12611100" y="4000500"/>
            <a:ext cx="4552188"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Events / data-elements / data-layer validation</a:t>
            </a:r>
            <a:endParaRPr lang="en-US" sz="2400" dirty="0"/>
          </a:p>
        </p:txBody>
      </p:sp>
      <p:sp>
        <p:nvSpPr>
          <p:cNvPr id="16" name="Text 13"/>
          <p:cNvSpPr/>
          <p:nvPr/>
        </p:nvSpPr>
        <p:spPr>
          <a:xfrm>
            <a:off x="12611100" y="5029200"/>
            <a:ext cx="4552188" cy="17526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Inspecting events, data elements and page data-layer values; confirming they populated analytics variables correctly; conducting overall health checks subject to applicable data-governance standards.</a:t>
            </a:r>
            <a:endParaRPr lang="en-US" sz="180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48</a:t>
            </a:r>
            <a:endParaRPr lang="en-US" sz="11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4224397"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TECHNICAL REVIEW AND APPROVAL AUTHORITY</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deployment review rule</a:t>
            </a:r>
            <a:endParaRPr lang="en-US" sz="3900" dirty="0"/>
          </a:p>
        </p:txBody>
      </p:sp>
      <p:sp>
        <p:nvSpPr>
          <p:cNvPr id="5" name="Shape 2"/>
          <p:cNvSpPr/>
          <p:nvPr/>
        </p:nvSpPr>
        <p:spPr>
          <a:xfrm>
            <a:off x="800100" y="1866900"/>
            <a:ext cx="16687800" cy="1781175"/>
          </a:xfrm>
          <a:prstGeom prst="rect">
            <a:avLst/>
          </a:prstGeom>
          <a:solidFill>
            <a:srgbClr val="131313"/>
          </a:solidFill>
          <a:ln/>
        </p:spPr>
      </p:sp>
      <p:sp>
        <p:nvSpPr>
          <p:cNvPr id="6" name="Text 3"/>
          <p:cNvSpPr/>
          <p:nvPr/>
        </p:nvSpPr>
        <p:spPr>
          <a:xfrm>
            <a:off x="1257300" y="228600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THE OPERATIVE RULE</a:t>
            </a:r>
            <a:endParaRPr lang="en-US" sz="1650" dirty="0"/>
          </a:p>
        </p:txBody>
      </p:sp>
      <p:sp>
        <p:nvSpPr>
          <p:cNvPr id="7" name="Text 4"/>
          <p:cNvSpPr/>
          <p:nvPr/>
        </p:nvSpPr>
        <p:spPr>
          <a:xfrm>
            <a:off x="1257300" y="2762250"/>
            <a:ext cx="17350740" cy="504825"/>
          </a:xfrm>
          <a:prstGeom prst="rect">
            <a:avLst/>
          </a:prstGeom>
          <a:noFill/>
          <a:ln/>
        </p:spPr>
        <p:txBody>
          <a:bodyPr wrap="square" lIns="25400" tIns="25400" rIns="25400" bIns="25400" rtlCol="0" anchor="t">
            <a:normAutofit/>
          </a:bodyPr>
          <a:lstStyle/>
          <a:p>
            <a:pPr algn="l" indent="0" marL="0">
              <a:lnSpc>
                <a:spcPct val="114884"/>
              </a:lnSpc>
              <a:buNone/>
            </a:pPr>
            <a:r>
              <a:rPr lang="en-US" sz="2850" b="1" spc="-45" kern="0" dirty="0">
                <a:solidFill>
                  <a:srgbClr val="FFFFFF"/>
                </a:solidFill>
                <a:latin typeface="Arial" pitchFamily="34" charset="0"/>
                <a:ea typeface="Arial" pitchFamily="34" charset="-122"/>
                <a:cs typeface="Arial" pitchFamily="34" charset="-120"/>
              </a:rPr>
              <a:t>Work could not be approved for deployment when a critical quality gate failed.</a:t>
            </a:r>
            <a:endParaRPr lang="en-US" sz="2850" dirty="0"/>
          </a:p>
        </p:txBody>
      </p:sp>
      <p:sp>
        <p:nvSpPr>
          <p:cNvPr id="8" name="Text 5"/>
          <p:cNvSpPr/>
          <p:nvPr/>
        </p:nvSpPr>
        <p:spPr>
          <a:xfrm>
            <a:off x="800100" y="3952875"/>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THE RULE OPERATED</a:t>
            </a:r>
            <a:endParaRPr lang="en-US" sz="1650" dirty="0"/>
          </a:p>
        </p:txBody>
      </p:sp>
      <p:sp>
        <p:nvSpPr>
          <p:cNvPr id="9" name="Text 6"/>
          <p:cNvSpPr/>
          <p:nvPr/>
        </p:nvSpPr>
        <p:spPr>
          <a:xfrm>
            <a:off x="800100" y="4371975"/>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131313"/>
                </a:solidFill>
                <a:latin typeface="Arial" pitchFamily="34" charset="0"/>
                <a:ea typeface="Arial" pitchFamily="34" charset="-122"/>
                <a:cs typeface="Arial" pitchFamily="34" charset="-120"/>
              </a:rPr>
              <a:t>Where a source-to-destination mapping produced incorrect CDP or data-lake values, deployment was held until the mapping or code was corrected and revalidated.</a:t>
            </a:r>
            <a:endParaRPr lang="en-US" sz="1800" dirty="0"/>
          </a:p>
        </p:txBody>
      </p:sp>
      <p:sp>
        <p:nvSpPr>
          <p:cNvPr id="10" name="Text 7"/>
          <p:cNvSpPr/>
          <p:nvPr/>
        </p:nvSpPr>
        <p:spPr>
          <a:xfrm>
            <a:off x="800100" y="5362575"/>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WHY THE RULE WAS STRICT</a:t>
            </a:r>
            <a:endParaRPr lang="en-US" sz="1650" dirty="0"/>
          </a:p>
        </p:txBody>
      </p:sp>
      <p:sp>
        <p:nvSpPr>
          <p:cNvPr id="11" name="Shape 8"/>
          <p:cNvSpPr/>
          <p:nvPr/>
        </p:nvSpPr>
        <p:spPr>
          <a:xfrm>
            <a:off x="800100" y="5781675"/>
            <a:ext cx="2527250" cy="1304925"/>
          </a:xfrm>
          <a:prstGeom prst="rect">
            <a:avLst/>
          </a:prstGeom>
          <a:solidFill>
            <a:srgbClr val="F2F5F6"/>
          </a:solidFill>
          <a:ln/>
        </p:spPr>
      </p:sp>
      <p:sp>
        <p:nvSpPr>
          <p:cNvPr id="12" name="Text 9"/>
          <p:cNvSpPr/>
          <p:nvPr/>
        </p:nvSpPr>
        <p:spPr>
          <a:xfrm>
            <a:off x="971550"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incorrect mapping</a:t>
            </a:r>
            <a:endParaRPr lang="en-US" sz="1800" dirty="0"/>
          </a:p>
        </p:txBody>
      </p:sp>
      <p:sp>
        <p:nvSpPr>
          <p:cNvPr id="13" name="Text 10"/>
          <p:cNvSpPr/>
          <p:nvPr/>
        </p:nvSpPr>
        <p:spPr>
          <a:xfrm>
            <a:off x="3289250"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4" name="Shape 11"/>
          <p:cNvSpPr/>
          <p:nvPr/>
        </p:nvSpPr>
        <p:spPr>
          <a:xfrm>
            <a:off x="3632150" y="5781675"/>
            <a:ext cx="2527250" cy="1304925"/>
          </a:xfrm>
          <a:prstGeom prst="rect">
            <a:avLst/>
          </a:prstGeom>
          <a:solidFill>
            <a:srgbClr val="F2F5F6"/>
          </a:solidFill>
          <a:ln/>
        </p:spPr>
      </p:sp>
      <p:sp>
        <p:nvSpPr>
          <p:cNvPr id="15" name="Text 12"/>
          <p:cNvSpPr/>
          <p:nvPr/>
        </p:nvSpPr>
        <p:spPr>
          <a:xfrm>
            <a:off x="3803600"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contaminated profile</a:t>
            </a:r>
            <a:endParaRPr lang="en-US" sz="1800" dirty="0"/>
          </a:p>
        </p:txBody>
      </p:sp>
      <p:sp>
        <p:nvSpPr>
          <p:cNvPr id="16" name="Text 13"/>
          <p:cNvSpPr/>
          <p:nvPr/>
        </p:nvSpPr>
        <p:spPr>
          <a:xfrm>
            <a:off x="6121301"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17" name="Shape 14"/>
          <p:cNvSpPr/>
          <p:nvPr/>
        </p:nvSpPr>
        <p:spPr>
          <a:xfrm>
            <a:off x="6464201" y="5781675"/>
            <a:ext cx="2527250" cy="1304925"/>
          </a:xfrm>
          <a:prstGeom prst="rect">
            <a:avLst/>
          </a:prstGeom>
          <a:solidFill>
            <a:srgbClr val="131313">
              <a:alpha val="10000"/>
            </a:srgbClr>
          </a:solidFill>
          <a:ln/>
        </p:spPr>
      </p:sp>
      <p:sp>
        <p:nvSpPr>
          <p:cNvPr id="18" name="Text 15"/>
          <p:cNvSpPr/>
          <p:nvPr/>
        </p:nvSpPr>
        <p:spPr>
          <a:xfrm>
            <a:off x="6635651"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incorrect audience qualification</a:t>
            </a:r>
            <a:endParaRPr lang="en-US" sz="1800" dirty="0"/>
          </a:p>
        </p:txBody>
      </p:sp>
      <p:sp>
        <p:nvSpPr>
          <p:cNvPr id="19" name="Text 16"/>
          <p:cNvSpPr/>
          <p:nvPr/>
        </p:nvSpPr>
        <p:spPr>
          <a:xfrm>
            <a:off x="8953351"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0" name="Shape 17"/>
          <p:cNvSpPr/>
          <p:nvPr/>
        </p:nvSpPr>
        <p:spPr>
          <a:xfrm>
            <a:off x="9296251" y="5781675"/>
            <a:ext cx="2527399" cy="1304925"/>
          </a:xfrm>
          <a:prstGeom prst="rect">
            <a:avLst/>
          </a:prstGeom>
          <a:solidFill>
            <a:srgbClr val="131313">
              <a:alpha val="20000"/>
            </a:srgbClr>
          </a:solidFill>
          <a:ln/>
        </p:spPr>
      </p:sp>
      <p:sp>
        <p:nvSpPr>
          <p:cNvPr id="21" name="Text 18"/>
          <p:cNvSpPr/>
          <p:nvPr/>
        </p:nvSpPr>
        <p:spPr>
          <a:xfrm>
            <a:off x="9467701" y="5991225"/>
            <a:ext cx="2260699"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131313"/>
                </a:solidFill>
                <a:latin typeface="Arial" pitchFamily="34" charset="0"/>
                <a:ea typeface="Arial" pitchFamily="34" charset="-122"/>
                <a:cs typeface="Arial" pitchFamily="34" charset="-120"/>
              </a:rPr>
              <a:t>wrong personalization delivered</a:t>
            </a:r>
            <a:endParaRPr lang="en-US" sz="1800" dirty="0"/>
          </a:p>
        </p:txBody>
      </p:sp>
      <p:sp>
        <p:nvSpPr>
          <p:cNvPr id="22" name="Text 19"/>
          <p:cNvSpPr/>
          <p:nvPr/>
        </p:nvSpPr>
        <p:spPr>
          <a:xfrm>
            <a:off x="11785550"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3" name="Shape 20"/>
          <p:cNvSpPr/>
          <p:nvPr/>
        </p:nvSpPr>
        <p:spPr>
          <a:xfrm>
            <a:off x="12128450" y="5781675"/>
            <a:ext cx="2527250" cy="1304925"/>
          </a:xfrm>
          <a:prstGeom prst="rect">
            <a:avLst/>
          </a:prstGeom>
          <a:solidFill>
            <a:srgbClr val="131313"/>
          </a:solidFill>
          <a:ln/>
        </p:spPr>
      </p:sp>
      <p:sp>
        <p:nvSpPr>
          <p:cNvPr id="24" name="Text 21"/>
          <p:cNvSpPr/>
          <p:nvPr/>
        </p:nvSpPr>
        <p:spPr>
          <a:xfrm>
            <a:off x="12299900"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dirty="0">
                <a:solidFill>
                  <a:srgbClr val="FFFFFF"/>
                </a:solidFill>
                <a:latin typeface="Arial" pitchFamily="34" charset="0"/>
                <a:ea typeface="Arial" pitchFamily="34" charset="-122"/>
                <a:cs typeface="Arial" pitchFamily="34" charset="-120"/>
              </a:rPr>
              <a:t>distorted reporting</a:t>
            </a:r>
            <a:endParaRPr lang="en-US" sz="1800" dirty="0"/>
          </a:p>
        </p:txBody>
      </p:sp>
      <p:sp>
        <p:nvSpPr>
          <p:cNvPr id="25" name="Text 22"/>
          <p:cNvSpPr/>
          <p:nvPr/>
        </p:nvSpPr>
        <p:spPr>
          <a:xfrm>
            <a:off x="14617601" y="5781675"/>
            <a:ext cx="381000" cy="1343025"/>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26" name="Shape 23"/>
          <p:cNvSpPr/>
          <p:nvPr/>
        </p:nvSpPr>
        <p:spPr>
          <a:xfrm>
            <a:off x="14960501" y="5781675"/>
            <a:ext cx="2527250" cy="1304925"/>
          </a:xfrm>
          <a:prstGeom prst="rect">
            <a:avLst/>
          </a:prstGeom>
          <a:solidFill>
            <a:srgbClr val="131313"/>
          </a:solidFill>
          <a:ln/>
        </p:spPr>
      </p:sp>
      <p:sp>
        <p:nvSpPr>
          <p:cNvPr id="27" name="Text 24"/>
          <p:cNvSpPr/>
          <p:nvPr/>
        </p:nvSpPr>
        <p:spPr>
          <a:xfrm>
            <a:off x="15131951" y="5991225"/>
            <a:ext cx="2260550" cy="923925"/>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532C"/>
                </a:solidFill>
                <a:latin typeface="Arial" pitchFamily="34" charset="0"/>
                <a:ea typeface="Arial" pitchFamily="34" charset="-122"/>
                <a:cs typeface="Arial" pitchFamily="34" charset="-120"/>
              </a:rPr>
              <a:t>governance exposure</a:t>
            </a:r>
            <a:endParaRPr lang="en-US" sz="1800" dirty="0"/>
          </a:p>
        </p:txBody>
      </p:sp>
      <p:sp>
        <p:nvSpPr>
          <p:cNvPr id="28" name="Text 25"/>
          <p:cNvSpPr/>
          <p:nvPr/>
        </p:nvSpPr>
        <p:spPr>
          <a:xfrm>
            <a:off x="800100" y="7391400"/>
            <a:ext cx="15697200"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Bad data does not stay where it starts. In an integrated architecture the cost of admitting it rises at every subsequent layer, which is why the authority to hold a deployment sat with someone who understood the whole chain.</a:t>
            </a:r>
            <a:endParaRPr lang="en-US" sz="1800" dirty="0"/>
          </a:p>
        </p:txBody>
      </p:sp>
      <p:sp>
        <p:nvSpPr>
          <p:cNvPr id="29" name="Text 2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0" name="Text 2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1" name="Text 28"/>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49</a:t>
            </a:r>
            <a:endParaRPr lang="en-US" sz="11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07</a:t>
            </a:r>
            <a:endParaRPr lang="en-US" sz="9900" dirty="0"/>
          </a:p>
        </p:txBody>
      </p:sp>
      <p:sp>
        <p:nvSpPr>
          <p:cNvPr id="5" name="Text 2"/>
          <p:cNvSpPr/>
          <p:nvPr/>
        </p:nvSpPr>
        <p:spPr>
          <a:xfrm>
            <a:off x="800100" y="3943350"/>
            <a:ext cx="14716125" cy="4953000"/>
          </a:xfrm>
          <a:prstGeom prst="rect">
            <a:avLst/>
          </a:prstGeom>
          <a:noFill/>
          <a:ln/>
        </p:spPr>
        <p:txBody>
          <a:bodyPr wrap="square" lIns="25400" tIns="25400" rIns="25400" bIns="25400" rtlCol="0" anchor="t">
            <a:normAutofit/>
          </a:bodyPr>
          <a:lstStyle/>
          <a:p>
            <a:pPr algn="l" indent="0" marL="0">
              <a:lnSpc>
                <a:spcPct val="85386"/>
              </a:lnSpc>
              <a:buNone/>
            </a:pPr>
            <a:r>
              <a:rPr lang="en-US" sz="13200" b="1" spc="-300" kern="0" dirty="0">
                <a:solidFill>
                  <a:srgbClr val="FFFFFF"/>
                </a:solidFill>
                <a:latin typeface="Arial" pitchFamily="34" charset="0"/>
                <a:ea typeface="Arial" pitchFamily="34" charset="-122"/>
                <a:cs typeface="Arial" pitchFamily="34" charset="-120"/>
              </a:rPr>
              <a:t>Why This Knowledge Is Advanced</a:t>
            </a:r>
            <a:endParaRPr lang="en-US" sz="132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2F5F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The question</a:t>
            </a:r>
            <a:endParaRPr lang="en-US" sz="3900" dirty="0"/>
          </a:p>
        </p:txBody>
      </p:sp>
      <p:sp>
        <p:nvSpPr>
          <p:cNvPr id="5" name="Text 2"/>
          <p:cNvSpPr/>
          <p:nvPr/>
        </p:nvSpPr>
        <p:spPr>
          <a:xfrm>
            <a:off x="800100" y="3238500"/>
            <a:ext cx="15697200" cy="4943475"/>
          </a:xfrm>
          <a:prstGeom prst="rect">
            <a:avLst/>
          </a:prstGeom>
          <a:noFill/>
          <a:ln/>
        </p:spPr>
        <p:txBody>
          <a:bodyPr wrap="square" lIns="25400" tIns="25400" rIns="25400" bIns="25400" rtlCol="0" anchor="t">
            <a:normAutofit/>
          </a:bodyPr>
          <a:lstStyle/>
          <a:p>
            <a:pPr algn="l" indent="0" marL="0">
              <a:lnSpc>
                <a:spcPct val="101804"/>
              </a:lnSpc>
              <a:buNone/>
            </a:pPr>
            <a:r>
              <a:rPr lang="en-US" sz="6600" b="1" spc="-150" kern="0" dirty="0">
                <a:solidFill>
                  <a:srgbClr val="131313"/>
                </a:solidFill>
                <a:latin typeface="Arial" pitchFamily="34" charset="0"/>
                <a:ea typeface="Arial" pitchFamily="34" charset="-122"/>
                <a:cs typeface="Arial" pitchFamily="34" charset="-120"/>
              </a:rPr>
              <a:t>What could I do that an engineer with general Adobe expertise could not immediately do — and why would a short period of product training not be equivalent?</a:t>
            </a:r>
            <a:endParaRPr lang="en-US" sz="66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8" name="Text 5"/>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51</a:t>
            </a:r>
            <a:endParaRPr lang="en-US" sz="11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Generic Adobe knowledge versus Ascent-specific knowledge</a:t>
            </a:r>
            <a:endParaRPr lang="en-US" sz="3900" dirty="0"/>
          </a:p>
        </p:txBody>
      </p:sp>
      <p:sp>
        <p:nvSpPr>
          <p:cNvPr id="5" name="Shape 2"/>
          <p:cNvSpPr/>
          <p:nvPr/>
        </p:nvSpPr>
        <p:spPr>
          <a:xfrm>
            <a:off x="800100" y="2428875"/>
            <a:ext cx="8343900" cy="19050"/>
          </a:xfrm>
          <a:prstGeom prst="rect">
            <a:avLst/>
          </a:prstGeom>
          <a:solidFill>
            <a:srgbClr val="131313"/>
          </a:solidFill>
          <a:ln/>
        </p:spPr>
      </p:sp>
      <p:sp>
        <p:nvSpPr>
          <p:cNvPr id="6" name="Text 3"/>
          <p:cNvSpPr/>
          <p:nvPr/>
        </p:nvSpPr>
        <p:spPr>
          <a:xfrm>
            <a:off x="800100" y="2019300"/>
            <a:ext cx="8213217"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AN EXPERIENCED ADOBE ENGINEER KNOWS</a:t>
            </a:r>
            <a:endParaRPr lang="en-US" sz="1650" dirty="0"/>
          </a:p>
        </p:txBody>
      </p:sp>
      <p:sp>
        <p:nvSpPr>
          <p:cNvPr id="7" name="Shape 4"/>
          <p:cNvSpPr/>
          <p:nvPr/>
        </p:nvSpPr>
        <p:spPr>
          <a:xfrm>
            <a:off x="9144000" y="2428875"/>
            <a:ext cx="8343900" cy="19050"/>
          </a:xfrm>
          <a:prstGeom prst="rect">
            <a:avLst/>
          </a:prstGeom>
          <a:solidFill>
            <a:srgbClr val="FF532C"/>
          </a:solidFill>
          <a:ln/>
        </p:spPr>
      </p:sp>
      <p:sp>
        <p:nvSpPr>
          <p:cNvPr id="8" name="Text 5"/>
          <p:cNvSpPr/>
          <p:nvPr/>
        </p:nvSpPr>
        <p:spPr>
          <a:xfrm>
            <a:off x="9525000" y="2019300"/>
            <a:ext cx="8213217"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ASCENT-SPECIFIC KNOWLEDGE ADDITIONALLY REQUIRED</a:t>
            </a:r>
            <a:endParaRPr lang="en-US" sz="1650" dirty="0"/>
          </a:p>
        </p:txBody>
      </p:sp>
      <p:sp>
        <p:nvSpPr>
          <p:cNvPr id="9" name="Shape 6"/>
          <p:cNvSpPr/>
          <p:nvPr/>
        </p:nvSpPr>
        <p:spPr>
          <a:xfrm>
            <a:off x="800100" y="3495675"/>
            <a:ext cx="8343900" cy="9525"/>
          </a:xfrm>
          <a:prstGeom prst="rect">
            <a:avLst/>
          </a:prstGeom>
          <a:solidFill>
            <a:srgbClr val="131313">
              <a:alpha val="14000"/>
            </a:srgbClr>
          </a:solidFill>
          <a:ln/>
        </p:spPr>
      </p:sp>
      <p:sp>
        <p:nvSpPr>
          <p:cNvPr id="10" name="Text 7"/>
          <p:cNvSpPr/>
          <p:nvPr/>
        </p:nvSpPr>
        <p:spPr>
          <a:xfrm>
            <a:off x="800100" y="265747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configure a merge policy</a:t>
            </a:r>
            <a:endParaRPr lang="en-US" sz="1800" dirty="0"/>
          </a:p>
        </p:txBody>
      </p:sp>
      <p:sp>
        <p:nvSpPr>
          <p:cNvPr id="11" name="Shape 8"/>
          <p:cNvSpPr/>
          <p:nvPr/>
        </p:nvSpPr>
        <p:spPr>
          <a:xfrm>
            <a:off x="9144000" y="2447925"/>
            <a:ext cx="8343900" cy="1057275"/>
          </a:xfrm>
          <a:prstGeom prst="rect">
            <a:avLst/>
          </a:prstGeom>
          <a:solidFill>
            <a:srgbClr val="F2F5F6"/>
          </a:solidFill>
          <a:ln/>
        </p:spPr>
      </p:sp>
      <p:sp>
        <p:nvSpPr>
          <p:cNvPr id="12" name="Shape 9"/>
          <p:cNvSpPr/>
          <p:nvPr/>
        </p:nvSpPr>
        <p:spPr>
          <a:xfrm>
            <a:off x="9144000" y="3495675"/>
            <a:ext cx="8343900" cy="9525"/>
          </a:xfrm>
          <a:prstGeom prst="rect">
            <a:avLst/>
          </a:prstGeom>
          <a:solidFill>
            <a:srgbClr val="131313">
              <a:alpha val="14000"/>
            </a:srgbClr>
          </a:solidFill>
          <a:ln/>
        </p:spPr>
      </p:sp>
      <p:sp>
        <p:nvSpPr>
          <p:cNvPr id="13" name="Text 10"/>
          <p:cNvSpPr/>
          <p:nvPr/>
        </p:nvSpPr>
        <p:spPr>
          <a:xfrm>
            <a:off x="9525000" y="265747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highlight>
                  <a:srgbClr val="F2F5F6"/>
                </a:highlight>
                <a:latin typeface="Arial" pitchFamily="34" charset="0"/>
                <a:ea typeface="Arial" pitchFamily="34" charset="-122"/>
                <a:cs typeface="Arial" pitchFamily="34" charset="-120"/>
              </a:rPr>
              <a:t>Which precedence </a:t>
            </a:r>
            <a:pPr algn="l" indent="0" marL="0">
              <a:lnSpc>
                <a:spcPct val="120000"/>
              </a:lnSpc>
              <a:buNone/>
            </a:pPr>
            <a:r>
              <a:rPr lang="en-US" sz="1800" i="1" dirty="0">
                <a:solidFill>
                  <a:srgbClr val="131313"/>
                </a:solidFill>
                <a:latin typeface="Arial" pitchFamily="34" charset="0"/>
                <a:ea typeface="Arial" pitchFamily="34" charset="-122"/>
                <a:cs typeface="Arial" pitchFamily="34" charset="-120"/>
              </a:rPr>
              <a:t>Ascent </a:t>
            </a:r>
            <a:pPr algn="l" indent="0" marL="0">
              <a:lnSpc>
                <a:spcPct val="120000"/>
              </a:lnSpc>
              <a:buNone/>
            </a:pPr>
            <a:r>
              <a:rPr lang="en-US" sz="1800" dirty="0">
                <a:solidFill>
                  <a:srgbClr val="131313"/>
                </a:solidFill>
                <a:highlight>
                  <a:srgbClr val="F2F5F6"/>
                </a:highlight>
                <a:latin typeface="Arial" pitchFamily="34" charset="0"/>
                <a:ea typeface="Arial" pitchFamily="34" charset="-122"/>
                <a:cs typeface="Arial" pitchFamily="34" charset="-120"/>
              </a:rPr>
              <a:t>used, why it was chosen, and what breaks when it changes</a:t>
            </a:r>
            <a:endParaRPr lang="en-US" sz="1800" dirty="0"/>
          </a:p>
        </p:txBody>
      </p:sp>
      <p:sp>
        <p:nvSpPr>
          <p:cNvPr id="14" name="Shape 11"/>
          <p:cNvSpPr/>
          <p:nvPr/>
        </p:nvSpPr>
        <p:spPr>
          <a:xfrm>
            <a:off x="800100" y="4552950"/>
            <a:ext cx="8343900" cy="9525"/>
          </a:xfrm>
          <a:prstGeom prst="rect">
            <a:avLst/>
          </a:prstGeom>
          <a:solidFill>
            <a:srgbClr val="131313">
              <a:alpha val="14000"/>
            </a:srgbClr>
          </a:solidFill>
          <a:ln/>
        </p:spPr>
      </p:sp>
      <p:sp>
        <p:nvSpPr>
          <p:cNvPr id="15" name="Text 12"/>
          <p:cNvSpPr/>
          <p:nvPr/>
        </p:nvSpPr>
        <p:spPr>
          <a:xfrm>
            <a:off x="800100" y="371475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build an audience segment</a:t>
            </a:r>
            <a:endParaRPr lang="en-US" sz="1800" dirty="0"/>
          </a:p>
        </p:txBody>
      </p:sp>
      <p:sp>
        <p:nvSpPr>
          <p:cNvPr id="16" name="Shape 13"/>
          <p:cNvSpPr/>
          <p:nvPr/>
        </p:nvSpPr>
        <p:spPr>
          <a:xfrm>
            <a:off x="9144000" y="3505200"/>
            <a:ext cx="8343900" cy="1057275"/>
          </a:xfrm>
          <a:prstGeom prst="rect">
            <a:avLst/>
          </a:prstGeom>
          <a:solidFill>
            <a:srgbClr val="F2F5F6"/>
          </a:solidFill>
          <a:ln/>
        </p:spPr>
      </p:sp>
      <p:sp>
        <p:nvSpPr>
          <p:cNvPr id="17" name="Shape 14"/>
          <p:cNvSpPr/>
          <p:nvPr/>
        </p:nvSpPr>
        <p:spPr>
          <a:xfrm>
            <a:off x="9144000" y="4552950"/>
            <a:ext cx="8343900" cy="9525"/>
          </a:xfrm>
          <a:prstGeom prst="rect">
            <a:avLst/>
          </a:prstGeom>
          <a:solidFill>
            <a:srgbClr val="131313">
              <a:alpha val="14000"/>
            </a:srgbClr>
          </a:solidFill>
          <a:ln/>
        </p:spPr>
      </p:sp>
      <p:sp>
        <p:nvSpPr>
          <p:cNvPr id="18" name="Text 15"/>
          <p:cNvSpPr/>
          <p:nvPr/>
        </p:nvSpPr>
        <p:spPr>
          <a:xfrm>
            <a:off x="9525000" y="371475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How Ascent moved, normalised and reconciled the customer data that segment depends on, across three components</a:t>
            </a:r>
            <a:endParaRPr lang="en-US" sz="1800" dirty="0"/>
          </a:p>
        </p:txBody>
      </p:sp>
      <p:sp>
        <p:nvSpPr>
          <p:cNvPr id="19" name="Shape 16"/>
          <p:cNvSpPr/>
          <p:nvPr/>
        </p:nvSpPr>
        <p:spPr>
          <a:xfrm>
            <a:off x="800100" y="5610225"/>
            <a:ext cx="8343900" cy="9525"/>
          </a:xfrm>
          <a:prstGeom prst="rect">
            <a:avLst/>
          </a:prstGeom>
          <a:solidFill>
            <a:srgbClr val="131313">
              <a:alpha val="14000"/>
            </a:srgbClr>
          </a:solidFill>
          <a:ln/>
        </p:spPr>
      </p:sp>
      <p:sp>
        <p:nvSpPr>
          <p:cNvPr id="20" name="Text 17"/>
          <p:cNvSpPr/>
          <p:nvPr/>
        </p:nvSpPr>
        <p:spPr>
          <a:xfrm>
            <a:off x="800100" y="477202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implement analytics tagging</a:t>
            </a:r>
            <a:endParaRPr lang="en-US" sz="1800" dirty="0"/>
          </a:p>
        </p:txBody>
      </p:sp>
      <p:sp>
        <p:nvSpPr>
          <p:cNvPr id="21" name="Shape 18"/>
          <p:cNvSpPr/>
          <p:nvPr/>
        </p:nvSpPr>
        <p:spPr>
          <a:xfrm>
            <a:off x="9144000" y="4562475"/>
            <a:ext cx="8343900" cy="1057275"/>
          </a:xfrm>
          <a:prstGeom prst="rect">
            <a:avLst/>
          </a:prstGeom>
          <a:solidFill>
            <a:srgbClr val="F2F5F6"/>
          </a:solidFill>
          <a:ln/>
        </p:spPr>
      </p:sp>
      <p:sp>
        <p:nvSpPr>
          <p:cNvPr id="22" name="Shape 19"/>
          <p:cNvSpPr/>
          <p:nvPr/>
        </p:nvSpPr>
        <p:spPr>
          <a:xfrm>
            <a:off x="9144000" y="5610225"/>
            <a:ext cx="8343900" cy="9525"/>
          </a:xfrm>
          <a:prstGeom prst="rect">
            <a:avLst/>
          </a:prstGeom>
          <a:solidFill>
            <a:srgbClr val="131313">
              <a:alpha val="14000"/>
            </a:srgbClr>
          </a:solidFill>
          <a:ln/>
        </p:spPr>
      </p:sp>
      <p:sp>
        <p:nvSpPr>
          <p:cNvPr id="23" name="Text 20"/>
          <p:cNvSpPr/>
          <p:nvPr/>
        </p:nvSpPr>
        <p:spPr>
          <a:xfrm>
            <a:off x="9525000" y="477202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How Ascent’s data layer, events and data elements were architected, and what downstream profile and activation behaviour they drove</a:t>
            </a:r>
            <a:endParaRPr lang="en-US" sz="1800" dirty="0"/>
          </a:p>
        </p:txBody>
      </p:sp>
      <p:sp>
        <p:nvSpPr>
          <p:cNvPr id="24" name="Shape 21"/>
          <p:cNvSpPr/>
          <p:nvPr/>
        </p:nvSpPr>
        <p:spPr>
          <a:xfrm>
            <a:off x="800100" y="6667500"/>
            <a:ext cx="8343900" cy="9525"/>
          </a:xfrm>
          <a:prstGeom prst="rect">
            <a:avLst/>
          </a:prstGeom>
          <a:solidFill>
            <a:srgbClr val="131313">
              <a:alpha val="14000"/>
            </a:srgbClr>
          </a:solidFill>
          <a:ln/>
        </p:spPr>
      </p:sp>
      <p:sp>
        <p:nvSpPr>
          <p:cNvPr id="25" name="Text 22"/>
          <p:cNvSpPr/>
          <p:nvPr/>
        </p:nvSpPr>
        <p:spPr>
          <a:xfrm>
            <a:off x="800100" y="582930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read an ingestion error</a:t>
            </a:r>
            <a:endParaRPr lang="en-US" sz="1800" dirty="0"/>
          </a:p>
        </p:txBody>
      </p:sp>
      <p:sp>
        <p:nvSpPr>
          <p:cNvPr id="26" name="Shape 23"/>
          <p:cNvSpPr/>
          <p:nvPr/>
        </p:nvSpPr>
        <p:spPr>
          <a:xfrm>
            <a:off x="9144000" y="5619750"/>
            <a:ext cx="8343900" cy="1057275"/>
          </a:xfrm>
          <a:prstGeom prst="rect">
            <a:avLst/>
          </a:prstGeom>
          <a:solidFill>
            <a:srgbClr val="F2F5F6"/>
          </a:solidFill>
          <a:ln/>
        </p:spPr>
      </p:sp>
      <p:sp>
        <p:nvSpPr>
          <p:cNvPr id="27" name="Shape 24"/>
          <p:cNvSpPr/>
          <p:nvPr/>
        </p:nvSpPr>
        <p:spPr>
          <a:xfrm>
            <a:off x="9144000" y="6667500"/>
            <a:ext cx="8343900" cy="9525"/>
          </a:xfrm>
          <a:prstGeom prst="rect">
            <a:avLst/>
          </a:prstGeom>
          <a:solidFill>
            <a:srgbClr val="131313">
              <a:alpha val="14000"/>
            </a:srgbClr>
          </a:solidFill>
          <a:ln/>
        </p:spPr>
      </p:sp>
      <p:sp>
        <p:nvSpPr>
          <p:cNvPr id="28" name="Text 25"/>
          <p:cNvSpPr/>
          <p:nvPr/>
        </p:nvSpPr>
        <p:spPr>
          <a:xfrm>
            <a:off x="9525000" y="582930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Where in Ascent’s own integration pattern the mapping originated and what else it affects</a:t>
            </a:r>
            <a:endParaRPr lang="en-US" sz="1800" dirty="0"/>
          </a:p>
        </p:txBody>
      </p:sp>
      <p:sp>
        <p:nvSpPr>
          <p:cNvPr id="29" name="Shape 26"/>
          <p:cNvSpPr/>
          <p:nvPr/>
        </p:nvSpPr>
        <p:spPr>
          <a:xfrm>
            <a:off x="800100" y="7724775"/>
            <a:ext cx="8343900" cy="9525"/>
          </a:xfrm>
          <a:prstGeom prst="rect">
            <a:avLst/>
          </a:prstGeom>
          <a:solidFill>
            <a:srgbClr val="131313">
              <a:alpha val="14000"/>
            </a:srgbClr>
          </a:solidFill>
          <a:ln/>
        </p:spPr>
      </p:sp>
      <p:sp>
        <p:nvSpPr>
          <p:cNvPr id="30" name="Text 27"/>
          <p:cNvSpPr/>
          <p:nvPr/>
        </p:nvSpPr>
        <p:spPr>
          <a:xfrm>
            <a:off x="800100" y="688657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to configure a Target activity</a:t>
            </a:r>
            <a:endParaRPr lang="en-US" sz="1800" dirty="0"/>
          </a:p>
        </p:txBody>
      </p:sp>
      <p:sp>
        <p:nvSpPr>
          <p:cNvPr id="31" name="Shape 28"/>
          <p:cNvSpPr/>
          <p:nvPr/>
        </p:nvSpPr>
        <p:spPr>
          <a:xfrm>
            <a:off x="9144000" y="6677025"/>
            <a:ext cx="8343900" cy="1057275"/>
          </a:xfrm>
          <a:prstGeom prst="rect">
            <a:avLst/>
          </a:prstGeom>
          <a:solidFill>
            <a:srgbClr val="F2F5F6"/>
          </a:solidFill>
          <a:ln/>
        </p:spPr>
      </p:sp>
      <p:sp>
        <p:nvSpPr>
          <p:cNvPr id="32" name="Shape 29"/>
          <p:cNvSpPr/>
          <p:nvPr/>
        </p:nvSpPr>
        <p:spPr>
          <a:xfrm>
            <a:off x="9144000" y="7724775"/>
            <a:ext cx="8343900" cy="9525"/>
          </a:xfrm>
          <a:prstGeom prst="rect">
            <a:avLst/>
          </a:prstGeom>
          <a:solidFill>
            <a:srgbClr val="131313">
              <a:alpha val="14000"/>
            </a:srgbClr>
          </a:solidFill>
          <a:ln/>
        </p:spPr>
      </p:sp>
      <p:sp>
        <p:nvSpPr>
          <p:cNvPr id="33" name="Text 30"/>
          <p:cNvSpPr/>
          <p:nvPr/>
        </p:nvSpPr>
        <p:spPr>
          <a:xfrm>
            <a:off x="9525000" y="6886575"/>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How content variation, audience qualification and measurement interacted within Ascent’s implementation</a:t>
            </a:r>
            <a:endParaRPr lang="en-US" sz="1800" dirty="0"/>
          </a:p>
        </p:txBody>
      </p:sp>
      <p:sp>
        <p:nvSpPr>
          <p:cNvPr id="34" name="Shape 31"/>
          <p:cNvSpPr/>
          <p:nvPr/>
        </p:nvSpPr>
        <p:spPr>
          <a:xfrm>
            <a:off x="800100" y="8782050"/>
            <a:ext cx="8343900" cy="9525"/>
          </a:xfrm>
          <a:prstGeom prst="rect">
            <a:avLst/>
          </a:prstGeom>
          <a:solidFill>
            <a:srgbClr val="131313">
              <a:alpha val="14000"/>
            </a:srgbClr>
          </a:solidFill>
          <a:ln/>
        </p:spPr>
      </p:sp>
      <p:sp>
        <p:nvSpPr>
          <p:cNvPr id="35" name="Text 32"/>
          <p:cNvSpPr/>
          <p:nvPr/>
        </p:nvSpPr>
        <p:spPr>
          <a:xfrm>
            <a:off x="800100" y="794385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777777"/>
                </a:solidFill>
                <a:latin typeface="Arial" pitchFamily="34" charset="0"/>
                <a:ea typeface="Arial" pitchFamily="34" charset="-122"/>
                <a:cs typeface="Arial" pitchFamily="34" charset="-120"/>
              </a:rPr>
              <a:t>How individual Adobe products work</a:t>
            </a:r>
            <a:endParaRPr lang="en-US" sz="1800" dirty="0"/>
          </a:p>
        </p:txBody>
      </p:sp>
      <p:sp>
        <p:nvSpPr>
          <p:cNvPr id="36" name="Shape 33"/>
          <p:cNvSpPr/>
          <p:nvPr/>
        </p:nvSpPr>
        <p:spPr>
          <a:xfrm>
            <a:off x="9144000" y="7734300"/>
            <a:ext cx="8343900" cy="1057275"/>
          </a:xfrm>
          <a:prstGeom prst="rect">
            <a:avLst/>
          </a:prstGeom>
          <a:solidFill>
            <a:srgbClr val="F2F5F6"/>
          </a:solidFill>
          <a:ln/>
        </p:spPr>
      </p:sp>
      <p:sp>
        <p:nvSpPr>
          <p:cNvPr id="37" name="Shape 34"/>
          <p:cNvSpPr/>
          <p:nvPr/>
        </p:nvSpPr>
        <p:spPr>
          <a:xfrm>
            <a:off x="9144000" y="8782050"/>
            <a:ext cx="8343900" cy="9525"/>
          </a:xfrm>
          <a:prstGeom prst="rect">
            <a:avLst/>
          </a:prstGeom>
          <a:solidFill>
            <a:srgbClr val="131313">
              <a:alpha val="14000"/>
            </a:srgbClr>
          </a:solidFill>
          <a:ln/>
        </p:spPr>
      </p:sp>
      <p:sp>
        <p:nvSpPr>
          <p:cNvPr id="38" name="Text 35"/>
          <p:cNvSpPr/>
          <p:nvPr/>
        </p:nvSpPr>
        <p:spPr>
          <a:xfrm>
            <a:off x="9525000" y="7943850"/>
            <a:ext cx="8213217"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How this company assembled, connected, customised and operated them as one proprietary solution</a:t>
            </a:r>
            <a:endParaRPr lang="en-US" sz="1800" dirty="0"/>
          </a:p>
        </p:txBody>
      </p:sp>
      <p:sp>
        <p:nvSpPr>
          <p:cNvPr id="39" name="Text 3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0" name="Text 3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1" name="Text 38"/>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52</a:t>
            </a:r>
            <a:endParaRPr lang="en-US" sz="11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Representative problem · data ingestion mismatch</a:t>
            </a:r>
            <a:endParaRPr lang="en-US" sz="3900" dirty="0"/>
          </a:p>
        </p:txBody>
      </p:sp>
      <p:sp>
        <p:nvSpPr>
          <p:cNvPr id="5" name="Shape 2"/>
          <p:cNvSpPr/>
          <p:nvPr/>
        </p:nvSpPr>
        <p:spPr>
          <a:xfrm>
            <a:off x="800100" y="2247900"/>
            <a:ext cx="5384750" cy="2800350"/>
          </a:xfrm>
          <a:prstGeom prst="rect">
            <a:avLst/>
          </a:prstGeom>
          <a:solidFill>
            <a:srgbClr val="F2F5F6"/>
          </a:solidFill>
          <a:ln/>
        </p:spPr>
      </p:sp>
      <p:sp>
        <p:nvSpPr>
          <p:cNvPr id="6" name="Text 3"/>
          <p:cNvSpPr/>
          <p:nvPr/>
        </p:nvSpPr>
        <p:spPr>
          <a:xfrm>
            <a:off x="118110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01 · SYMPTOM</a:t>
            </a:r>
            <a:endParaRPr lang="en-US" sz="1650" dirty="0"/>
          </a:p>
        </p:txBody>
      </p:sp>
      <p:sp>
        <p:nvSpPr>
          <p:cNvPr id="7" name="Text 4"/>
          <p:cNvSpPr/>
          <p:nvPr/>
        </p:nvSpPr>
        <p:spPr>
          <a:xfrm>
            <a:off x="1181100" y="3143250"/>
            <a:ext cx="4761433"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Data existed correctly at source but was missing, incomplete or incorrect downstream.</a:t>
            </a:r>
            <a:endParaRPr lang="en-US" sz="2100" dirty="0"/>
          </a:p>
        </p:txBody>
      </p:sp>
      <p:sp>
        <p:nvSpPr>
          <p:cNvPr id="8" name="Shape 5"/>
          <p:cNvSpPr/>
          <p:nvPr/>
        </p:nvSpPr>
        <p:spPr>
          <a:xfrm>
            <a:off x="6451550" y="2247900"/>
            <a:ext cx="5384750" cy="2800350"/>
          </a:xfrm>
          <a:prstGeom prst="rect">
            <a:avLst/>
          </a:prstGeom>
          <a:solidFill>
            <a:srgbClr val="F2F5F6"/>
          </a:solidFill>
          <a:ln/>
        </p:spPr>
      </p:sp>
      <p:sp>
        <p:nvSpPr>
          <p:cNvPr id="9" name="Text 6"/>
          <p:cNvSpPr/>
          <p:nvPr/>
        </p:nvSpPr>
        <p:spPr>
          <a:xfrm>
            <a:off x="683255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02 · DIAGNOSIS</a:t>
            </a:r>
            <a:endParaRPr lang="en-US" sz="1650" dirty="0"/>
          </a:p>
        </p:txBody>
      </p:sp>
      <p:sp>
        <p:nvSpPr>
          <p:cNvPr id="10" name="Text 7"/>
          <p:cNvSpPr/>
          <p:nvPr/>
        </p:nvSpPr>
        <p:spPr>
          <a:xfrm>
            <a:off x="6832550" y="3143250"/>
            <a:ext cx="4761433" cy="1562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Trace the ingestion path, mappings, transformations and destination fields; compare source values against the resulting CDP and data-lake values.</a:t>
            </a:r>
            <a:endParaRPr lang="en-US" sz="2100" dirty="0"/>
          </a:p>
        </p:txBody>
      </p:sp>
      <p:sp>
        <p:nvSpPr>
          <p:cNvPr id="11" name="Shape 8"/>
          <p:cNvSpPr/>
          <p:nvPr/>
        </p:nvSpPr>
        <p:spPr>
          <a:xfrm>
            <a:off x="12103001" y="2247900"/>
            <a:ext cx="5384899" cy="2800350"/>
          </a:xfrm>
          <a:prstGeom prst="rect">
            <a:avLst/>
          </a:prstGeom>
          <a:solidFill>
            <a:srgbClr val="F2F5F6"/>
          </a:solidFill>
          <a:ln/>
        </p:spPr>
      </p:sp>
      <p:sp>
        <p:nvSpPr>
          <p:cNvPr id="12" name="Text 9"/>
          <p:cNvSpPr/>
          <p:nvPr/>
        </p:nvSpPr>
        <p:spPr>
          <a:xfrm>
            <a:off x="12484001" y="2628900"/>
            <a:ext cx="508518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03 · RESOLUTION</a:t>
            </a:r>
            <a:endParaRPr lang="en-US" sz="1650" dirty="0"/>
          </a:p>
        </p:txBody>
      </p:sp>
      <p:sp>
        <p:nvSpPr>
          <p:cNvPr id="13" name="Text 10"/>
          <p:cNvSpPr/>
          <p:nvPr/>
        </p:nvSpPr>
        <p:spPr>
          <a:xfrm>
            <a:off x="12484001" y="3143250"/>
            <a:ext cx="4761586" cy="1562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Correct the mapping, configuration or code; rerun the applicable flow; perform source-to-destination sanity validation and regression testing.</a:t>
            </a:r>
            <a:endParaRPr lang="en-US" sz="2100" dirty="0"/>
          </a:p>
        </p:txBody>
      </p:sp>
      <p:sp>
        <p:nvSpPr>
          <p:cNvPr id="14" name="Shape 11"/>
          <p:cNvSpPr/>
          <p:nvPr/>
        </p:nvSpPr>
        <p:spPr>
          <a:xfrm>
            <a:off x="800100" y="5314950"/>
            <a:ext cx="16687800" cy="2771775"/>
          </a:xfrm>
          <a:prstGeom prst="rect">
            <a:avLst/>
          </a:prstGeom>
          <a:solidFill>
            <a:srgbClr val="131313"/>
          </a:solidFill>
          <a:ln/>
        </p:spPr>
      </p:sp>
      <p:sp>
        <p:nvSpPr>
          <p:cNvPr id="15" name="Text 12"/>
          <p:cNvSpPr/>
          <p:nvPr/>
        </p:nvSpPr>
        <p:spPr>
          <a:xfrm>
            <a:off x="1257300" y="573405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04 · WHY ASCENT KNOWLEDGE WAS REQUIRED</a:t>
            </a:r>
            <a:endParaRPr lang="en-US" sz="1650" dirty="0"/>
          </a:p>
        </p:txBody>
      </p:sp>
      <p:sp>
        <p:nvSpPr>
          <p:cNvPr id="16" name="Text 13"/>
          <p:cNvSpPr/>
          <p:nvPr/>
        </p:nvSpPr>
        <p:spPr>
          <a:xfrm>
            <a:off x="1257300" y="6210300"/>
            <a:ext cx="15697200" cy="1495425"/>
          </a:xfrm>
          <a:prstGeom prst="rect">
            <a:avLst/>
          </a:prstGeom>
          <a:noFill/>
          <a:ln/>
        </p:spPr>
        <p:txBody>
          <a:bodyPr wrap="square" lIns="25400" tIns="25400" rIns="25400" bIns="25400" rtlCol="0" anchor="t">
            <a:normAutofit/>
          </a:bodyPr>
          <a:lstStyle/>
          <a:p>
            <a:pPr algn="l" indent="0" marL="0">
              <a:lnSpc>
                <a:spcPct val="119302"/>
              </a:lnSpc>
              <a:buNone/>
            </a:pPr>
            <a:r>
              <a:rPr lang="en-US" sz="2850" b="1" spc="-37" kern="0" dirty="0">
                <a:solidFill>
                  <a:srgbClr val="FFFFFF"/>
                </a:solidFill>
                <a:latin typeface="Arial" pitchFamily="34" charset="0"/>
                <a:ea typeface="Arial" pitchFamily="34" charset="-122"/>
                <a:cs typeface="Arial" pitchFamily="34" charset="-120"/>
              </a:rPr>
              <a:t>The issue could not be evaluated at the Adobe product level alone. It required knowing how Ascent’s own source mappings and proprietary integration pattern affected profiles, audiences, analytics and personalization downstream.</a:t>
            </a:r>
            <a:endParaRPr lang="en-US" sz="285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53</a:t>
            </a:r>
            <a:endParaRPr lang="en-US" sz="11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Representative problem · unified profile and merge policy</a:t>
            </a:r>
            <a:endParaRPr lang="en-US" sz="3900" dirty="0"/>
          </a:p>
        </p:txBody>
      </p:sp>
      <p:sp>
        <p:nvSpPr>
          <p:cNvPr id="5" name="Shape 2"/>
          <p:cNvSpPr/>
          <p:nvPr/>
        </p:nvSpPr>
        <p:spPr>
          <a:xfrm>
            <a:off x="800100" y="2247900"/>
            <a:ext cx="5384750" cy="2419350"/>
          </a:xfrm>
          <a:prstGeom prst="rect">
            <a:avLst/>
          </a:prstGeom>
          <a:solidFill>
            <a:srgbClr val="F2F5F6"/>
          </a:solidFill>
          <a:ln/>
        </p:spPr>
      </p:sp>
      <p:sp>
        <p:nvSpPr>
          <p:cNvPr id="6" name="Text 3"/>
          <p:cNvSpPr/>
          <p:nvPr/>
        </p:nvSpPr>
        <p:spPr>
          <a:xfrm>
            <a:off x="118110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01 · SYMPTOM</a:t>
            </a:r>
            <a:endParaRPr lang="en-US" sz="1650" dirty="0"/>
          </a:p>
        </p:txBody>
      </p:sp>
      <p:sp>
        <p:nvSpPr>
          <p:cNvPr id="7" name="Text 4"/>
          <p:cNvSpPr/>
          <p:nvPr/>
        </p:nvSpPr>
        <p:spPr>
          <a:xfrm>
            <a:off x="1181100" y="3143250"/>
            <a:ext cx="4761433"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Multiple customer-data inputs produced an incorrect or inconsistent unified customer representation.</a:t>
            </a:r>
            <a:endParaRPr lang="en-US" sz="2100" dirty="0"/>
          </a:p>
        </p:txBody>
      </p:sp>
      <p:sp>
        <p:nvSpPr>
          <p:cNvPr id="8" name="Shape 5"/>
          <p:cNvSpPr/>
          <p:nvPr/>
        </p:nvSpPr>
        <p:spPr>
          <a:xfrm>
            <a:off x="6451550" y="2247900"/>
            <a:ext cx="5384750" cy="2419350"/>
          </a:xfrm>
          <a:prstGeom prst="rect">
            <a:avLst/>
          </a:prstGeom>
          <a:solidFill>
            <a:srgbClr val="F2F5F6"/>
          </a:solidFill>
          <a:ln/>
        </p:spPr>
      </p:sp>
      <p:sp>
        <p:nvSpPr>
          <p:cNvPr id="9" name="Text 6"/>
          <p:cNvSpPr/>
          <p:nvPr/>
        </p:nvSpPr>
        <p:spPr>
          <a:xfrm>
            <a:off x="683255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02 · DIAGNOSIS</a:t>
            </a:r>
            <a:endParaRPr lang="en-US" sz="1650" dirty="0"/>
          </a:p>
        </p:txBody>
      </p:sp>
      <p:sp>
        <p:nvSpPr>
          <p:cNvPr id="10" name="Text 7"/>
          <p:cNvSpPr/>
          <p:nvPr/>
        </p:nvSpPr>
        <p:spPr>
          <a:xfrm>
            <a:off x="6832550" y="3143250"/>
            <a:ext cx="4761433"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Review the underlying inputs, identifiers and precedence and merge-policy behaviour.</a:t>
            </a:r>
            <a:endParaRPr lang="en-US" sz="2100" dirty="0"/>
          </a:p>
        </p:txBody>
      </p:sp>
      <p:sp>
        <p:nvSpPr>
          <p:cNvPr id="11" name="Shape 8"/>
          <p:cNvSpPr/>
          <p:nvPr/>
        </p:nvSpPr>
        <p:spPr>
          <a:xfrm>
            <a:off x="12103001" y="2247900"/>
            <a:ext cx="5384899" cy="2419350"/>
          </a:xfrm>
          <a:prstGeom prst="rect">
            <a:avLst/>
          </a:prstGeom>
          <a:solidFill>
            <a:srgbClr val="F2F5F6"/>
          </a:solidFill>
          <a:ln/>
        </p:spPr>
      </p:sp>
      <p:sp>
        <p:nvSpPr>
          <p:cNvPr id="12" name="Text 9"/>
          <p:cNvSpPr/>
          <p:nvPr/>
        </p:nvSpPr>
        <p:spPr>
          <a:xfrm>
            <a:off x="12484001" y="2628900"/>
            <a:ext cx="508518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03 · RESOLUTION</a:t>
            </a:r>
            <a:endParaRPr lang="en-US" sz="1650" dirty="0"/>
          </a:p>
        </p:txBody>
      </p:sp>
      <p:sp>
        <p:nvSpPr>
          <p:cNvPr id="13" name="Text 10"/>
          <p:cNvSpPr/>
          <p:nvPr/>
        </p:nvSpPr>
        <p:spPr>
          <a:xfrm>
            <a:off x="12484001" y="3143250"/>
            <a:ext cx="4761586"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Correct the applicable prioritisation or merge configuration; revalidate profile and audience outcomes.</a:t>
            </a:r>
            <a:endParaRPr lang="en-US" sz="2100" dirty="0"/>
          </a:p>
        </p:txBody>
      </p:sp>
      <p:sp>
        <p:nvSpPr>
          <p:cNvPr id="14" name="Shape 11"/>
          <p:cNvSpPr/>
          <p:nvPr/>
        </p:nvSpPr>
        <p:spPr>
          <a:xfrm>
            <a:off x="800100" y="4933950"/>
            <a:ext cx="16687800" cy="2771775"/>
          </a:xfrm>
          <a:prstGeom prst="rect">
            <a:avLst/>
          </a:prstGeom>
          <a:solidFill>
            <a:srgbClr val="131313"/>
          </a:solidFill>
          <a:ln/>
        </p:spPr>
      </p:sp>
      <p:sp>
        <p:nvSpPr>
          <p:cNvPr id="15" name="Text 12"/>
          <p:cNvSpPr/>
          <p:nvPr/>
        </p:nvSpPr>
        <p:spPr>
          <a:xfrm>
            <a:off x="1257300" y="535305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04 · WHY ASCENT KNOWLEDGE WAS REQUIRED</a:t>
            </a:r>
            <a:endParaRPr lang="en-US" sz="1650" dirty="0"/>
          </a:p>
        </p:txBody>
      </p:sp>
      <p:sp>
        <p:nvSpPr>
          <p:cNvPr id="16" name="Text 13"/>
          <p:cNvSpPr/>
          <p:nvPr/>
        </p:nvSpPr>
        <p:spPr>
          <a:xfrm>
            <a:off x="1257300" y="5829300"/>
            <a:ext cx="15697200" cy="1495425"/>
          </a:xfrm>
          <a:prstGeom prst="rect">
            <a:avLst/>
          </a:prstGeom>
          <a:noFill/>
          <a:ln/>
        </p:spPr>
        <p:txBody>
          <a:bodyPr wrap="square" lIns="25400" tIns="25400" rIns="25400" bIns="25400" rtlCol="0" anchor="t">
            <a:normAutofit/>
          </a:bodyPr>
          <a:lstStyle/>
          <a:p>
            <a:pPr algn="l" indent="0" marL="0">
              <a:lnSpc>
                <a:spcPct val="119302"/>
              </a:lnSpc>
              <a:buNone/>
            </a:pPr>
            <a:r>
              <a:rPr lang="en-US" sz="2850" b="1" spc="-37" kern="0" dirty="0">
                <a:solidFill>
                  <a:srgbClr val="FFFFFF"/>
                </a:solidFill>
                <a:latin typeface="Arial" pitchFamily="34" charset="0"/>
                <a:ea typeface="Arial" pitchFamily="34" charset="-122"/>
                <a:cs typeface="Arial" pitchFamily="34" charset="-120"/>
              </a:rPr>
              <a:t>The correct decision depended on knowing how Ascent expected customer information from its different integrated sources to resolve, and which downstream functions depended on that resolution.</a:t>
            </a:r>
            <a:endParaRPr lang="en-US" sz="285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54</a:t>
            </a:r>
            <a:endParaRPr lang="en-US" sz="11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5697200" cy="1123950"/>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Representative problem · behavioural tracking and targeting inconsistency</a:t>
            </a:r>
            <a:endParaRPr lang="en-US" sz="3900" dirty="0"/>
          </a:p>
        </p:txBody>
      </p:sp>
      <p:sp>
        <p:nvSpPr>
          <p:cNvPr id="5" name="Shape 2"/>
          <p:cNvSpPr/>
          <p:nvPr/>
        </p:nvSpPr>
        <p:spPr>
          <a:xfrm>
            <a:off x="800100" y="2247900"/>
            <a:ext cx="5384750" cy="3181350"/>
          </a:xfrm>
          <a:prstGeom prst="rect">
            <a:avLst/>
          </a:prstGeom>
          <a:solidFill>
            <a:srgbClr val="F2F5F6"/>
          </a:solidFill>
          <a:ln/>
        </p:spPr>
      </p:sp>
      <p:sp>
        <p:nvSpPr>
          <p:cNvPr id="6" name="Text 3"/>
          <p:cNvSpPr/>
          <p:nvPr/>
        </p:nvSpPr>
        <p:spPr>
          <a:xfrm>
            <a:off x="118110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01 · SYMPTOM</a:t>
            </a:r>
            <a:endParaRPr lang="en-US" sz="1650" dirty="0"/>
          </a:p>
        </p:txBody>
      </p:sp>
      <p:sp>
        <p:nvSpPr>
          <p:cNvPr id="7" name="Text 4"/>
          <p:cNvSpPr/>
          <p:nvPr/>
        </p:nvSpPr>
        <p:spPr>
          <a:xfrm>
            <a:off x="1181100" y="3143250"/>
            <a:ext cx="4761433" cy="1181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Analytics or personalization results did not match the intended application or customer behaviour.</a:t>
            </a:r>
            <a:endParaRPr lang="en-US" sz="2100" dirty="0"/>
          </a:p>
        </p:txBody>
      </p:sp>
      <p:sp>
        <p:nvSpPr>
          <p:cNvPr id="8" name="Shape 5"/>
          <p:cNvSpPr/>
          <p:nvPr/>
        </p:nvSpPr>
        <p:spPr>
          <a:xfrm>
            <a:off x="6451550" y="2247900"/>
            <a:ext cx="5384750" cy="3181350"/>
          </a:xfrm>
          <a:prstGeom prst="rect">
            <a:avLst/>
          </a:prstGeom>
          <a:solidFill>
            <a:srgbClr val="F2F5F6"/>
          </a:solidFill>
          <a:ln/>
        </p:spPr>
      </p:sp>
      <p:sp>
        <p:nvSpPr>
          <p:cNvPr id="9" name="Text 6"/>
          <p:cNvSpPr/>
          <p:nvPr/>
        </p:nvSpPr>
        <p:spPr>
          <a:xfrm>
            <a:off x="6832550" y="2628900"/>
            <a:ext cx="508502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02 · DIAGNOSIS</a:t>
            </a:r>
            <a:endParaRPr lang="en-US" sz="1650" dirty="0"/>
          </a:p>
        </p:txBody>
      </p:sp>
      <p:sp>
        <p:nvSpPr>
          <p:cNvPr id="10" name="Text 7"/>
          <p:cNvSpPr/>
          <p:nvPr/>
        </p:nvSpPr>
        <p:spPr>
          <a:xfrm>
            <a:off x="6832550" y="3143250"/>
            <a:ext cx="4761433" cy="1943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Trace from application and page → data layer → events and data elements → analytics variables → downstream audience and Target behaviour.</a:t>
            </a:r>
            <a:endParaRPr lang="en-US" sz="2100" dirty="0"/>
          </a:p>
        </p:txBody>
      </p:sp>
      <p:sp>
        <p:nvSpPr>
          <p:cNvPr id="11" name="Shape 8"/>
          <p:cNvSpPr/>
          <p:nvPr/>
        </p:nvSpPr>
        <p:spPr>
          <a:xfrm>
            <a:off x="12103001" y="2247900"/>
            <a:ext cx="5384899" cy="3181350"/>
          </a:xfrm>
          <a:prstGeom prst="rect">
            <a:avLst/>
          </a:prstGeom>
          <a:solidFill>
            <a:srgbClr val="F2F5F6"/>
          </a:solidFill>
          <a:ln/>
        </p:spPr>
      </p:sp>
      <p:sp>
        <p:nvSpPr>
          <p:cNvPr id="12" name="Text 9"/>
          <p:cNvSpPr/>
          <p:nvPr/>
        </p:nvSpPr>
        <p:spPr>
          <a:xfrm>
            <a:off x="12484001" y="2628900"/>
            <a:ext cx="5085189"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03 · RESOLUTION</a:t>
            </a:r>
            <a:endParaRPr lang="en-US" sz="1650" dirty="0"/>
          </a:p>
        </p:txBody>
      </p:sp>
      <p:sp>
        <p:nvSpPr>
          <p:cNvPr id="13" name="Text 10"/>
          <p:cNvSpPr/>
          <p:nvPr/>
        </p:nvSpPr>
        <p:spPr>
          <a:xfrm>
            <a:off x="12484001" y="3143250"/>
            <a:ext cx="4761586" cy="1562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31313"/>
                </a:solidFill>
                <a:latin typeface="Arial" pitchFamily="34" charset="0"/>
                <a:ea typeface="Arial" pitchFamily="34" charset="-122"/>
                <a:cs typeface="Arial" pitchFamily="34" charset="-120"/>
              </a:rPr>
              <a:t>Correct the relevant data-layer, tagging, event, data-element or content-variation configuration; retest the entire chain.</a:t>
            </a:r>
            <a:endParaRPr lang="en-US" sz="2100" dirty="0"/>
          </a:p>
        </p:txBody>
      </p:sp>
      <p:sp>
        <p:nvSpPr>
          <p:cNvPr id="14" name="Shape 11"/>
          <p:cNvSpPr/>
          <p:nvPr/>
        </p:nvSpPr>
        <p:spPr>
          <a:xfrm>
            <a:off x="800100" y="5695950"/>
            <a:ext cx="16687800" cy="2286000"/>
          </a:xfrm>
          <a:prstGeom prst="rect">
            <a:avLst/>
          </a:prstGeom>
          <a:solidFill>
            <a:srgbClr val="131313"/>
          </a:solidFill>
          <a:ln/>
        </p:spPr>
      </p:sp>
      <p:sp>
        <p:nvSpPr>
          <p:cNvPr id="15" name="Text 12"/>
          <p:cNvSpPr/>
          <p:nvPr/>
        </p:nvSpPr>
        <p:spPr>
          <a:xfrm>
            <a:off x="1257300" y="6115050"/>
            <a:ext cx="1735074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STEP 04 · WHY ASCENT KNOWLEDGE WAS REQUIRED</a:t>
            </a:r>
            <a:endParaRPr lang="en-US" sz="1650" dirty="0"/>
          </a:p>
        </p:txBody>
      </p:sp>
      <p:sp>
        <p:nvSpPr>
          <p:cNvPr id="16" name="Text 13"/>
          <p:cNvSpPr/>
          <p:nvPr/>
        </p:nvSpPr>
        <p:spPr>
          <a:xfrm>
            <a:off x="1257300" y="6591300"/>
            <a:ext cx="15697200" cy="1009650"/>
          </a:xfrm>
          <a:prstGeom prst="rect">
            <a:avLst/>
          </a:prstGeom>
          <a:noFill/>
          <a:ln/>
        </p:spPr>
        <p:txBody>
          <a:bodyPr wrap="square" lIns="25400" tIns="25400" rIns="25400" bIns="25400" rtlCol="0" anchor="t">
            <a:normAutofit/>
          </a:bodyPr>
          <a:lstStyle/>
          <a:p>
            <a:pPr algn="l" indent="0" marL="0">
              <a:lnSpc>
                <a:spcPct val="119302"/>
              </a:lnSpc>
              <a:buNone/>
            </a:pPr>
            <a:r>
              <a:rPr lang="en-US" sz="2850" b="1" spc="-37" kern="0" dirty="0">
                <a:solidFill>
                  <a:srgbClr val="FFFFFF"/>
                </a:solidFill>
                <a:latin typeface="Arial" pitchFamily="34" charset="0"/>
                <a:ea typeface="Arial" pitchFamily="34" charset="-122"/>
                <a:cs typeface="Arial" pitchFamily="34" charset="-120"/>
              </a:rPr>
              <a:t>Troubleshooting required knowledge of the full Ascent integration path, not of Analytics, Launch, Target or AEM independently.</a:t>
            </a:r>
            <a:endParaRPr lang="en-US" sz="2850" dirty="0"/>
          </a:p>
        </p:txBody>
      </p:sp>
      <p:sp>
        <p:nvSpPr>
          <p:cNvPr id="17" name="Text 1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18" name="Text 1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19" name="Text 1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55</a:t>
            </a:r>
            <a:endParaRPr lang="en-US" sz="11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Why product training is not equivalent</a:t>
            </a:r>
            <a:endParaRPr lang="en-US" sz="3900" dirty="0"/>
          </a:p>
        </p:txBody>
      </p:sp>
      <p:sp>
        <p:nvSpPr>
          <p:cNvPr id="5" name="Shape 2"/>
          <p:cNvSpPr/>
          <p:nvPr/>
        </p:nvSpPr>
        <p:spPr>
          <a:xfrm>
            <a:off x="800100" y="1905000"/>
            <a:ext cx="16687800" cy="9525"/>
          </a:xfrm>
          <a:prstGeom prst="rect">
            <a:avLst/>
          </a:prstGeom>
          <a:solidFill>
            <a:srgbClr val="131313">
              <a:alpha val="14000"/>
            </a:srgbClr>
          </a:solidFill>
          <a:ln/>
        </p:spPr>
      </p:sp>
      <p:sp>
        <p:nvSpPr>
          <p:cNvPr id="6" name="Text 3"/>
          <p:cNvSpPr/>
          <p:nvPr/>
        </p:nvSpPr>
        <p:spPr>
          <a:xfrm>
            <a:off x="800100" y="208597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1</a:t>
            </a:r>
            <a:endParaRPr lang="en-US" sz="3600" dirty="0"/>
          </a:p>
        </p:txBody>
      </p:sp>
      <p:sp>
        <p:nvSpPr>
          <p:cNvPr id="7" name="Text 4"/>
          <p:cNvSpPr/>
          <p:nvPr/>
        </p:nvSpPr>
        <p:spPr>
          <a:xfrm>
            <a:off x="1905000" y="208597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The knowledge is company-specific, not product-specific.</a:t>
            </a:r>
            <a:endParaRPr lang="en-US" sz="2400" dirty="0"/>
          </a:p>
        </p:txBody>
      </p:sp>
      <p:sp>
        <p:nvSpPr>
          <p:cNvPr id="8" name="Text 5"/>
          <p:cNvSpPr/>
          <p:nvPr/>
        </p:nvSpPr>
        <p:spPr>
          <a:xfrm>
            <a:off x="1905000" y="2609850"/>
            <a:ext cx="16050387"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Product training teaches how Adobe technologies work. It does not teach how one company architected, integrated, customised and operated them together as a proprietary platform.</a:t>
            </a:r>
            <a:endParaRPr lang="en-US" sz="1800" dirty="0"/>
          </a:p>
        </p:txBody>
      </p:sp>
      <p:sp>
        <p:nvSpPr>
          <p:cNvPr id="9" name="Shape 6"/>
          <p:cNvSpPr/>
          <p:nvPr/>
        </p:nvSpPr>
        <p:spPr>
          <a:xfrm>
            <a:off x="800100" y="3486150"/>
            <a:ext cx="16687800" cy="9525"/>
          </a:xfrm>
          <a:prstGeom prst="rect">
            <a:avLst/>
          </a:prstGeom>
          <a:solidFill>
            <a:srgbClr val="131313">
              <a:alpha val="14000"/>
            </a:srgbClr>
          </a:solidFill>
          <a:ln/>
        </p:spPr>
      </p:sp>
      <p:sp>
        <p:nvSpPr>
          <p:cNvPr id="10" name="Text 7"/>
          <p:cNvSpPr/>
          <p:nvPr/>
        </p:nvSpPr>
        <p:spPr>
          <a:xfrm>
            <a:off x="800100" y="366712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2</a:t>
            </a:r>
            <a:endParaRPr lang="en-US" sz="3600" dirty="0"/>
          </a:p>
        </p:txBody>
      </p:sp>
      <p:sp>
        <p:nvSpPr>
          <p:cNvPr id="11" name="Text 8"/>
          <p:cNvSpPr/>
          <p:nvPr/>
        </p:nvSpPr>
        <p:spPr>
          <a:xfrm>
            <a:off x="1905000" y="366712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Much of it is experiential and undocumented.</a:t>
            </a:r>
            <a:endParaRPr lang="en-US" sz="2400" dirty="0"/>
          </a:p>
        </p:txBody>
      </p:sp>
      <p:sp>
        <p:nvSpPr>
          <p:cNvPr id="12" name="Text 9"/>
          <p:cNvSpPr/>
          <p:nvPr/>
        </p:nvSpPr>
        <p:spPr>
          <a:xfrm>
            <a:off x="1905000" y="4191000"/>
            <a:ext cx="16050387"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rationale behind architectural decisions, the dependencies that had to be protected, and the failure modes that propagate across components were learned through repeated implementation, debugging and review.</a:t>
            </a:r>
            <a:endParaRPr lang="en-US" sz="1800" dirty="0"/>
          </a:p>
        </p:txBody>
      </p:sp>
      <p:sp>
        <p:nvSpPr>
          <p:cNvPr id="13" name="Shape 10"/>
          <p:cNvSpPr/>
          <p:nvPr/>
        </p:nvSpPr>
        <p:spPr>
          <a:xfrm>
            <a:off x="800100" y="5067300"/>
            <a:ext cx="16687800" cy="9525"/>
          </a:xfrm>
          <a:prstGeom prst="rect">
            <a:avLst/>
          </a:prstGeom>
          <a:solidFill>
            <a:srgbClr val="131313">
              <a:alpha val="14000"/>
            </a:srgbClr>
          </a:solidFill>
          <a:ln/>
        </p:spPr>
      </p:sp>
      <p:sp>
        <p:nvSpPr>
          <p:cNvPr id="14" name="Text 11"/>
          <p:cNvSpPr/>
          <p:nvPr/>
        </p:nvSpPr>
        <p:spPr>
          <a:xfrm>
            <a:off x="800100" y="524827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3</a:t>
            </a:r>
            <a:endParaRPr lang="en-US" sz="3600" dirty="0"/>
          </a:p>
        </p:txBody>
      </p:sp>
      <p:sp>
        <p:nvSpPr>
          <p:cNvPr id="15" name="Text 12"/>
          <p:cNvSpPr/>
          <p:nvPr/>
        </p:nvSpPr>
        <p:spPr>
          <a:xfrm>
            <a:off x="1905000" y="524827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It is cumulative across engagements.</a:t>
            </a:r>
            <a:endParaRPr lang="en-US" sz="2400" dirty="0"/>
          </a:p>
        </p:txBody>
      </p:sp>
      <p:sp>
        <p:nvSpPr>
          <p:cNvPr id="16" name="Text 13"/>
          <p:cNvSpPr/>
          <p:nvPr/>
        </p:nvSpPr>
        <p:spPr>
          <a:xfrm>
            <a:off x="1905000" y="5772150"/>
            <a:ext cx="16050387"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Ascent was implemented and customised repeatedly for different client requirements. Knowledge of what varies safely and what does not accrued across those implementations.</a:t>
            </a:r>
            <a:endParaRPr lang="en-US" sz="1800" dirty="0"/>
          </a:p>
        </p:txBody>
      </p:sp>
      <p:sp>
        <p:nvSpPr>
          <p:cNvPr id="17" name="Shape 14"/>
          <p:cNvSpPr/>
          <p:nvPr/>
        </p:nvSpPr>
        <p:spPr>
          <a:xfrm>
            <a:off x="800100" y="6648450"/>
            <a:ext cx="16687800" cy="9525"/>
          </a:xfrm>
          <a:prstGeom prst="rect">
            <a:avLst/>
          </a:prstGeom>
          <a:solidFill>
            <a:srgbClr val="131313">
              <a:alpha val="14000"/>
            </a:srgbClr>
          </a:solidFill>
          <a:ln/>
        </p:spPr>
      </p:sp>
      <p:sp>
        <p:nvSpPr>
          <p:cNvPr id="18" name="Text 15"/>
          <p:cNvSpPr/>
          <p:nvPr/>
        </p:nvSpPr>
        <p:spPr>
          <a:xfrm>
            <a:off x="800100" y="682942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4</a:t>
            </a:r>
            <a:endParaRPr lang="en-US" sz="3600" dirty="0"/>
          </a:p>
        </p:txBody>
      </p:sp>
      <p:sp>
        <p:nvSpPr>
          <p:cNvPr id="19" name="Text 16"/>
          <p:cNvSpPr/>
          <p:nvPr/>
        </p:nvSpPr>
        <p:spPr>
          <a:xfrm>
            <a:off x="1905000" y="682942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Breadth is the asset, not any single depth.</a:t>
            </a:r>
            <a:endParaRPr lang="en-US" sz="2400" dirty="0"/>
          </a:p>
        </p:txBody>
      </p:sp>
      <p:sp>
        <p:nvSpPr>
          <p:cNvPr id="20" name="Text 17"/>
          <p:cNvSpPr/>
          <p:nvPr/>
        </p:nvSpPr>
        <p:spPr>
          <a:xfrm>
            <a:off x="1905000" y="7353300"/>
            <a:ext cx="16050387"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specialized capability is the ability to reason across the whole chain — capture, integration, profile, activation, measurement — and locate a problem’s true origin. That is not the sum of five separate product competencies.</a:t>
            </a:r>
            <a:endParaRPr lang="en-US" sz="1800" dirty="0"/>
          </a:p>
        </p:txBody>
      </p:sp>
      <p:sp>
        <p:nvSpPr>
          <p:cNvPr id="21" name="Shape 18"/>
          <p:cNvSpPr/>
          <p:nvPr/>
        </p:nvSpPr>
        <p:spPr>
          <a:xfrm>
            <a:off x="800100" y="8229600"/>
            <a:ext cx="16687800" cy="9525"/>
          </a:xfrm>
          <a:prstGeom prst="rect">
            <a:avLst/>
          </a:prstGeom>
          <a:solidFill>
            <a:srgbClr val="131313">
              <a:alpha val="14000"/>
            </a:srgbClr>
          </a:solidFill>
          <a:ln/>
        </p:spPr>
      </p:sp>
      <p:sp>
        <p:nvSpPr>
          <p:cNvPr id="22" name="Text 19"/>
          <p:cNvSpPr/>
          <p:nvPr/>
        </p:nvSpPr>
        <p:spPr>
          <a:xfrm>
            <a:off x="800100" y="8410575"/>
            <a:ext cx="838200" cy="495300"/>
          </a:xfrm>
          <a:prstGeom prst="rect">
            <a:avLst/>
          </a:prstGeom>
          <a:noFill/>
          <a:ln/>
        </p:spPr>
        <p:txBody>
          <a:bodyPr wrap="square" lIns="25400" tIns="25400" rIns="25400" bIns="25400" rtlCol="0" anchor="t">
            <a:normAutofit/>
          </a:bodyPr>
          <a:lstStyle/>
          <a:p>
            <a:pPr algn="l" indent="0" marL="0">
              <a:lnSpc>
                <a:spcPct val="87273"/>
              </a:lnSpc>
              <a:buNone/>
            </a:pPr>
            <a:r>
              <a:rPr lang="en-US" sz="3600" b="1" spc="-75" kern="0" dirty="0">
                <a:solidFill>
                  <a:srgbClr val="FF532C"/>
                </a:solidFill>
                <a:latin typeface="Arial" pitchFamily="34" charset="0"/>
                <a:ea typeface="Arial" pitchFamily="34" charset="-122"/>
                <a:cs typeface="Arial" pitchFamily="34" charset="-120"/>
              </a:rPr>
              <a:t>5</a:t>
            </a:r>
            <a:endParaRPr lang="en-US" sz="3600" dirty="0"/>
          </a:p>
        </p:txBody>
      </p:sp>
      <p:sp>
        <p:nvSpPr>
          <p:cNvPr id="23" name="Text 20"/>
          <p:cNvSpPr/>
          <p:nvPr/>
        </p:nvSpPr>
        <p:spPr>
          <a:xfrm>
            <a:off x="1905000" y="8410575"/>
            <a:ext cx="17141190" cy="428625"/>
          </a:xfrm>
          <a:prstGeom prst="rect">
            <a:avLst/>
          </a:prstGeom>
          <a:noFill/>
          <a:ln/>
        </p:spPr>
        <p:txBody>
          <a:bodyPr wrap="square" lIns="25400" tIns="25400" rIns="25400" bIns="25400" rtlCol="0" anchor="t">
            <a:normAutofit/>
          </a:bodyPr>
          <a:lstStyle/>
          <a:p>
            <a:pPr algn="l" indent="0" marL="0">
              <a:lnSpc>
                <a:spcPct val="112432"/>
              </a:lnSpc>
              <a:buNone/>
            </a:pPr>
            <a:r>
              <a:rPr lang="en-US" sz="2400" b="1" spc="-22" kern="0" dirty="0">
                <a:solidFill>
                  <a:srgbClr val="131313"/>
                </a:solidFill>
                <a:latin typeface="Arial" pitchFamily="34" charset="0"/>
                <a:ea typeface="Arial" pitchFamily="34" charset="-122"/>
                <a:cs typeface="Arial" pitchFamily="34" charset="-120"/>
              </a:rPr>
              <a:t>It was acquired progressively across approximately 27 months </a:t>
            </a:r>
            <a:pPr algn="l" indent="0" marL="0">
              <a:lnSpc>
                <a:spcPct val="112432"/>
              </a:lnSpc>
              <a:buNone/>
            </a:pPr>
            <a:r>
              <a:rPr lang="en-US" sz="2400" spc="-22" kern="0" dirty="0">
                <a:solidFill>
                  <a:srgbClr val="131313"/>
                </a:solidFill>
                <a:latin typeface="Arial" pitchFamily="34" charset="0"/>
                <a:ea typeface="Arial" pitchFamily="34" charset="-122"/>
                <a:cs typeface="Arial" pitchFamily="34" charset="-120"/>
              </a:rPr>
              <a:t>of sustained, direct, full-time experience.</a:t>
            </a:r>
            <a:endParaRPr lang="en-US" sz="2400" dirty="0"/>
          </a:p>
        </p:txBody>
      </p:sp>
      <p:sp>
        <p:nvSpPr>
          <p:cNvPr id="24" name="Text 21"/>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5" name="Text 22"/>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6" name="Text 23"/>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56</a:t>
            </a:r>
            <a:endParaRPr lang="en-US" sz="11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327732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WHY THIS KNOWLEDGE IS ADVANCED</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Knowledge transfer</a:t>
            </a:r>
            <a:endParaRPr lang="en-US" sz="3900" dirty="0"/>
          </a:p>
        </p:txBody>
      </p:sp>
      <p:sp>
        <p:nvSpPr>
          <p:cNvPr id="5" name="Text 2"/>
          <p:cNvSpPr/>
          <p:nvPr/>
        </p:nvSpPr>
        <p:spPr>
          <a:xfrm>
            <a:off x="800100" y="1714500"/>
            <a:ext cx="15697200" cy="781050"/>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131313"/>
                </a:solidFill>
                <a:latin typeface="Arial" pitchFamily="34" charset="0"/>
                <a:ea typeface="Arial" pitchFamily="34" charset="-122"/>
                <a:cs typeface="Arial" pitchFamily="34" charset="-120"/>
              </a:rPr>
              <a:t>A core part of my Ascent responsibility was transferring company-specific implementation knowledge to other team members through technical guidance, enablement, documentation and knowledge sharing.</a:t>
            </a:r>
            <a:endParaRPr lang="en-US" sz="2100" dirty="0"/>
          </a:p>
        </p:txBody>
      </p:sp>
      <p:sp>
        <p:nvSpPr>
          <p:cNvPr id="6" name="Shape 3"/>
          <p:cNvSpPr/>
          <p:nvPr/>
        </p:nvSpPr>
        <p:spPr>
          <a:xfrm>
            <a:off x="800100" y="2724150"/>
            <a:ext cx="10763250" cy="5257800"/>
          </a:xfrm>
          <a:prstGeom prst="rect">
            <a:avLst/>
          </a:prstGeom>
          <a:solidFill>
            <a:srgbClr val="F2F5F6"/>
          </a:solidFill>
          <a:ln/>
        </p:spPr>
      </p:sp>
      <p:sp>
        <p:nvSpPr>
          <p:cNvPr id="7" name="Text 4"/>
          <p:cNvSpPr/>
          <p:nvPr/>
        </p:nvSpPr>
        <p:spPr>
          <a:xfrm>
            <a:off x="1181100" y="3067050"/>
            <a:ext cx="1100137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HAD TO BE TRANSFERRED</a:t>
            </a:r>
            <a:endParaRPr lang="en-US" sz="1650" dirty="0"/>
          </a:p>
        </p:txBody>
      </p:sp>
      <p:sp>
        <p:nvSpPr>
          <p:cNvPr id="8" name="Text 5"/>
          <p:cNvSpPr/>
          <p:nvPr/>
        </p:nvSpPr>
        <p:spPr>
          <a:xfrm>
            <a:off x="1181100" y="35433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01</a:t>
            </a:r>
            <a:endParaRPr lang="en-US" sz="1650" dirty="0"/>
          </a:p>
        </p:txBody>
      </p:sp>
      <p:sp>
        <p:nvSpPr>
          <p:cNvPr id="9" name="Shape 6"/>
          <p:cNvSpPr/>
          <p:nvPr/>
        </p:nvSpPr>
        <p:spPr>
          <a:xfrm>
            <a:off x="1638300" y="3648075"/>
            <a:ext cx="133350" cy="133350"/>
          </a:xfrm>
          <a:prstGeom prst="rect">
            <a:avLst/>
          </a:prstGeom>
          <a:solidFill>
            <a:srgbClr val="131313">
              <a:alpha val="20000"/>
            </a:srgbClr>
          </a:solidFill>
          <a:ln/>
        </p:spPr>
      </p:sp>
      <p:sp>
        <p:nvSpPr>
          <p:cNvPr id="10" name="Text 7"/>
          <p:cNvSpPr/>
          <p:nvPr/>
        </p:nvSpPr>
        <p:spPr>
          <a:xfrm>
            <a:off x="1924050" y="35433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Ascent architecture and how its three components interact</a:t>
            </a:r>
            <a:endParaRPr lang="en-US" sz="1800" dirty="0"/>
          </a:p>
        </p:txBody>
      </p:sp>
      <p:sp>
        <p:nvSpPr>
          <p:cNvPr id="11" name="Text 8"/>
          <p:cNvSpPr/>
          <p:nvPr/>
        </p:nvSpPr>
        <p:spPr>
          <a:xfrm>
            <a:off x="1181100" y="39624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02</a:t>
            </a:r>
            <a:endParaRPr lang="en-US" sz="1650" dirty="0"/>
          </a:p>
        </p:txBody>
      </p:sp>
      <p:sp>
        <p:nvSpPr>
          <p:cNvPr id="12" name="Shape 9"/>
          <p:cNvSpPr/>
          <p:nvPr/>
        </p:nvSpPr>
        <p:spPr>
          <a:xfrm>
            <a:off x="1638300" y="4067175"/>
            <a:ext cx="133350" cy="133350"/>
          </a:xfrm>
          <a:prstGeom prst="rect">
            <a:avLst/>
          </a:prstGeom>
          <a:solidFill>
            <a:srgbClr val="131313">
              <a:alpha val="20000"/>
            </a:srgbClr>
          </a:solidFill>
          <a:ln/>
        </p:spPr>
      </p:sp>
      <p:sp>
        <p:nvSpPr>
          <p:cNvPr id="13" name="Text 10"/>
          <p:cNvSpPr/>
          <p:nvPr/>
        </p:nvSpPr>
        <p:spPr>
          <a:xfrm>
            <a:off x="1924050" y="39624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proprietary integration patterns and why they exist</a:t>
            </a:r>
            <a:endParaRPr lang="en-US" sz="1800" dirty="0"/>
          </a:p>
        </p:txBody>
      </p:sp>
      <p:sp>
        <p:nvSpPr>
          <p:cNvPr id="14" name="Text 11"/>
          <p:cNvSpPr/>
          <p:nvPr/>
        </p:nvSpPr>
        <p:spPr>
          <a:xfrm>
            <a:off x="1181100" y="43815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03</a:t>
            </a:r>
            <a:endParaRPr lang="en-US" sz="1650" dirty="0"/>
          </a:p>
        </p:txBody>
      </p:sp>
      <p:sp>
        <p:nvSpPr>
          <p:cNvPr id="15" name="Shape 12"/>
          <p:cNvSpPr/>
          <p:nvPr/>
        </p:nvSpPr>
        <p:spPr>
          <a:xfrm>
            <a:off x="1638300" y="4486275"/>
            <a:ext cx="133350" cy="133350"/>
          </a:xfrm>
          <a:prstGeom prst="rect">
            <a:avLst/>
          </a:prstGeom>
          <a:solidFill>
            <a:srgbClr val="131313">
              <a:alpha val="20000"/>
            </a:srgbClr>
          </a:solidFill>
          <a:ln/>
        </p:spPr>
      </p:sp>
      <p:sp>
        <p:nvSpPr>
          <p:cNvPr id="16" name="Text 13"/>
          <p:cNvSpPr/>
          <p:nvPr/>
        </p:nvSpPr>
        <p:spPr>
          <a:xfrm>
            <a:off x="1924050" y="43815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Data-layer, tagging and event standards</a:t>
            </a:r>
            <a:endParaRPr lang="en-US" sz="1800" dirty="0"/>
          </a:p>
        </p:txBody>
      </p:sp>
      <p:sp>
        <p:nvSpPr>
          <p:cNvPr id="17" name="Text 14"/>
          <p:cNvSpPr/>
          <p:nvPr/>
        </p:nvSpPr>
        <p:spPr>
          <a:xfrm>
            <a:off x="1181100" y="48006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04</a:t>
            </a:r>
            <a:endParaRPr lang="en-US" sz="1650" dirty="0"/>
          </a:p>
        </p:txBody>
      </p:sp>
      <p:sp>
        <p:nvSpPr>
          <p:cNvPr id="18" name="Shape 15"/>
          <p:cNvSpPr/>
          <p:nvPr/>
        </p:nvSpPr>
        <p:spPr>
          <a:xfrm>
            <a:off x="1638300" y="4905375"/>
            <a:ext cx="133350" cy="133350"/>
          </a:xfrm>
          <a:prstGeom prst="rect">
            <a:avLst/>
          </a:prstGeom>
          <a:solidFill>
            <a:srgbClr val="131313">
              <a:alpha val="20000"/>
            </a:srgbClr>
          </a:solidFill>
          <a:ln/>
        </p:spPr>
      </p:sp>
      <p:sp>
        <p:nvSpPr>
          <p:cNvPr id="19" name="Text 16"/>
          <p:cNvSpPr/>
          <p:nvPr/>
        </p:nvSpPr>
        <p:spPr>
          <a:xfrm>
            <a:off x="1924050" y="48006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Source-to-destination mapping conventions</a:t>
            </a:r>
            <a:endParaRPr lang="en-US" sz="1800" dirty="0"/>
          </a:p>
        </p:txBody>
      </p:sp>
      <p:sp>
        <p:nvSpPr>
          <p:cNvPr id="20" name="Text 17"/>
          <p:cNvSpPr/>
          <p:nvPr/>
        </p:nvSpPr>
        <p:spPr>
          <a:xfrm>
            <a:off x="1181100" y="52197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05</a:t>
            </a:r>
            <a:endParaRPr lang="en-US" sz="1650" dirty="0"/>
          </a:p>
        </p:txBody>
      </p:sp>
      <p:sp>
        <p:nvSpPr>
          <p:cNvPr id="21" name="Shape 18"/>
          <p:cNvSpPr/>
          <p:nvPr/>
        </p:nvSpPr>
        <p:spPr>
          <a:xfrm>
            <a:off x="1638300" y="5324475"/>
            <a:ext cx="133350" cy="133350"/>
          </a:xfrm>
          <a:prstGeom prst="rect">
            <a:avLst/>
          </a:prstGeom>
          <a:solidFill>
            <a:srgbClr val="131313">
              <a:alpha val="20000"/>
            </a:srgbClr>
          </a:solidFill>
          <a:ln/>
        </p:spPr>
      </p:sp>
      <p:sp>
        <p:nvSpPr>
          <p:cNvPr id="22" name="Text 19"/>
          <p:cNvSpPr/>
          <p:nvPr/>
        </p:nvSpPr>
        <p:spPr>
          <a:xfrm>
            <a:off x="1924050" y="52197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Identity handling and merge-policy behaviour</a:t>
            </a:r>
            <a:endParaRPr lang="en-US" sz="1800" dirty="0"/>
          </a:p>
        </p:txBody>
      </p:sp>
      <p:sp>
        <p:nvSpPr>
          <p:cNvPr id="23" name="Text 20"/>
          <p:cNvSpPr/>
          <p:nvPr/>
        </p:nvSpPr>
        <p:spPr>
          <a:xfrm>
            <a:off x="1181100" y="56388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06</a:t>
            </a:r>
            <a:endParaRPr lang="en-US" sz="1650" dirty="0"/>
          </a:p>
        </p:txBody>
      </p:sp>
      <p:sp>
        <p:nvSpPr>
          <p:cNvPr id="24" name="Shape 21"/>
          <p:cNvSpPr/>
          <p:nvPr/>
        </p:nvSpPr>
        <p:spPr>
          <a:xfrm>
            <a:off x="1638300" y="5743575"/>
            <a:ext cx="133350" cy="133350"/>
          </a:xfrm>
          <a:prstGeom prst="rect">
            <a:avLst/>
          </a:prstGeom>
          <a:solidFill>
            <a:srgbClr val="131313">
              <a:alpha val="20000"/>
            </a:srgbClr>
          </a:solidFill>
          <a:ln/>
        </p:spPr>
      </p:sp>
      <p:sp>
        <p:nvSpPr>
          <p:cNvPr id="25" name="Text 22"/>
          <p:cNvSpPr/>
          <p:nvPr/>
        </p:nvSpPr>
        <p:spPr>
          <a:xfrm>
            <a:off x="1924050" y="56388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Customer-profile and audience architecture</a:t>
            </a:r>
            <a:endParaRPr lang="en-US" sz="1800" dirty="0"/>
          </a:p>
        </p:txBody>
      </p:sp>
      <p:sp>
        <p:nvSpPr>
          <p:cNvPr id="26" name="Text 23"/>
          <p:cNvSpPr/>
          <p:nvPr/>
        </p:nvSpPr>
        <p:spPr>
          <a:xfrm>
            <a:off x="1181100" y="60579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07</a:t>
            </a:r>
            <a:endParaRPr lang="en-US" sz="1650" dirty="0"/>
          </a:p>
        </p:txBody>
      </p:sp>
      <p:sp>
        <p:nvSpPr>
          <p:cNvPr id="27" name="Shape 24"/>
          <p:cNvSpPr/>
          <p:nvPr/>
        </p:nvSpPr>
        <p:spPr>
          <a:xfrm>
            <a:off x="1638300" y="6162675"/>
            <a:ext cx="133350" cy="133350"/>
          </a:xfrm>
          <a:prstGeom prst="rect">
            <a:avLst/>
          </a:prstGeom>
          <a:solidFill>
            <a:srgbClr val="131313">
              <a:alpha val="20000"/>
            </a:srgbClr>
          </a:solidFill>
          <a:ln/>
        </p:spPr>
      </p:sp>
      <p:sp>
        <p:nvSpPr>
          <p:cNvPr id="28" name="Text 25"/>
          <p:cNvSpPr/>
          <p:nvPr/>
        </p:nvSpPr>
        <p:spPr>
          <a:xfrm>
            <a:off x="1924050" y="60579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Personalization and activation configuration</a:t>
            </a:r>
            <a:endParaRPr lang="en-US" sz="1800" dirty="0"/>
          </a:p>
        </p:txBody>
      </p:sp>
      <p:sp>
        <p:nvSpPr>
          <p:cNvPr id="29" name="Text 26"/>
          <p:cNvSpPr/>
          <p:nvPr/>
        </p:nvSpPr>
        <p:spPr>
          <a:xfrm>
            <a:off x="1181100" y="64770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08</a:t>
            </a:r>
            <a:endParaRPr lang="en-US" sz="1650" dirty="0"/>
          </a:p>
        </p:txBody>
      </p:sp>
      <p:sp>
        <p:nvSpPr>
          <p:cNvPr id="30" name="Shape 27"/>
          <p:cNvSpPr/>
          <p:nvPr/>
        </p:nvSpPr>
        <p:spPr>
          <a:xfrm>
            <a:off x="1638300" y="6581775"/>
            <a:ext cx="133350" cy="133350"/>
          </a:xfrm>
          <a:prstGeom prst="rect">
            <a:avLst/>
          </a:prstGeom>
          <a:solidFill>
            <a:srgbClr val="131313">
              <a:alpha val="20000"/>
            </a:srgbClr>
          </a:solidFill>
          <a:ln/>
        </p:spPr>
      </p:sp>
      <p:sp>
        <p:nvSpPr>
          <p:cNvPr id="31" name="Text 28"/>
          <p:cNvSpPr/>
          <p:nvPr/>
        </p:nvSpPr>
        <p:spPr>
          <a:xfrm>
            <a:off x="1924050" y="64770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Measurement and reporting architecture</a:t>
            </a:r>
            <a:endParaRPr lang="en-US" sz="1800" dirty="0"/>
          </a:p>
        </p:txBody>
      </p:sp>
      <p:sp>
        <p:nvSpPr>
          <p:cNvPr id="32" name="Text 29"/>
          <p:cNvSpPr/>
          <p:nvPr/>
        </p:nvSpPr>
        <p:spPr>
          <a:xfrm>
            <a:off x="1181100" y="68961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09</a:t>
            </a:r>
            <a:endParaRPr lang="en-US" sz="1650" dirty="0"/>
          </a:p>
        </p:txBody>
      </p:sp>
      <p:sp>
        <p:nvSpPr>
          <p:cNvPr id="33" name="Shape 30"/>
          <p:cNvSpPr/>
          <p:nvPr/>
        </p:nvSpPr>
        <p:spPr>
          <a:xfrm>
            <a:off x="1638300" y="7000875"/>
            <a:ext cx="133350" cy="133350"/>
          </a:xfrm>
          <a:prstGeom prst="rect">
            <a:avLst/>
          </a:prstGeom>
          <a:solidFill>
            <a:srgbClr val="131313">
              <a:alpha val="20000"/>
            </a:srgbClr>
          </a:solidFill>
          <a:ln/>
        </p:spPr>
      </p:sp>
      <p:sp>
        <p:nvSpPr>
          <p:cNvPr id="34" name="Text 31"/>
          <p:cNvSpPr/>
          <p:nvPr/>
        </p:nvSpPr>
        <p:spPr>
          <a:xfrm>
            <a:off x="1924050" y="68961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The quality and validation procedures applied before deployment</a:t>
            </a:r>
            <a:endParaRPr lang="en-US" sz="1800" dirty="0"/>
          </a:p>
        </p:txBody>
      </p:sp>
      <p:sp>
        <p:nvSpPr>
          <p:cNvPr id="35" name="Text 32"/>
          <p:cNvSpPr/>
          <p:nvPr/>
        </p:nvSpPr>
        <p:spPr>
          <a:xfrm>
            <a:off x="1181100" y="7315200"/>
            <a:ext cx="38100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b="1" dirty="0">
                <a:solidFill>
                  <a:srgbClr val="FF532C"/>
                </a:solidFill>
                <a:latin typeface="Arial" pitchFamily="34" charset="0"/>
                <a:ea typeface="Arial" pitchFamily="34" charset="-122"/>
                <a:cs typeface="Arial" pitchFamily="34" charset="-120"/>
              </a:rPr>
              <a:t>10</a:t>
            </a:r>
            <a:endParaRPr lang="en-US" sz="1650" dirty="0"/>
          </a:p>
        </p:txBody>
      </p:sp>
      <p:sp>
        <p:nvSpPr>
          <p:cNvPr id="36" name="Shape 33"/>
          <p:cNvSpPr/>
          <p:nvPr/>
        </p:nvSpPr>
        <p:spPr>
          <a:xfrm>
            <a:off x="1638300" y="7419975"/>
            <a:ext cx="133350" cy="133350"/>
          </a:xfrm>
          <a:prstGeom prst="rect">
            <a:avLst/>
          </a:prstGeom>
          <a:solidFill>
            <a:srgbClr val="131313">
              <a:alpha val="20000"/>
            </a:srgbClr>
          </a:solidFill>
          <a:ln/>
        </p:spPr>
      </p:sp>
      <p:sp>
        <p:nvSpPr>
          <p:cNvPr id="37" name="Text 34"/>
          <p:cNvSpPr/>
          <p:nvPr/>
        </p:nvSpPr>
        <p:spPr>
          <a:xfrm>
            <a:off x="1924050" y="7315200"/>
            <a:ext cx="1018413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What can safely be customised per client and what must not change</a:t>
            </a:r>
            <a:endParaRPr lang="en-US" sz="1800" dirty="0"/>
          </a:p>
        </p:txBody>
      </p:sp>
      <p:sp>
        <p:nvSpPr>
          <p:cNvPr id="38" name="Shape 35"/>
          <p:cNvSpPr/>
          <p:nvPr/>
        </p:nvSpPr>
        <p:spPr>
          <a:xfrm>
            <a:off x="11906250" y="2724150"/>
            <a:ext cx="5581650" cy="4191000"/>
          </a:xfrm>
          <a:prstGeom prst="rect">
            <a:avLst/>
          </a:prstGeom>
          <a:solidFill>
            <a:srgbClr val="131313"/>
          </a:solidFill>
          <a:ln/>
        </p:spPr>
      </p:sp>
      <p:sp>
        <p:nvSpPr>
          <p:cNvPr id="39" name="Text 36"/>
          <p:cNvSpPr/>
          <p:nvPr/>
        </p:nvSpPr>
        <p:spPr>
          <a:xfrm>
            <a:off x="12287250" y="3067050"/>
            <a:ext cx="5301615"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HOW IT WAS TRANSFERRED</a:t>
            </a:r>
            <a:endParaRPr lang="en-US" sz="1650" dirty="0"/>
          </a:p>
        </p:txBody>
      </p:sp>
      <p:sp>
        <p:nvSpPr>
          <p:cNvPr id="40" name="Text 37"/>
          <p:cNvSpPr/>
          <p:nvPr/>
        </p:nvSpPr>
        <p:spPr>
          <a:xfrm>
            <a:off x="12287250" y="3543300"/>
            <a:ext cx="530161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Knowledge-sharing sessions</a:t>
            </a:r>
            <a:endParaRPr lang="en-US" sz="1800" dirty="0"/>
          </a:p>
        </p:txBody>
      </p:sp>
      <p:sp>
        <p:nvSpPr>
          <p:cNvPr id="41" name="Text 38"/>
          <p:cNvSpPr/>
          <p:nvPr/>
        </p:nvSpPr>
        <p:spPr>
          <a:xfrm>
            <a:off x="12287250" y="4057650"/>
            <a:ext cx="4964240"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New-hire and team enablement on the Ascent technology stack</a:t>
            </a:r>
            <a:endParaRPr lang="en-US" sz="1800" dirty="0"/>
          </a:p>
        </p:txBody>
      </p:sp>
      <p:sp>
        <p:nvSpPr>
          <p:cNvPr id="42" name="Text 39"/>
          <p:cNvSpPr/>
          <p:nvPr/>
        </p:nvSpPr>
        <p:spPr>
          <a:xfrm>
            <a:off x="12287250" y="4895850"/>
            <a:ext cx="530161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Senior technical guidance</a:t>
            </a:r>
            <a:endParaRPr lang="en-US" sz="1800" dirty="0"/>
          </a:p>
        </p:txBody>
      </p:sp>
      <p:sp>
        <p:nvSpPr>
          <p:cNvPr id="43" name="Text 40"/>
          <p:cNvSpPr/>
          <p:nvPr/>
        </p:nvSpPr>
        <p:spPr>
          <a:xfrm>
            <a:off x="12287250" y="5410200"/>
            <a:ext cx="4964240"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Creation and maintenance of technical and operational documentation</a:t>
            </a:r>
            <a:endParaRPr lang="en-US" sz="1800" dirty="0"/>
          </a:p>
        </p:txBody>
      </p:sp>
      <p:sp>
        <p:nvSpPr>
          <p:cNvPr id="44" name="Text 41"/>
          <p:cNvSpPr/>
          <p:nvPr/>
        </p:nvSpPr>
        <p:spPr>
          <a:xfrm>
            <a:off x="12287250" y="6248400"/>
            <a:ext cx="5301615"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Internal technical advisory</a:t>
            </a:r>
            <a:endParaRPr lang="en-US" sz="1800" dirty="0"/>
          </a:p>
        </p:txBody>
      </p:sp>
      <p:sp>
        <p:nvSpPr>
          <p:cNvPr id="45" name="Text 42"/>
          <p:cNvSpPr/>
          <p:nvPr/>
        </p:nvSpPr>
        <p:spPr>
          <a:xfrm>
            <a:off x="800100" y="824865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 length of that list is itself the point. It is the same list a replacement would have to work through.</a:t>
            </a:r>
            <a:endParaRPr lang="en-US" sz="1800" dirty="0"/>
          </a:p>
        </p:txBody>
      </p:sp>
      <p:sp>
        <p:nvSpPr>
          <p:cNvPr id="46" name="Text 4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7" name="Text 4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8" name="Text 45"/>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57</a:t>
            </a:r>
            <a:endParaRPr lang="en-US" sz="11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313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FFFFFF"/>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16146512" y="571500"/>
            <a:ext cx="1475527" cy="12954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532C"/>
                </a:solidFill>
                <a:latin typeface="Arial" pitchFamily="34" charset="0"/>
                <a:ea typeface="Arial" pitchFamily="34" charset="-122"/>
                <a:cs typeface="Arial" pitchFamily="34" charset="-120"/>
              </a:rPr>
              <a:t>08</a:t>
            </a:r>
            <a:endParaRPr lang="en-US" sz="9900" dirty="0"/>
          </a:p>
        </p:txBody>
      </p:sp>
      <p:sp>
        <p:nvSpPr>
          <p:cNvPr id="5" name="Text 2"/>
          <p:cNvSpPr/>
          <p:nvPr/>
        </p:nvSpPr>
        <p:spPr>
          <a:xfrm>
            <a:off x="800100" y="5086350"/>
            <a:ext cx="15304770" cy="3810000"/>
          </a:xfrm>
          <a:prstGeom prst="rect">
            <a:avLst/>
          </a:prstGeom>
          <a:noFill/>
          <a:ln/>
        </p:spPr>
        <p:txBody>
          <a:bodyPr wrap="square" lIns="25400" tIns="25400" rIns="25400" bIns="25400" rtlCol="0" anchor="t">
            <a:normAutofit/>
          </a:bodyPr>
          <a:lstStyle/>
          <a:p>
            <a:pPr algn="l" indent="0" marL="0">
              <a:lnSpc>
                <a:spcPct val="87417"/>
              </a:lnSpc>
              <a:buNone/>
            </a:pPr>
            <a:r>
              <a:rPr lang="en-US" sz="9900" b="1" spc="-225" kern="0" dirty="0">
                <a:solidFill>
                  <a:srgbClr val="FFFFFF"/>
                </a:solidFill>
                <a:latin typeface="Arial" pitchFamily="34" charset="0"/>
                <a:ea typeface="Arial" pitchFamily="34" charset="-122"/>
                <a:cs typeface="Arial" pitchFamily="34" charset="-120"/>
              </a:rPr>
              <a:t>From Ascent Expertise to Continued Technical Application</a:t>
            </a:r>
            <a:endParaRPr lang="en-US" sz="9900" dirty="0"/>
          </a:p>
        </p:txBody>
      </p:sp>
      <p:sp>
        <p:nvSpPr>
          <p:cNvPr id="6" name="Text 3"/>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7" name="Text 4"/>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F5F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800100" y="3238500"/>
            <a:ext cx="15697200" cy="4943475"/>
          </a:xfrm>
          <a:prstGeom prst="rect">
            <a:avLst/>
          </a:prstGeom>
          <a:noFill/>
          <a:ln/>
        </p:spPr>
        <p:txBody>
          <a:bodyPr wrap="square" lIns="25400" tIns="25400" rIns="25400" bIns="25400" rtlCol="0" anchor="t">
            <a:normAutofit/>
          </a:bodyPr>
          <a:lstStyle/>
          <a:p>
            <a:pPr algn="l" indent="0" marL="0">
              <a:lnSpc>
                <a:spcPct val="101804"/>
              </a:lnSpc>
              <a:buNone/>
            </a:pPr>
            <a:r>
              <a:rPr lang="en-US" sz="6600" b="1" spc="-150" kern="0" dirty="0">
                <a:solidFill>
                  <a:srgbClr val="131313"/>
                </a:solidFill>
                <a:latin typeface="Arial" pitchFamily="34" charset="0"/>
                <a:ea typeface="Arial" pitchFamily="34" charset="-122"/>
                <a:cs typeface="Arial" pitchFamily="34" charset="-120"/>
              </a:rPr>
              <a:t>Ascent is where this specialized knowledge was built. The capabilities below are how that same company-specific knowledge continues to be applied.</a:t>
            </a:r>
            <a:endParaRPr lang="en-US" sz="6600" dirty="0"/>
          </a:p>
        </p:txBody>
      </p:sp>
      <p:sp>
        <p:nvSpPr>
          <p:cNvPr id="5" name="Text 2"/>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6" name="Text 3"/>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7" name="Text 4"/>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59</a:t>
            </a:r>
            <a:endParaRPr lang="en-US" sz="11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Capability continuity</a:t>
            </a:r>
            <a:endParaRPr lang="en-US" sz="3900" dirty="0"/>
          </a:p>
        </p:txBody>
      </p:sp>
      <p:sp>
        <p:nvSpPr>
          <p:cNvPr id="5" name="Shape 2"/>
          <p:cNvSpPr/>
          <p:nvPr/>
        </p:nvSpPr>
        <p:spPr>
          <a:xfrm>
            <a:off x="800100" y="2257425"/>
            <a:ext cx="8343900" cy="19050"/>
          </a:xfrm>
          <a:prstGeom prst="rect">
            <a:avLst/>
          </a:prstGeom>
          <a:solidFill>
            <a:srgbClr val="131313"/>
          </a:solidFill>
          <a:ln/>
        </p:spPr>
      </p:sp>
      <p:sp>
        <p:nvSpPr>
          <p:cNvPr id="6" name="Text 3"/>
          <p:cNvSpPr/>
          <p:nvPr/>
        </p:nvSpPr>
        <p:spPr>
          <a:xfrm>
            <a:off x="800100" y="1866900"/>
            <a:ext cx="8213217"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777777"/>
                </a:solidFill>
                <a:latin typeface="Arial" pitchFamily="34" charset="0"/>
                <a:ea typeface="Arial" pitchFamily="34" charset="-122"/>
                <a:cs typeface="Arial" pitchFamily="34" charset="-120"/>
              </a:rPr>
              <a:t>ASCENT KNOWLEDGE</a:t>
            </a:r>
            <a:endParaRPr lang="en-US" sz="1650" dirty="0"/>
          </a:p>
        </p:txBody>
      </p:sp>
      <p:sp>
        <p:nvSpPr>
          <p:cNvPr id="7" name="Shape 4"/>
          <p:cNvSpPr/>
          <p:nvPr/>
        </p:nvSpPr>
        <p:spPr>
          <a:xfrm>
            <a:off x="9144000" y="2257425"/>
            <a:ext cx="8343900" cy="19050"/>
          </a:xfrm>
          <a:prstGeom prst="rect">
            <a:avLst/>
          </a:prstGeom>
          <a:solidFill>
            <a:srgbClr val="FF532C"/>
          </a:solidFill>
          <a:ln/>
        </p:spPr>
      </p:sp>
      <p:sp>
        <p:nvSpPr>
          <p:cNvPr id="8" name="Text 5"/>
          <p:cNvSpPr/>
          <p:nvPr/>
        </p:nvSpPr>
        <p:spPr>
          <a:xfrm>
            <a:off x="9525000" y="1866900"/>
            <a:ext cx="8213217"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HOW I CONTINUE TO APPLY IT</a:t>
            </a:r>
            <a:endParaRPr lang="en-US" sz="1650" dirty="0"/>
          </a:p>
        </p:txBody>
      </p:sp>
      <p:sp>
        <p:nvSpPr>
          <p:cNvPr id="9" name="Shape 6"/>
          <p:cNvSpPr/>
          <p:nvPr/>
        </p:nvSpPr>
        <p:spPr>
          <a:xfrm>
            <a:off x="800100" y="2847975"/>
            <a:ext cx="8343900" cy="9525"/>
          </a:xfrm>
          <a:prstGeom prst="rect">
            <a:avLst/>
          </a:prstGeom>
          <a:solidFill>
            <a:srgbClr val="131313">
              <a:alpha val="14000"/>
            </a:srgbClr>
          </a:solidFill>
          <a:ln/>
        </p:spPr>
      </p:sp>
      <p:sp>
        <p:nvSpPr>
          <p:cNvPr id="10" name="Text 7"/>
          <p:cNvSpPr/>
          <p:nvPr/>
        </p:nvSpPr>
        <p:spPr>
          <a:xfrm>
            <a:off x="800100" y="24098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Data-layer, event and tagging architecture</a:t>
            </a:r>
            <a:endParaRPr lang="en-US" sz="1800" dirty="0"/>
          </a:p>
        </p:txBody>
      </p:sp>
      <p:sp>
        <p:nvSpPr>
          <p:cNvPr id="11" name="Shape 8"/>
          <p:cNvSpPr/>
          <p:nvPr/>
        </p:nvSpPr>
        <p:spPr>
          <a:xfrm>
            <a:off x="9144000" y="2847975"/>
            <a:ext cx="8343900" cy="9525"/>
          </a:xfrm>
          <a:prstGeom prst="rect">
            <a:avLst/>
          </a:prstGeom>
          <a:solidFill>
            <a:srgbClr val="131313">
              <a:alpha val="14000"/>
            </a:srgbClr>
          </a:solidFill>
          <a:ln/>
        </p:spPr>
      </p:sp>
      <p:sp>
        <p:nvSpPr>
          <p:cNvPr id="12" name="Text 9"/>
          <p:cNvSpPr/>
          <p:nvPr/>
        </p:nvSpPr>
        <p:spPr>
          <a:xfrm>
            <a:off x="9525000" y="24098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Enterprise data-collection architecture, standards and governance</a:t>
            </a:r>
            <a:endParaRPr lang="en-US" sz="1800" dirty="0"/>
          </a:p>
        </p:txBody>
      </p:sp>
      <p:sp>
        <p:nvSpPr>
          <p:cNvPr id="13" name="Shape 10"/>
          <p:cNvSpPr/>
          <p:nvPr/>
        </p:nvSpPr>
        <p:spPr>
          <a:xfrm>
            <a:off x="800100" y="3429000"/>
            <a:ext cx="8343900" cy="9525"/>
          </a:xfrm>
          <a:prstGeom prst="rect">
            <a:avLst/>
          </a:prstGeom>
          <a:solidFill>
            <a:srgbClr val="131313">
              <a:alpha val="14000"/>
            </a:srgbClr>
          </a:solidFill>
          <a:ln/>
        </p:spPr>
      </p:sp>
      <p:sp>
        <p:nvSpPr>
          <p:cNvPr id="14" name="Text 11"/>
          <p:cNvSpPr/>
          <p:nvPr/>
        </p:nvSpPr>
        <p:spPr>
          <a:xfrm>
            <a:off x="800100" y="29908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Source-to-destination mapping and ingestion validation</a:t>
            </a:r>
            <a:endParaRPr lang="en-US" sz="1800" dirty="0"/>
          </a:p>
        </p:txBody>
      </p:sp>
      <p:sp>
        <p:nvSpPr>
          <p:cNvPr id="15" name="Shape 12"/>
          <p:cNvSpPr/>
          <p:nvPr/>
        </p:nvSpPr>
        <p:spPr>
          <a:xfrm>
            <a:off x="9144000" y="3429000"/>
            <a:ext cx="8343900" cy="9525"/>
          </a:xfrm>
          <a:prstGeom prst="rect">
            <a:avLst/>
          </a:prstGeom>
          <a:solidFill>
            <a:srgbClr val="131313">
              <a:alpha val="14000"/>
            </a:srgbClr>
          </a:solidFill>
          <a:ln/>
        </p:spPr>
      </p:sp>
      <p:sp>
        <p:nvSpPr>
          <p:cNvPr id="16" name="Text 13"/>
          <p:cNvSpPr/>
          <p:nvPr/>
        </p:nvSpPr>
        <p:spPr>
          <a:xfrm>
            <a:off x="9525000" y="29908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Data integration and quality assurance</a:t>
            </a:r>
            <a:endParaRPr lang="en-US" sz="1800" dirty="0"/>
          </a:p>
        </p:txBody>
      </p:sp>
      <p:sp>
        <p:nvSpPr>
          <p:cNvPr id="17" name="Shape 14"/>
          <p:cNvSpPr/>
          <p:nvPr/>
        </p:nvSpPr>
        <p:spPr>
          <a:xfrm>
            <a:off x="800100" y="4010025"/>
            <a:ext cx="8343900" cy="9525"/>
          </a:xfrm>
          <a:prstGeom prst="rect">
            <a:avLst/>
          </a:prstGeom>
          <a:solidFill>
            <a:srgbClr val="131313">
              <a:alpha val="14000"/>
            </a:srgbClr>
          </a:solidFill>
          <a:ln/>
        </p:spPr>
      </p:sp>
      <p:sp>
        <p:nvSpPr>
          <p:cNvPr id="18" name="Text 15"/>
          <p:cNvSpPr/>
          <p:nvPr/>
        </p:nvSpPr>
        <p:spPr>
          <a:xfrm>
            <a:off x="800100" y="357187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Identity and merge-policy design</a:t>
            </a:r>
            <a:endParaRPr lang="en-US" sz="1800" dirty="0"/>
          </a:p>
        </p:txBody>
      </p:sp>
      <p:sp>
        <p:nvSpPr>
          <p:cNvPr id="19" name="Shape 16"/>
          <p:cNvSpPr/>
          <p:nvPr/>
        </p:nvSpPr>
        <p:spPr>
          <a:xfrm>
            <a:off x="9144000" y="4010025"/>
            <a:ext cx="8343900" cy="9525"/>
          </a:xfrm>
          <a:prstGeom prst="rect">
            <a:avLst/>
          </a:prstGeom>
          <a:solidFill>
            <a:srgbClr val="131313">
              <a:alpha val="14000"/>
            </a:srgbClr>
          </a:solidFill>
          <a:ln/>
        </p:spPr>
      </p:sp>
      <p:sp>
        <p:nvSpPr>
          <p:cNvPr id="20" name="Text 17"/>
          <p:cNvSpPr/>
          <p:nvPr/>
        </p:nvSpPr>
        <p:spPr>
          <a:xfrm>
            <a:off x="9525000" y="357187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Customer-profile and identity architecture</a:t>
            </a:r>
            <a:endParaRPr lang="en-US" sz="1800" dirty="0"/>
          </a:p>
        </p:txBody>
      </p:sp>
      <p:sp>
        <p:nvSpPr>
          <p:cNvPr id="21" name="Shape 18"/>
          <p:cNvSpPr/>
          <p:nvPr/>
        </p:nvSpPr>
        <p:spPr>
          <a:xfrm>
            <a:off x="800100" y="4591050"/>
            <a:ext cx="8343900" cy="9525"/>
          </a:xfrm>
          <a:prstGeom prst="rect">
            <a:avLst/>
          </a:prstGeom>
          <a:solidFill>
            <a:srgbClr val="131313">
              <a:alpha val="14000"/>
            </a:srgbClr>
          </a:solidFill>
          <a:ln/>
        </p:spPr>
      </p:sp>
      <p:sp>
        <p:nvSpPr>
          <p:cNvPr id="22" name="Text 19"/>
          <p:cNvSpPr/>
          <p:nvPr/>
        </p:nvSpPr>
        <p:spPr>
          <a:xfrm>
            <a:off x="800100" y="415290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Audience architecture</a:t>
            </a:r>
            <a:endParaRPr lang="en-US" sz="1800" dirty="0"/>
          </a:p>
        </p:txBody>
      </p:sp>
      <p:sp>
        <p:nvSpPr>
          <p:cNvPr id="23" name="Shape 20"/>
          <p:cNvSpPr/>
          <p:nvPr/>
        </p:nvSpPr>
        <p:spPr>
          <a:xfrm>
            <a:off x="9144000" y="4591050"/>
            <a:ext cx="8343900" cy="9525"/>
          </a:xfrm>
          <a:prstGeom prst="rect">
            <a:avLst/>
          </a:prstGeom>
          <a:solidFill>
            <a:srgbClr val="131313">
              <a:alpha val="14000"/>
            </a:srgbClr>
          </a:solidFill>
          <a:ln/>
        </p:spPr>
      </p:sp>
      <p:sp>
        <p:nvSpPr>
          <p:cNvPr id="24" name="Text 21"/>
          <p:cNvSpPr/>
          <p:nvPr/>
        </p:nvSpPr>
        <p:spPr>
          <a:xfrm>
            <a:off x="9525000" y="415290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CDP and audience design</a:t>
            </a:r>
            <a:endParaRPr lang="en-US" sz="1800" dirty="0"/>
          </a:p>
        </p:txBody>
      </p:sp>
      <p:sp>
        <p:nvSpPr>
          <p:cNvPr id="25" name="Shape 22"/>
          <p:cNvSpPr/>
          <p:nvPr/>
        </p:nvSpPr>
        <p:spPr>
          <a:xfrm>
            <a:off x="800100" y="5172075"/>
            <a:ext cx="8343900" cy="9525"/>
          </a:xfrm>
          <a:prstGeom prst="rect">
            <a:avLst/>
          </a:prstGeom>
          <a:solidFill>
            <a:srgbClr val="131313">
              <a:alpha val="14000"/>
            </a:srgbClr>
          </a:solidFill>
          <a:ln/>
        </p:spPr>
      </p:sp>
      <p:sp>
        <p:nvSpPr>
          <p:cNvPr id="26" name="Text 23"/>
          <p:cNvSpPr/>
          <p:nvPr/>
        </p:nvSpPr>
        <p:spPr>
          <a:xfrm>
            <a:off x="800100" y="47339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Personalization and activation</a:t>
            </a:r>
            <a:endParaRPr lang="en-US" sz="1800" dirty="0"/>
          </a:p>
        </p:txBody>
      </p:sp>
      <p:sp>
        <p:nvSpPr>
          <p:cNvPr id="27" name="Shape 24"/>
          <p:cNvSpPr/>
          <p:nvPr/>
        </p:nvSpPr>
        <p:spPr>
          <a:xfrm>
            <a:off x="9144000" y="5172075"/>
            <a:ext cx="8343900" cy="9525"/>
          </a:xfrm>
          <a:prstGeom prst="rect">
            <a:avLst/>
          </a:prstGeom>
          <a:solidFill>
            <a:srgbClr val="131313">
              <a:alpha val="14000"/>
            </a:srgbClr>
          </a:solidFill>
          <a:ln/>
        </p:spPr>
      </p:sp>
      <p:sp>
        <p:nvSpPr>
          <p:cNvPr id="28" name="Text 25"/>
          <p:cNvSpPr/>
          <p:nvPr/>
        </p:nvSpPr>
        <p:spPr>
          <a:xfrm>
            <a:off x="9525000" y="47339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Personalization architecture</a:t>
            </a:r>
            <a:endParaRPr lang="en-US" sz="1800" dirty="0"/>
          </a:p>
        </p:txBody>
      </p:sp>
      <p:sp>
        <p:nvSpPr>
          <p:cNvPr id="29" name="Shape 26"/>
          <p:cNvSpPr/>
          <p:nvPr/>
        </p:nvSpPr>
        <p:spPr>
          <a:xfrm>
            <a:off x="800100" y="5753100"/>
            <a:ext cx="8343900" cy="9525"/>
          </a:xfrm>
          <a:prstGeom prst="rect">
            <a:avLst/>
          </a:prstGeom>
          <a:solidFill>
            <a:srgbClr val="131313">
              <a:alpha val="14000"/>
            </a:srgbClr>
          </a:solidFill>
          <a:ln/>
        </p:spPr>
      </p:sp>
      <p:sp>
        <p:nvSpPr>
          <p:cNvPr id="30" name="Text 27"/>
          <p:cNvSpPr/>
          <p:nvPr/>
        </p:nvSpPr>
        <p:spPr>
          <a:xfrm>
            <a:off x="800100" y="53149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Measurement and reporting architecture</a:t>
            </a:r>
            <a:endParaRPr lang="en-US" sz="1800" dirty="0"/>
          </a:p>
        </p:txBody>
      </p:sp>
      <p:sp>
        <p:nvSpPr>
          <p:cNvPr id="31" name="Shape 28"/>
          <p:cNvSpPr/>
          <p:nvPr/>
        </p:nvSpPr>
        <p:spPr>
          <a:xfrm>
            <a:off x="9144000" y="5753100"/>
            <a:ext cx="8343900" cy="9525"/>
          </a:xfrm>
          <a:prstGeom prst="rect">
            <a:avLst/>
          </a:prstGeom>
          <a:solidFill>
            <a:srgbClr val="131313">
              <a:alpha val="14000"/>
            </a:srgbClr>
          </a:solidFill>
          <a:ln/>
        </p:spPr>
      </p:sp>
      <p:sp>
        <p:nvSpPr>
          <p:cNvPr id="32" name="Text 29"/>
          <p:cNvSpPr/>
          <p:nvPr/>
        </p:nvSpPr>
        <p:spPr>
          <a:xfrm>
            <a:off x="9525000" y="53149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Measurement strategy and reporting design</a:t>
            </a:r>
            <a:endParaRPr lang="en-US" sz="1800" dirty="0"/>
          </a:p>
        </p:txBody>
      </p:sp>
      <p:sp>
        <p:nvSpPr>
          <p:cNvPr id="33" name="Shape 30"/>
          <p:cNvSpPr/>
          <p:nvPr/>
        </p:nvSpPr>
        <p:spPr>
          <a:xfrm>
            <a:off x="800100" y="6334125"/>
            <a:ext cx="8343900" cy="9525"/>
          </a:xfrm>
          <a:prstGeom prst="rect">
            <a:avLst/>
          </a:prstGeom>
          <a:solidFill>
            <a:srgbClr val="131313">
              <a:alpha val="14000"/>
            </a:srgbClr>
          </a:solidFill>
          <a:ln/>
        </p:spPr>
      </p:sp>
      <p:sp>
        <p:nvSpPr>
          <p:cNvPr id="34" name="Text 31"/>
          <p:cNvSpPr/>
          <p:nvPr/>
        </p:nvSpPr>
        <p:spPr>
          <a:xfrm>
            <a:off x="800100" y="589597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Cross-system integration architecture</a:t>
            </a:r>
            <a:endParaRPr lang="en-US" sz="1800" dirty="0"/>
          </a:p>
        </p:txBody>
      </p:sp>
      <p:sp>
        <p:nvSpPr>
          <p:cNvPr id="35" name="Shape 32"/>
          <p:cNvSpPr/>
          <p:nvPr/>
        </p:nvSpPr>
        <p:spPr>
          <a:xfrm>
            <a:off x="9144000" y="6334125"/>
            <a:ext cx="8343900" cy="9525"/>
          </a:xfrm>
          <a:prstGeom prst="rect">
            <a:avLst/>
          </a:prstGeom>
          <a:solidFill>
            <a:srgbClr val="131313">
              <a:alpha val="14000"/>
            </a:srgbClr>
          </a:solidFill>
          <a:ln/>
        </p:spPr>
      </p:sp>
      <p:sp>
        <p:nvSpPr>
          <p:cNvPr id="36" name="Text 33"/>
          <p:cNvSpPr/>
          <p:nvPr/>
        </p:nvSpPr>
        <p:spPr>
          <a:xfrm>
            <a:off x="9525000" y="589597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Client-side and server-side integration design</a:t>
            </a:r>
            <a:endParaRPr lang="en-US" sz="1800" dirty="0"/>
          </a:p>
        </p:txBody>
      </p:sp>
      <p:sp>
        <p:nvSpPr>
          <p:cNvPr id="37" name="Shape 34"/>
          <p:cNvSpPr/>
          <p:nvPr/>
        </p:nvSpPr>
        <p:spPr>
          <a:xfrm>
            <a:off x="800100" y="6915150"/>
            <a:ext cx="8343900" cy="9525"/>
          </a:xfrm>
          <a:prstGeom prst="rect">
            <a:avLst/>
          </a:prstGeom>
          <a:solidFill>
            <a:srgbClr val="131313">
              <a:alpha val="14000"/>
            </a:srgbClr>
          </a:solidFill>
          <a:ln/>
        </p:spPr>
      </p:sp>
      <p:sp>
        <p:nvSpPr>
          <p:cNvPr id="38" name="Text 35"/>
          <p:cNvSpPr/>
          <p:nvPr/>
        </p:nvSpPr>
        <p:spPr>
          <a:xfrm>
            <a:off x="800100" y="647700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Code review and deployment gating</a:t>
            </a:r>
            <a:endParaRPr lang="en-US" sz="1800" dirty="0"/>
          </a:p>
        </p:txBody>
      </p:sp>
      <p:sp>
        <p:nvSpPr>
          <p:cNvPr id="39" name="Shape 36"/>
          <p:cNvSpPr/>
          <p:nvPr/>
        </p:nvSpPr>
        <p:spPr>
          <a:xfrm>
            <a:off x="9144000" y="6915150"/>
            <a:ext cx="8343900" cy="9525"/>
          </a:xfrm>
          <a:prstGeom prst="rect">
            <a:avLst/>
          </a:prstGeom>
          <a:solidFill>
            <a:srgbClr val="131313">
              <a:alpha val="14000"/>
            </a:srgbClr>
          </a:solidFill>
          <a:ln/>
        </p:spPr>
      </p:sp>
      <p:sp>
        <p:nvSpPr>
          <p:cNvPr id="40" name="Text 37"/>
          <p:cNvSpPr/>
          <p:nvPr/>
        </p:nvSpPr>
        <p:spPr>
          <a:xfrm>
            <a:off x="9525000" y="647700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Technical review and delivery assurance</a:t>
            </a:r>
            <a:endParaRPr lang="en-US" sz="1800" dirty="0"/>
          </a:p>
        </p:txBody>
      </p:sp>
      <p:sp>
        <p:nvSpPr>
          <p:cNvPr id="41" name="Shape 38"/>
          <p:cNvSpPr/>
          <p:nvPr/>
        </p:nvSpPr>
        <p:spPr>
          <a:xfrm>
            <a:off x="800100" y="7496175"/>
            <a:ext cx="8343900" cy="9525"/>
          </a:xfrm>
          <a:prstGeom prst="rect">
            <a:avLst/>
          </a:prstGeom>
          <a:solidFill>
            <a:srgbClr val="131313">
              <a:alpha val="14000"/>
            </a:srgbClr>
          </a:solidFill>
          <a:ln/>
        </p:spPr>
      </p:sp>
      <p:sp>
        <p:nvSpPr>
          <p:cNvPr id="42" name="Text 39"/>
          <p:cNvSpPr/>
          <p:nvPr/>
        </p:nvSpPr>
        <p:spPr>
          <a:xfrm>
            <a:off x="800100" y="70580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Solution design and feasibility</a:t>
            </a:r>
            <a:endParaRPr lang="en-US" sz="1800" dirty="0"/>
          </a:p>
        </p:txBody>
      </p:sp>
      <p:sp>
        <p:nvSpPr>
          <p:cNvPr id="43" name="Shape 40"/>
          <p:cNvSpPr/>
          <p:nvPr/>
        </p:nvSpPr>
        <p:spPr>
          <a:xfrm>
            <a:off x="9144000" y="7496175"/>
            <a:ext cx="8343900" cy="9525"/>
          </a:xfrm>
          <a:prstGeom prst="rect">
            <a:avLst/>
          </a:prstGeom>
          <a:solidFill>
            <a:srgbClr val="131313">
              <a:alpha val="14000"/>
            </a:srgbClr>
          </a:solidFill>
          <a:ln/>
        </p:spPr>
      </p:sp>
      <p:sp>
        <p:nvSpPr>
          <p:cNvPr id="44" name="Text 41"/>
          <p:cNvSpPr/>
          <p:nvPr/>
        </p:nvSpPr>
        <p:spPr>
          <a:xfrm>
            <a:off x="9525000" y="7058025"/>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Architecture and technical direction</a:t>
            </a:r>
            <a:endParaRPr lang="en-US" sz="1800" dirty="0"/>
          </a:p>
        </p:txBody>
      </p:sp>
      <p:sp>
        <p:nvSpPr>
          <p:cNvPr id="45" name="Shape 42"/>
          <p:cNvSpPr/>
          <p:nvPr/>
        </p:nvSpPr>
        <p:spPr>
          <a:xfrm>
            <a:off x="800100" y="8077200"/>
            <a:ext cx="8343900" cy="9525"/>
          </a:xfrm>
          <a:prstGeom prst="rect">
            <a:avLst/>
          </a:prstGeom>
          <a:solidFill>
            <a:srgbClr val="131313">
              <a:alpha val="14000"/>
            </a:srgbClr>
          </a:solidFill>
          <a:ln/>
        </p:spPr>
      </p:sp>
      <p:sp>
        <p:nvSpPr>
          <p:cNvPr id="46" name="Text 43"/>
          <p:cNvSpPr/>
          <p:nvPr/>
        </p:nvSpPr>
        <p:spPr>
          <a:xfrm>
            <a:off x="800100" y="76390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777777"/>
                </a:solidFill>
                <a:latin typeface="Arial" pitchFamily="34" charset="0"/>
                <a:ea typeface="Arial" pitchFamily="34" charset="-122"/>
                <a:cs typeface="Arial" pitchFamily="34" charset="-120"/>
              </a:rPr>
              <a:t>Knowledge transfer</a:t>
            </a:r>
            <a:endParaRPr lang="en-US" sz="1800" dirty="0"/>
          </a:p>
        </p:txBody>
      </p:sp>
      <p:sp>
        <p:nvSpPr>
          <p:cNvPr id="47" name="Shape 44"/>
          <p:cNvSpPr/>
          <p:nvPr/>
        </p:nvSpPr>
        <p:spPr>
          <a:xfrm>
            <a:off x="9144000" y="8077200"/>
            <a:ext cx="8343900" cy="9525"/>
          </a:xfrm>
          <a:prstGeom prst="rect">
            <a:avLst/>
          </a:prstGeom>
          <a:solidFill>
            <a:srgbClr val="131313">
              <a:alpha val="14000"/>
            </a:srgbClr>
          </a:solidFill>
          <a:ln/>
        </p:spPr>
      </p:sp>
      <p:sp>
        <p:nvSpPr>
          <p:cNvPr id="48" name="Text 45"/>
          <p:cNvSpPr/>
          <p:nvPr/>
        </p:nvSpPr>
        <p:spPr>
          <a:xfrm>
            <a:off x="9525000" y="7639050"/>
            <a:ext cx="8213217" cy="3429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31313"/>
                </a:solidFill>
                <a:latin typeface="Arial" pitchFamily="34" charset="0"/>
                <a:ea typeface="Arial" pitchFamily="34" charset="-122"/>
                <a:cs typeface="Arial" pitchFamily="34" charset="-120"/>
              </a:rPr>
              <a:t>Team enablement and technical guidance</a:t>
            </a:r>
            <a:endParaRPr lang="en-US" sz="1800" dirty="0"/>
          </a:p>
        </p:txBody>
      </p:sp>
      <p:sp>
        <p:nvSpPr>
          <p:cNvPr id="49" name="Text 46"/>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50" name="Text 47"/>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51" name="Text 48"/>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60</a:t>
            </a:r>
            <a:endParaRPr lang="en-US" sz="11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Ascent’s evolution, and where my specialization sits</a:t>
            </a:r>
            <a:endParaRPr lang="en-US" sz="3900" dirty="0"/>
          </a:p>
        </p:txBody>
      </p:sp>
      <p:sp>
        <p:nvSpPr>
          <p:cNvPr id="5" name="Text 2"/>
          <p:cNvSpPr/>
          <p:nvPr/>
        </p:nvSpPr>
        <p:spPr>
          <a:xfrm>
            <a:off x="800100" y="1866900"/>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EVOLUTION MODEL</a:t>
            </a:r>
            <a:endParaRPr lang="en-US" sz="1650" dirty="0"/>
          </a:p>
        </p:txBody>
      </p:sp>
      <p:sp>
        <p:nvSpPr>
          <p:cNvPr id="6" name="Shape 3"/>
          <p:cNvSpPr/>
          <p:nvPr/>
        </p:nvSpPr>
        <p:spPr>
          <a:xfrm>
            <a:off x="800100" y="2305050"/>
            <a:ext cx="3857625" cy="3600450"/>
          </a:xfrm>
          <a:prstGeom prst="rect">
            <a:avLst/>
          </a:prstGeom>
          <a:solidFill>
            <a:srgbClr val="F2F5F6"/>
          </a:solidFill>
          <a:ln/>
        </p:spPr>
      </p:sp>
      <p:sp>
        <p:nvSpPr>
          <p:cNvPr id="7" name="Text 4"/>
          <p:cNvSpPr/>
          <p:nvPr/>
        </p:nvSpPr>
        <p:spPr>
          <a:xfrm>
            <a:off x="1066800" y="2609850"/>
            <a:ext cx="365664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01</a:t>
            </a:r>
            <a:endParaRPr lang="en-US" sz="1650" dirty="0"/>
          </a:p>
        </p:txBody>
      </p:sp>
      <p:sp>
        <p:nvSpPr>
          <p:cNvPr id="8" name="Text 5"/>
          <p:cNvSpPr/>
          <p:nvPr/>
        </p:nvSpPr>
        <p:spPr>
          <a:xfrm>
            <a:off x="1066800" y="3028950"/>
            <a:ext cx="3656648"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Ascent Foundation</a:t>
            </a:r>
            <a:endParaRPr lang="en-US" sz="2400" dirty="0"/>
          </a:p>
        </p:txBody>
      </p:sp>
      <p:sp>
        <p:nvSpPr>
          <p:cNvPr id="9" name="Text 6"/>
          <p:cNvSpPr/>
          <p:nvPr/>
        </p:nvSpPr>
        <p:spPr>
          <a:xfrm>
            <a:off x="1066800" y="3600450"/>
            <a:ext cx="3423952"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Proprietary Adobe-powered integrated solution</a:t>
            </a:r>
            <a:endParaRPr lang="en-US" sz="1800" dirty="0"/>
          </a:p>
        </p:txBody>
      </p:sp>
      <p:sp>
        <p:nvSpPr>
          <p:cNvPr id="10" name="Text 7"/>
          <p:cNvSpPr/>
          <p:nvPr/>
        </p:nvSpPr>
        <p:spPr>
          <a:xfrm>
            <a:off x="4619625" y="2305050"/>
            <a:ext cx="495300" cy="3638550"/>
          </a:xfrm>
          <a:prstGeom prst="rect">
            <a:avLst/>
          </a:prstGeom>
          <a:noFill/>
          <a:ln/>
        </p:spPr>
        <p:txBody>
          <a:bodyPr wrap="square" lIns="25400" tIns="25400" rIns="25400" bIns="25400" rtlCol="0" anchor="ctr">
            <a:normAutofit/>
          </a:bodyPr>
          <a:lstStyle/>
          <a:p>
            <a:pPr algn="ctr" indent="0" marL="0">
              <a:buNone/>
            </a:pPr>
            <a:r>
              <a:rPr lang="en-US" sz="2250" dirty="0">
                <a:solidFill>
                  <a:srgbClr val="FF532C"/>
                </a:solidFill>
                <a:latin typeface="Arial" pitchFamily="34" charset="0"/>
                <a:ea typeface="Arial" pitchFamily="34" charset="-122"/>
                <a:cs typeface="Arial" pitchFamily="34" charset="-120"/>
              </a:rPr>
              <a:t>→</a:t>
            </a:r>
            <a:endParaRPr lang="en-US" sz="2250" dirty="0"/>
          </a:p>
        </p:txBody>
      </p:sp>
      <p:sp>
        <p:nvSpPr>
          <p:cNvPr id="11" name="Shape 8"/>
          <p:cNvSpPr/>
          <p:nvPr/>
        </p:nvSpPr>
        <p:spPr>
          <a:xfrm>
            <a:off x="5076825" y="2305050"/>
            <a:ext cx="3857625" cy="3600450"/>
          </a:xfrm>
          <a:prstGeom prst="rect">
            <a:avLst/>
          </a:prstGeom>
          <a:solidFill>
            <a:srgbClr val="F2F5F6"/>
          </a:solidFill>
          <a:ln/>
        </p:spPr>
      </p:sp>
      <p:sp>
        <p:nvSpPr>
          <p:cNvPr id="12" name="Text 9"/>
          <p:cNvSpPr/>
          <p:nvPr/>
        </p:nvSpPr>
        <p:spPr>
          <a:xfrm>
            <a:off x="5343525" y="2609850"/>
            <a:ext cx="365664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02</a:t>
            </a:r>
            <a:endParaRPr lang="en-US" sz="1650" dirty="0"/>
          </a:p>
        </p:txBody>
      </p:sp>
      <p:sp>
        <p:nvSpPr>
          <p:cNvPr id="13" name="Text 10"/>
          <p:cNvSpPr/>
          <p:nvPr/>
        </p:nvSpPr>
        <p:spPr>
          <a:xfrm>
            <a:off x="5343525" y="3028950"/>
            <a:ext cx="3423952"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Commercialized Offering</a:t>
            </a:r>
            <a:endParaRPr lang="en-US" sz="2400" dirty="0"/>
          </a:p>
        </p:txBody>
      </p:sp>
      <p:sp>
        <p:nvSpPr>
          <p:cNvPr id="14" name="Text 11"/>
          <p:cNvSpPr/>
          <p:nvPr/>
        </p:nvSpPr>
        <p:spPr>
          <a:xfrm>
            <a:off x="5343525" y="3981450"/>
            <a:ext cx="3423952"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Fixed-price, fixed-scope implementation packages</a:t>
            </a:r>
            <a:endParaRPr lang="en-US" sz="1800" dirty="0"/>
          </a:p>
        </p:txBody>
      </p:sp>
      <p:sp>
        <p:nvSpPr>
          <p:cNvPr id="15" name="Text 12"/>
          <p:cNvSpPr/>
          <p:nvPr/>
        </p:nvSpPr>
        <p:spPr>
          <a:xfrm>
            <a:off x="8896350" y="2305050"/>
            <a:ext cx="495300" cy="3638550"/>
          </a:xfrm>
          <a:prstGeom prst="rect">
            <a:avLst/>
          </a:prstGeom>
          <a:noFill/>
          <a:ln/>
        </p:spPr>
        <p:txBody>
          <a:bodyPr wrap="square" lIns="25400" tIns="25400" rIns="25400" bIns="25400" rtlCol="0" anchor="ctr">
            <a:normAutofit/>
          </a:bodyPr>
          <a:lstStyle/>
          <a:p>
            <a:pPr algn="ctr" indent="0" marL="0">
              <a:buNone/>
            </a:pPr>
            <a:r>
              <a:rPr lang="en-US" sz="2250" dirty="0">
                <a:solidFill>
                  <a:srgbClr val="FF532C"/>
                </a:solidFill>
                <a:latin typeface="Arial" pitchFamily="34" charset="0"/>
                <a:ea typeface="Arial" pitchFamily="34" charset="-122"/>
                <a:cs typeface="Arial" pitchFamily="34" charset="-120"/>
              </a:rPr>
              <a:t>→</a:t>
            </a:r>
            <a:endParaRPr lang="en-US" sz="2250" dirty="0"/>
          </a:p>
        </p:txBody>
      </p:sp>
      <p:sp>
        <p:nvSpPr>
          <p:cNvPr id="16" name="Shape 13"/>
          <p:cNvSpPr/>
          <p:nvPr/>
        </p:nvSpPr>
        <p:spPr>
          <a:xfrm>
            <a:off x="9353550" y="2305050"/>
            <a:ext cx="3857625" cy="3600450"/>
          </a:xfrm>
          <a:prstGeom prst="rect">
            <a:avLst/>
          </a:prstGeom>
          <a:solidFill>
            <a:srgbClr val="F2F5F6"/>
          </a:solidFill>
          <a:ln/>
        </p:spPr>
      </p:sp>
      <p:sp>
        <p:nvSpPr>
          <p:cNvPr id="17" name="Text 14"/>
          <p:cNvSpPr/>
          <p:nvPr/>
        </p:nvSpPr>
        <p:spPr>
          <a:xfrm>
            <a:off x="9620250" y="2609850"/>
            <a:ext cx="365664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03</a:t>
            </a:r>
            <a:endParaRPr lang="en-US" sz="1650" dirty="0"/>
          </a:p>
        </p:txBody>
      </p:sp>
      <p:sp>
        <p:nvSpPr>
          <p:cNvPr id="18" name="Text 15"/>
          <p:cNvSpPr/>
          <p:nvPr/>
        </p:nvSpPr>
        <p:spPr>
          <a:xfrm>
            <a:off x="9620250" y="3028950"/>
            <a:ext cx="3423952"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131313"/>
                </a:solidFill>
                <a:latin typeface="Arial" pitchFamily="34" charset="0"/>
                <a:ea typeface="Arial" pitchFamily="34" charset="-122"/>
                <a:cs typeface="Arial" pitchFamily="34" charset="-120"/>
              </a:rPr>
              <a:t>Data &amp; Personalization Expansion</a:t>
            </a:r>
            <a:endParaRPr lang="en-US" sz="2400" dirty="0"/>
          </a:p>
        </p:txBody>
      </p:sp>
      <p:sp>
        <p:nvSpPr>
          <p:cNvPr id="19" name="Text 16"/>
          <p:cNvSpPr/>
          <p:nvPr/>
        </p:nvSpPr>
        <p:spPr>
          <a:xfrm>
            <a:off x="9620250" y="3981450"/>
            <a:ext cx="3423952" cy="10096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Stronger CDP, audience, analytics, identity and personalization capabilities</a:t>
            </a:r>
            <a:endParaRPr lang="en-US" sz="1800" dirty="0"/>
          </a:p>
        </p:txBody>
      </p:sp>
      <p:sp>
        <p:nvSpPr>
          <p:cNvPr id="20" name="Text 17"/>
          <p:cNvSpPr/>
          <p:nvPr/>
        </p:nvSpPr>
        <p:spPr>
          <a:xfrm>
            <a:off x="13173075" y="2305050"/>
            <a:ext cx="495300" cy="3638550"/>
          </a:xfrm>
          <a:prstGeom prst="rect">
            <a:avLst/>
          </a:prstGeom>
          <a:noFill/>
          <a:ln/>
        </p:spPr>
        <p:txBody>
          <a:bodyPr wrap="square" lIns="25400" tIns="25400" rIns="25400" bIns="25400" rtlCol="0" anchor="ctr">
            <a:normAutofit/>
          </a:bodyPr>
          <a:lstStyle/>
          <a:p>
            <a:pPr algn="ctr" indent="0" marL="0">
              <a:buNone/>
            </a:pPr>
            <a:r>
              <a:rPr lang="en-US" sz="2250" dirty="0">
                <a:solidFill>
                  <a:srgbClr val="FF532C"/>
                </a:solidFill>
                <a:latin typeface="Arial" pitchFamily="34" charset="0"/>
                <a:ea typeface="Arial" pitchFamily="34" charset="-122"/>
                <a:cs typeface="Arial" pitchFamily="34" charset="-120"/>
              </a:rPr>
              <a:t>→</a:t>
            </a:r>
            <a:endParaRPr lang="en-US" sz="2250" dirty="0"/>
          </a:p>
        </p:txBody>
      </p:sp>
      <p:sp>
        <p:nvSpPr>
          <p:cNvPr id="21" name="Shape 18"/>
          <p:cNvSpPr/>
          <p:nvPr/>
        </p:nvSpPr>
        <p:spPr>
          <a:xfrm>
            <a:off x="13630275" y="2305050"/>
            <a:ext cx="3857625" cy="3600450"/>
          </a:xfrm>
          <a:prstGeom prst="rect">
            <a:avLst/>
          </a:prstGeom>
          <a:solidFill>
            <a:srgbClr val="131313"/>
          </a:solidFill>
          <a:ln/>
        </p:spPr>
      </p:sp>
      <p:sp>
        <p:nvSpPr>
          <p:cNvPr id="22" name="Text 19"/>
          <p:cNvSpPr/>
          <p:nvPr/>
        </p:nvSpPr>
        <p:spPr>
          <a:xfrm>
            <a:off x="13896975" y="2609850"/>
            <a:ext cx="3656648"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F532C"/>
                </a:solidFill>
                <a:latin typeface="Arial" pitchFamily="34" charset="0"/>
                <a:ea typeface="Arial" pitchFamily="34" charset="-122"/>
                <a:cs typeface="Arial" pitchFamily="34" charset="-120"/>
              </a:rPr>
              <a:t>04</a:t>
            </a:r>
            <a:endParaRPr lang="en-US" sz="1650" dirty="0"/>
          </a:p>
        </p:txBody>
      </p:sp>
      <p:sp>
        <p:nvSpPr>
          <p:cNvPr id="23" name="Text 20"/>
          <p:cNvSpPr/>
          <p:nvPr/>
        </p:nvSpPr>
        <p:spPr>
          <a:xfrm>
            <a:off x="13896975" y="3028950"/>
            <a:ext cx="3423952"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spc="-30" kern="0" dirty="0">
                <a:solidFill>
                  <a:srgbClr val="FFFFFF"/>
                </a:solidFill>
                <a:latin typeface="Arial" pitchFamily="34" charset="0"/>
                <a:ea typeface="Arial" pitchFamily="34" charset="-122"/>
                <a:cs typeface="Arial" pitchFamily="34" charset="-120"/>
              </a:rPr>
              <a:t>Modern Experience Architecture</a:t>
            </a:r>
            <a:endParaRPr lang="en-US" sz="2400" dirty="0"/>
          </a:p>
        </p:txBody>
      </p:sp>
      <p:sp>
        <p:nvSpPr>
          <p:cNvPr id="24" name="Text 21"/>
          <p:cNvSpPr/>
          <p:nvPr/>
        </p:nvSpPr>
        <p:spPr>
          <a:xfrm>
            <a:off x="13896975" y="3981450"/>
            <a:ext cx="3423952" cy="16573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solidFill>
                <a:latin typeface="Arial" pitchFamily="34" charset="0"/>
                <a:ea typeface="Arial" pitchFamily="34" charset="-122"/>
                <a:cs typeface="Arial" pitchFamily="34" charset="-120"/>
              </a:rPr>
              <a:t>Evolution toward Adobe Experience Platform, Customer Journey Analytics, Adobe Journey Optimizer and broader journey orchestration</a:t>
            </a:r>
            <a:endParaRPr lang="en-US" sz="1800" dirty="0"/>
          </a:p>
        </p:txBody>
      </p:sp>
      <p:sp>
        <p:nvSpPr>
          <p:cNvPr id="25" name="Text 22"/>
          <p:cNvSpPr/>
          <p:nvPr/>
        </p:nvSpPr>
        <p:spPr>
          <a:xfrm>
            <a:off x="-34290" y="6096000"/>
            <a:ext cx="18356580" cy="323850"/>
          </a:xfrm>
          <a:prstGeom prst="rect">
            <a:avLst/>
          </a:prstGeom>
          <a:noFill/>
          <a:ln/>
        </p:spPr>
        <p:txBody>
          <a:bodyPr wrap="square" lIns="25400" tIns="25400" rIns="25400" bIns="25400" rtlCol="0" anchor="t">
            <a:normAutofit/>
          </a:bodyPr>
          <a:lstStyle/>
          <a:p>
            <a:pPr algn="ctr" indent="0" marL="0">
              <a:lnSpc>
                <a:spcPct val="88235"/>
              </a:lnSpc>
              <a:buNone/>
            </a:pPr>
            <a:r>
              <a:rPr lang="en-US" sz="2250" dirty="0">
                <a:solidFill>
                  <a:srgbClr val="FF532C"/>
                </a:solidFill>
                <a:latin typeface="Arial" pitchFamily="34" charset="0"/>
                <a:ea typeface="Arial" pitchFamily="34" charset="-122"/>
                <a:cs typeface="Arial" pitchFamily="34" charset="-120"/>
              </a:rPr>
              <a:t>↓</a:t>
            </a:r>
            <a:endParaRPr lang="en-US" sz="2250" dirty="0"/>
          </a:p>
        </p:txBody>
      </p:sp>
      <p:sp>
        <p:nvSpPr>
          <p:cNvPr id="26" name="Text 23"/>
          <p:cNvSpPr/>
          <p:nvPr/>
        </p:nvSpPr>
        <p:spPr>
          <a:xfrm>
            <a:off x="800100" y="6572250"/>
            <a:ext cx="18356580" cy="28575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WHERE MY DEEPEST SPECIALIZATION ALIGNS</a:t>
            </a:r>
            <a:endParaRPr lang="en-US" sz="1650" dirty="0"/>
          </a:p>
        </p:txBody>
      </p:sp>
      <p:sp>
        <p:nvSpPr>
          <p:cNvPr id="27" name="Shape 24"/>
          <p:cNvSpPr/>
          <p:nvPr/>
        </p:nvSpPr>
        <p:spPr>
          <a:xfrm>
            <a:off x="800100" y="7010400"/>
            <a:ext cx="2527250" cy="838200"/>
          </a:xfrm>
          <a:prstGeom prst="rect">
            <a:avLst/>
          </a:prstGeom>
          <a:solidFill>
            <a:srgbClr val="131313"/>
          </a:solidFill>
          <a:ln/>
        </p:spPr>
      </p:sp>
      <p:sp>
        <p:nvSpPr>
          <p:cNvPr id="28" name="Text 25"/>
          <p:cNvSpPr/>
          <p:nvPr/>
        </p:nvSpPr>
        <p:spPr>
          <a:xfrm>
            <a:off x="971550"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Data</a:t>
            </a:r>
            <a:endParaRPr lang="en-US" sz="1800" dirty="0"/>
          </a:p>
        </p:txBody>
      </p:sp>
      <p:sp>
        <p:nvSpPr>
          <p:cNvPr id="29" name="Text 26"/>
          <p:cNvSpPr/>
          <p:nvPr/>
        </p:nvSpPr>
        <p:spPr>
          <a:xfrm>
            <a:off x="3289250"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30" name="Shape 27"/>
          <p:cNvSpPr/>
          <p:nvPr/>
        </p:nvSpPr>
        <p:spPr>
          <a:xfrm>
            <a:off x="3632150" y="7010400"/>
            <a:ext cx="2527250" cy="838200"/>
          </a:xfrm>
          <a:prstGeom prst="rect">
            <a:avLst/>
          </a:prstGeom>
          <a:solidFill>
            <a:srgbClr val="131313"/>
          </a:solidFill>
          <a:ln/>
        </p:spPr>
      </p:sp>
      <p:sp>
        <p:nvSpPr>
          <p:cNvPr id="31" name="Text 28"/>
          <p:cNvSpPr/>
          <p:nvPr/>
        </p:nvSpPr>
        <p:spPr>
          <a:xfrm>
            <a:off x="3803600"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Identity</a:t>
            </a:r>
            <a:endParaRPr lang="en-US" sz="1800" dirty="0"/>
          </a:p>
        </p:txBody>
      </p:sp>
      <p:sp>
        <p:nvSpPr>
          <p:cNvPr id="32" name="Text 29"/>
          <p:cNvSpPr/>
          <p:nvPr/>
        </p:nvSpPr>
        <p:spPr>
          <a:xfrm>
            <a:off x="6121301"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33" name="Shape 30"/>
          <p:cNvSpPr/>
          <p:nvPr/>
        </p:nvSpPr>
        <p:spPr>
          <a:xfrm>
            <a:off x="6464201" y="7010400"/>
            <a:ext cx="2527250" cy="838200"/>
          </a:xfrm>
          <a:prstGeom prst="rect">
            <a:avLst/>
          </a:prstGeom>
          <a:solidFill>
            <a:srgbClr val="131313"/>
          </a:solidFill>
          <a:ln/>
        </p:spPr>
      </p:sp>
      <p:sp>
        <p:nvSpPr>
          <p:cNvPr id="34" name="Text 31"/>
          <p:cNvSpPr/>
          <p:nvPr/>
        </p:nvSpPr>
        <p:spPr>
          <a:xfrm>
            <a:off x="6635651"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Audience</a:t>
            </a:r>
            <a:endParaRPr lang="en-US" sz="1800" dirty="0"/>
          </a:p>
        </p:txBody>
      </p:sp>
      <p:sp>
        <p:nvSpPr>
          <p:cNvPr id="35" name="Text 32"/>
          <p:cNvSpPr/>
          <p:nvPr/>
        </p:nvSpPr>
        <p:spPr>
          <a:xfrm>
            <a:off x="8953351"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36" name="Shape 33"/>
          <p:cNvSpPr/>
          <p:nvPr/>
        </p:nvSpPr>
        <p:spPr>
          <a:xfrm>
            <a:off x="9296251" y="7010400"/>
            <a:ext cx="2527399" cy="838200"/>
          </a:xfrm>
          <a:prstGeom prst="rect">
            <a:avLst/>
          </a:prstGeom>
          <a:solidFill>
            <a:srgbClr val="131313"/>
          </a:solidFill>
          <a:ln/>
        </p:spPr>
      </p:sp>
      <p:sp>
        <p:nvSpPr>
          <p:cNvPr id="37" name="Text 34"/>
          <p:cNvSpPr/>
          <p:nvPr/>
        </p:nvSpPr>
        <p:spPr>
          <a:xfrm>
            <a:off x="9467701" y="7219950"/>
            <a:ext cx="2260699"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Analytics</a:t>
            </a:r>
            <a:endParaRPr lang="en-US" sz="1800" dirty="0"/>
          </a:p>
        </p:txBody>
      </p:sp>
      <p:sp>
        <p:nvSpPr>
          <p:cNvPr id="38" name="Text 35"/>
          <p:cNvSpPr/>
          <p:nvPr/>
        </p:nvSpPr>
        <p:spPr>
          <a:xfrm>
            <a:off x="11785550"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39" name="Shape 36"/>
          <p:cNvSpPr/>
          <p:nvPr/>
        </p:nvSpPr>
        <p:spPr>
          <a:xfrm>
            <a:off x="12128450" y="7010400"/>
            <a:ext cx="2527250" cy="838200"/>
          </a:xfrm>
          <a:prstGeom prst="rect">
            <a:avLst/>
          </a:prstGeom>
          <a:solidFill>
            <a:srgbClr val="131313"/>
          </a:solidFill>
          <a:ln/>
        </p:spPr>
      </p:sp>
      <p:sp>
        <p:nvSpPr>
          <p:cNvPr id="40" name="Text 37"/>
          <p:cNvSpPr/>
          <p:nvPr/>
        </p:nvSpPr>
        <p:spPr>
          <a:xfrm>
            <a:off x="12299900"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Personalization</a:t>
            </a:r>
            <a:endParaRPr lang="en-US" sz="1800" dirty="0"/>
          </a:p>
        </p:txBody>
      </p:sp>
      <p:sp>
        <p:nvSpPr>
          <p:cNvPr id="41" name="Text 38"/>
          <p:cNvSpPr/>
          <p:nvPr/>
        </p:nvSpPr>
        <p:spPr>
          <a:xfrm>
            <a:off x="14617601" y="7010400"/>
            <a:ext cx="381000" cy="876300"/>
          </a:xfrm>
          <a:prstGeom prst="rect">
            <a:avLst/>
          </a:prstGeom>
          <a:noFill/>
          <a:ln/>
        </p:spPr>
        <p:txBody>
          <a:bodyPr wrap="square" lIns="25400" tIns="25400" rIns="25400" bIns="25400" rtlCol="0" anchor="ctr">
            <a:normAutofit/>
          </a:bodyPr>
          <a:lstStyle/>
          <a:p>
            <a:pPr algn="ctr" indent="0" marL="0">
              <a:buNone/>
            </a:pPr>
            <a:r>
              <a:rPr lang="en-US" sz="1950" dirty="0">
                <a:solidFill>
                  <a:srgbClr val="FF532C"/>
                </a:solidFill>
                <a:latin typeface="Arial" pitchFamily="34" charset="0"/>
                <a:ea typeface="Arial" pitchFamily="34" charset="-122"/>
                <a:cs typeface="Arial" pitchFamily="34" charset="-120"/>
              </a:rPr>
              <a:t>→</a:t>
            </a:r>
            <a:endParaRPr lang="en-US" sz="1950" dirty="0"/>
          </a:p>
        </p:txBody>
      </p:sp>
      <p:sp>
        <p:nvSpPr>
          <p:cNvPr id="42" name="Shape 39"/>
          <p:cNvSpPr/>
          <p:nvPr/>
        </p:nvSpPr>
        <p:spPr>
          <a:xfrm>
            <a:off x="14960501" y="7010400"/>
            <a:ext cx="2527250" cy="838200"/>
          </a:xfrm>
          <a:prstGeom prst="rect">
            <a:avLst/>
          </a:prstGeom>
          <a:solidFill>
            <a:srgbClr val="131313"/>
          </a:solidFill>
          <a:ln/>
        </p:spPr>
      </p:sp>
      <p:sp>
        <p:nvSpPr>
          <p:cNvPr id="43" name="Text 40"/>
          <p:cNvSpPr/>
          <p:nvPr/>
        </p:nvSpPr>
        <p:spPr>
          <a:xfrm>
            <a:off x="15131951" y="7219950"/>
            <a:ext cx="2260550" cy="457200"/>
          </a:xfrm>
          <a:prstGeom prst="rect">
            <a:avLst/>
          </a:prstGeom>
          <a:noFill/>
          <a:ln/>
        </p:spPr>
        <p:txBody>
          <a:bodyPr wrap="square" lIns="25400" tIns="25400" rIns="25400" bIns="25400" rtlCol="0" anchor="ctr">
            <a:normAutofit/>
          </a:bodyPr>
          <a:lstStyle/>
          <a:p>
            <a:pPr algn="l" indent="0" marL="0">
              <a:lnSpc>
                <a:spcPct val="111429"/>
              </a:lnSpc>
              <a:buNone/>
            </a:pPr>
            <a:r>
              <a:rPr lang="en-US" sz="1800" b="1" dirty="0">
                <a:solidFill>
                  <a:srgbClr val="FFFFFF"/>
                </a:solidFill>
                <a:latin typeface="Arial" pitchFamily="34" charset="0"/>
                <a:ea typeface="Arial" pitchFamily="34" charset="-122"/>
                <a:cs typeface="Arial" pitchFamily="34" charset="-120"/>
              </a:rPr>
              <a:t>Activation</a:t>
            </a:r>
            <a:endParaRPr lang="en-US" sz="1800" dirty="0"/>
          </a:p>
        </p:txBody>
      </p:sp>
      <p:sp>
        <p:nvSpPr>
          <p:cNvPr id="44" name="Text 41"/>
          <p:cNvSpPr/>
          <p:nvPr/>
        </p:nvSpPr>
        <p:spPr>
          <a:xfrm>
            <a:off x="800100" y="8039100"/>
            <a:ext cx="16764000"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777777"/>
                </a:solidFill>
                <a:latin typeface="Arial" pitchFamily="34" charset="0"/>
                <a:ea typeface="Arial" pitchFamily="34" charset="-122"/>
                <a:cs typeface="Arial" pitchFamily="34" charset="-120"/>
              </a:rPr>
              <a:t>The direction of Ascent’s evolution is toward precisely the layers in which my specialization is deepest.</a:t>
            </a:r>
            <a:endParaRPr lang="en-US" sz="1800" dirty="0"/>
          </a:p>
        </p:txBody>
      </p:sp>
      <p:sp>
        <p:nvSpPr>
          <p:cNvPr id="45" name="Text 42"/>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46" name="Text 43"/>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47" name="Text 44"/>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61</a:t>
            </a:r>
            <a:endParaRPr lang="en-US" sz="11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5948109"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FROM ASCENT EXPERTISE TO CONTINUED TECHNICAL APPLICATION</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Summary</a:t>
            </a:r>
            <a:endParaRPr lang="en-US" sz="3900" dirty="0"/>
          </a:p>
        </p:txBody>
      </p:sp>
      <p:sp>
        <p:nvSpPr>
          <p:cNvPr id="5" name="Text 2"/>
          <p:cNvSpPr/>
          <p:nvPr/>
        </p:nvSpPr>
        <p:spPr>
          <a:xfrm>
            <a:off x="800100" y="1714500"/>
            <a:ext cx="18356580" cy="485775"/>
          </a:xfrm>
          <a:prstGeom prst="rect">
            <a:avLst/>
          </a:prstGeom>
          <a:noFill/>
          <a:ln/>
        </p:spPr>
        <p:txBody>
          <a:bodyPr wrap="square" lIns="25400" tIns="25400" rIns="25400" bIns="25400" rtlCol="0" anchor="t">
            <a:normAutofit/>
          </a:bodyPr>
          <a:lstStyle/>
          <a:p>
            <a:pPr algn="l" indent="0" marL="0">
              <a:lnSpc>
                <a:spcPct val="110465"/>
              </a:lnSpc>
              <a:buNone/>
            </a:pPr>
            <a:r>
              <a:rPr lang="en-US" sz="2850" b="1" spc="-45" kern="0" dirty="0">
                <a:solidFill>
                  <a:srgbClr val="131313"/>
                </a:solidFill>
                <a:latin typeface="Arial" pitchFamily="34" charset="0"/>
                <a:ea typeface="Arial" pitchFamily="34" charset="-122"/>
                <a:cs typeface="Arial" pitchFamily="34" charset="-120"/>
              </a:rPr>
              <a:t>Navdeep Pandey + TA Digital Ascent</a:t>
            </a:r>
            <a:endParaRPr lang="en-US" sz="2850" dirty="0"/>
          </a:p>
        </p:txBody>
      </p:sp>
      <p:sp>
        <p:nvSpPr>
          <p:cNvPr id="6" name="Text 3"/>
          <p:cNvSpPr/>
          <p:nvPr/>
        </p:nvSpPr>
        <p:spPr>
          <a:xfrm>
            <a:off x="800100" y="242887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1</a:t>
            </a:r>
            <a:endParaRPr lang="en-US" sz="1800" dirty="0"/>
          </a:p>
        </p:txBody>
      </p:sp>
      <p:sp>
        <p:nvSpPr>
          <p:cNvPr id="7" name="Text 4"/>
          <p:cNvSpPr/>
          <p:nvPr/>
        </p:nvSpPr>
        <p:spPr>
          <a:xfrm>
            <a:off x="1638300" y="2428875"/>
            <a:ext cx="1632508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 developed deep company-specific knowledge across TA Digital Ascent’s integrated content, commerce, data, analytics, audience, personalization and marketing architecture.</a:t>
            </a:r>
            <a:endParaRPr lang="en-US" sz="1800" dirty="0"/>
          </a:p>
        </p:txBody>
      </p:sp>
      <p:sp>
        <p:nvSpPr>
          <p:cNvPr id="8" name="Text 5"/>
          <p:cNvSpPr/>
          <p:nvPr/>
        </p:nvSpPr>
        <p:spPr>
          <a:xfrm>
            <a:off x="800100" y="330517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2</a:t>
            </a:r>
            <a:endParaRPr lang="en-US" sz="1800" dirty="0"/>
          </a:p>
        </p:txBody>
      </p:sp>
      <p:sp>
        <p:nvSpPr>
          <p:cNvPr id="9" name="Text 6"/>
          <p:cNvSpPr/>
          <p:nvPr/>
        </p:nvSpPr>
        <p:spPr>
          <a:xfrm>
            <a:off x="1638300" y="3305175"/>
            <a:ext cx="1632508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My deepest specialization is in the data, analytics, CDP, identity, audience, personalization and marketing-integration layers that connect the broader Ascent ecosystem.</a:t>
            </a:r>
            <a:endParaRPr lang="en-US" sz="1800" dirty="0"/>
          </a:p>
        </p:txBody>
      </p:sp>
      <p:sp>
        <p:nvSpPr>
          <p:cNvPr id="10" name="Text 7"/>
          <p:cNvSpPr/>
          <p:nvPr/>
        </p:nvSpPr>
        <p:spPr>
          <a:xfrm>
            <a:off x="800100" y="418147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3</a:t>
            </a:r>
            <a:endParaRPr lang="en-US" sz="1800" dirty="0"/>
          </a:p>
        </p:txBody>
      </p:sp>
      <p:sp>
        <p:nvSpPr>
          <p:cNvPr id="11" name="Text 8"/>
          <p:cNvSpPr/>
          <p:nvPr/>
        </p:nvSpPr>
        <p:spPr>
          <a:xfrm>
            <a:off x="1638300" y="4181475"/>
            <a:ext cx="1743456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 worked across all three major Ascent components through architecture, integration, extension, customization, technical validation and solution design.</a:t>
            </a:r>
            <a:endParaRPr lang="en-US" sz="1800" dirty="0"/>
          </a:p>
        </p:txBody>
      </p:sp>
      <p:sp>
        <p:nvSpPr>
          <p:cNvPr id="12" name="Text 9"/>
          <p:cNvSpPr/>
          <p:nvPr/>
        </p:nvSpPr>
        <p:spPr>
          <a:xfrm>
            <a:off x="800100" y="473392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4</a:t>
            </a:r>
            <a:endParaRPr lang="en-US" sz="1800" dirty="0"/>
          </a:p>
        </p:txBody>
      </p:sp>
      <p:sp>
        <p:nvSpPr>
          <p:cNvPr id="13" name="Text 10"/>
          <p:cNvSpPr/>
          <p:nvPr/>
        </p:nvSpPr>
        <p:spPr>
          <a:xfrm>
            <a:off x="1638300" y="4733925"/>
            <a:ext cx="1743456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My development contributions spanned Audience, Behavior, Paid Marketing Activities, Conversions and Acquisition.</a:t>
            </a:r>
            <a:endParaRPr lang="en-US" sz="1800" dirty="0"/>
          </a:p>
        </p:txBody>
      </p:sp>
      <p:sp>
        <p:nvSpPr>
          <p:cNvPr id="14" name="Text 11"/>
          <p:cNvSpPr/>
          <p:nvPr/>
        </p:nvSpPr>
        <p:spPr>
          <a:xfrm>
            <a:off x="800100" y="528637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5</a:t>
            </a:r>
            <a:endParaRPr lang="en-US" sz="1800" dirty="0"/>
          </a:p>
        </p:txBody>
      </p:sp>
      <p:sp>
        <p:nvSpPr>
          <p:cNvPr id="15" name="Text 12"/>
          <p:cNvSpPr/>
          <p:nvPr/>
        </p:nvSpPr>
        <p:spPr>
          <a:xfrm>
            <a:off x="1638300" y="5286375"/>
            <a:ext cx="1743456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 operated defined Ascent technical-quality procedures and reviewed other engineers’ work for deployment readiness.</a:t>
            </a:r>
            <a:endParaRPr lang="en-US" sz="1800" dirty="0"/>
          </a:p>
        </p:txBody>
      </p:sp>
      <p:sp>
        <p:nvSpPr>
          <p:cNvPr id="16" name="Text 13"/>
          <p:cNvSpPr/>
          <p:nvPr/>
        </p:nvSpPr>
        <p:spPr>
          <a:xfrm>
            <a:off x="800100" y="583882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6</a:t>
            </a:r>
            <a:endParaRPr lang="en-US" sz="1800" dirty="0"/>
          </a:p>
        </p:txBody>
      </p:sp>
      <p:sp>
        <p:nvSpPr>
          <p:cNvPr id="17" name="Text 14"/>
          <p:cNvSpPr/>
          <p:nvPr/>
        </p:nvSpPr>
        <p:spPr>
          <a:xfrm>
            <a:off x="1638300" y="5838825"/>
            <a:ext cx="1632508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My expertise developed through sustained hands-on implementation, customization, debugging, architectural reasoning, technical review and knowledge transfer rather than through ordinary product training.</a:t>
            </a:r>
            <a:endParaRPr lang="en-US" sz="1800" dirty="0"/>
          </a:p>
        </p:txBody>
      </p:sp>
      <p:sp>
        <p:nvSpPr>
          <p:cNvPr id="18" name="Text 15"/>
          <p:cNvSpPr/>
          <p:nvPr/>
        </p:nvSpPr>
        <p:spPr>
          <a:xfrm>
            <a:off x="800100" y="6715125"/>
            <a:ext cx="609600" cy="361950"/>
          </a:xfrm>
          <a:prstGeom prst="rect">
            <a:avLst/>
          </a:prstGeom>
          <a:noFill/>
          <a:ln/>
        </p:spPr>
        <p:txBody>
          <a:bodyPr wrap="square" lIns="25400" tIns="25400" rIns="25400" bIns="25400" rtlCol="0" anchor="t">
            <a:normAutofit/>
          </a:bodyPr>
          <a:lstStyle/>
          <a:p>
            <a:pPr algn="l" indent="0" marL="0">
              <a:lnSpc>
                <a:spcPct val="124286"/>
              </a:lnSpc>
              <a:buNone/>
            </a:pPr>
            <a:r>
              <a:rPr lang="en-US" sz="1800" b="1" dirty="0">
                <a:solidFill>
                  <a:srgbClr val="FF532C"/>
                </a:solidFill>
                <a:latin typeface="Arial" pitchFamily="34" charset="0"/>
                <a:ea typeface="Arial" pitchFamily="34" charset="-122"/>
                <a:cs typeface="Arial" pitchFamily="34" charset="-120"/>
              </a:rPr>
              <a:t>7</a:t>
            </a:r>
            <a:endParaRPr lang="en-US" sz="1800" dirty="0"/>
          </a:p>
        </p:txBody>
      </p:sp>
      <p:sp>
        <p:nvSpPr>
          <p:cNvPr id="19" name="Text 16"/>
          <p:cNvSpPr/>
          <p:nvPr/>
        </p:nvSpPr>
        <p:spPr>
          <a:xfrm>
            <a:off x="1638300" y="6715125"/>
            <a:ext cx="16325088" cy="68580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31313"/>
                </a:solidFill>
                <a:latin typeface="Arial" pitchFamily="34" charset="0"/>
                <a:ea typeface="Arial" pitchFamily="34" charset="-122"/>
                <a:cs typeface="Arial" pitchFamily="34" charset="-120"/>
              </a:rPr>
              <a:t>I continue to apply the same company-specific technical capabilities across architecture, solution design, integration, quality, enablement and technical leadership.</a:t>
            </a:r>
            <a:endParaRPr lang="en-US" sz="1800" dirty="0"/>
          </a:p>
        </p:txBody>
      </p:sp>
      <p:sp>
        <p:nvSpPr>
          <p:cNvPr id="20" name="Text 17"/>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21" name="Text 18"/>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22" name="Text 19"/>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62</a:t>
            </a:r>
            <a:endParaRPr lang="en-US" sz="11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47650"/>
            <a:ext cx="342900" cy="342900"/>
          </a:xfrm>
          <a:prstGeom prst="rect">
            <a:avLst/>
          </a:prstGeom>
        </p:spPr>
      </p:pic>
      <p:sp>
        <p:nvSpPr>
          <p:cNvPr id="3" name="Text 0"/>
          <p:cNvSpPr/>
          <p:nvPr/>
        </p:nvSpPr>
        <p:spPr>
          <a:xfrm>
            <a:off x="800100" y="314325"/>
            <a:ext cx="882848" cy="200025"/>
          </a:xfrm>
          <a:prstGeom prst="rect">
            <a:avLst/>
          </a:prstGeom>
          <a:noFill/>
          <a:ln/>
        </p:spPr>
        <p:txBody>
          <a:bodyPr wrap="square" lIns="25400" tIns="25400" rIns="25400" bIns="25400" rtlCol="0" anchor="t">
            <a:normAutofit/>
          </a:bodyPr>
          <a:lstStyle/>
          <a:p>
            <a:pPr algn="l" indent="0" marL="0">
              <a:buNone/>
            </a:pPr>
            <a:r>
              <a:rPr lang="en-US" sz="1125" b="1" spc="75" kern="0" dirty="0">
                <a:solidFill>
                  <a:srgbClr val="131313"/>
                </a:solidFill>
                <a:latin typeface="Arial" pitchFamily="34" charset="0"/>
                <a:ea typeface="Arial" pitchFamily="34" charset="-122"/>
                <a:cs typeface="Arial" pitchFamily="34" charset="-120"/>
              </a:rPr>
              <a:t>APPENDIX</a:t>
            </a:r>
            <a:endParaRPr lang="en-US" sz="1125" dirty="0"/>
          </a:p>
        </p:txBody>
      </p:sp>
      <p:sp>
        <p:nvSpPr>
          <p:cNvPr id="4" name="Text 1"/>
          <p:cNvSpPr/>
          <p:nvPr/>
        </p:nvSpPr>
        <p:spPr>
          <a:xfrm>
            <a:off x="800100" y="762000"/>
            <a:ext cx="16764000" cy="581025"/>
          </a:xfrm>
          <a:prstGeom prst="rect">
            <a:avLst/>
          </a:prstGeom>
          <a:noFill/>
          <a:ln/>
        </p:spPr>
        <p:txBody>
          <a:bodyPr wrap="square" lIns="25400" tIns="25400" rIns="25400" bIns="25400" rtlCol="0" anchor="t">
            <a:normAutofit/>
          </a:bodyPr>
          <a:lstStyle/>
          <a:p>
            <a:pPr algn="l" indent="0" marL="0">
              <a:lnSpc>
                <a:spcPct val="95333"/>
              </a:lnSpc>
              <a:buNone/>
            </a:pPr>
            <a:r>
              <a:rPr lang="en-US" sz="3900" b="1" spc="-112" kern="0" dirty="0">
                <a:solidFill>
                  <a:srgbClr val="131313"/>
                </a:solidFill>
                <a:latin typeface="Arial" pitchFamily="34" charset="0"/>
                <a:ea typeface="Arial" pitchFamily="34" charset="-122"/>
                <a:cs typeface="Arial" pitchFamily="34" charset="-120"/>
              </a:rPr>
              <a:t>Evidence source index</a:t>
            </a:r>
            <a:endParaRPr lang="en-US" sz="3900" dirty="0"/>
          </a:p>
        </p:txBody>
      </p:sp>
      <p:sp>
        <p:nvSpPr>
          <p:cNvPr id="5" name="Shape 2"/>
          <p:cNvSpPr/>
          <p:nvPr/>
        </p:nvSpPr>
        <p:spPr>
          <a:xfrm>
            <a:off x="800100" y="2428875"/>
            <a:ext cx="7048500" cy="19050"/>
          </a:xfrm>
          <a:prstGeom prst="rect">
            <a:avLst/>
          </a:prstGeom>
          <a:solidFill>
            <a:srgbClr val="131313"/>
          </a:solidFill>
          <a:ln/>
        </p:spPr>
      </p:sp>
      <p:sp>
        <p:nvSpPr>
          <p:cNvPr id="6" name="Text 3"/>
          <p:cNvSpPr/>
          <p:nvPr/>
        </p:nvSpPr>
        <p:spPr>
          <a:xfrm>
            <a:off x="800100" y="2019300"/>
            <a:ext cx="6878955"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SOURCE</a:t>
            </a:r>
            <a:endParaRPr lang="en-US" sz="1650" dirty="0"/>
          </a:p>
        </p:txBody>
      </p:sp>
      <p:sp>
        <p:nvSpPr>
          <p:cNvPr id="7" name="Shape 4"/>
          <p:cNvSpPr/>
          <p:nvPr/>
        </p:nvSpPr>
        <p:spPr>
          <a:xfrm>
            <a:off x="7848600" y="2428875"/>
            <a:ext cx="9639300" cy="19050"/>
          </a:xfrm>
          <a:prstGeom prst="rect">
            <a:avLst/>
          </a:prstGeom>
          <a:solidFill>
            <a:srgbClr val="131313"/>
          </a:solidFill>
          <a:ln/>
        </p:spPr>
      </p:sp>
      <p:sp>
        <p:nvSpPr>
          <p:cNvPr id="8" name="Text 5"/>
          <p:cNvSpPr/>
          <p:nvPr/>
        </p:nvSpPr>
        <p:spPr>
          <a:xfrm>
            <a:off x="8229600" y="2019300"/>
            <a:ext cx="9547479" cy="276225"/>
          </a:xfrm>
          <a:prstGeom prst="rect">
            <a:avLst/>
          </a:prstGeom>
          <a:noFill/>
          <a:ln/>
        </p:spPr>
        <p:txBody>
          <a:bodyPr wrap="square" lIns="25400" tIns="25400" rIns="25400" bIns="25400" rtlCol="0" anchor="ctr">
            <a:normAutofit/>
          </a:bodyPr>
          <a:lstStyle/>
          <a:p>
            <a:pPr algn="l" indent="0" marL="0">
              <a:buNone/>
            </a:pPr>
            <a:r>
              <a:rPr lang="en-US" sz="1650" b="1" spc="75" kern="0" dirty="0">
                <a:solidFill>
                  <a:srgbClr val="131313"/>
                </a:solidFill>
                <a:latin typeface="Arial" pitchFamily="34" charset="0"/>
                <a:ea typeface="Arial" pitchFamily="34" charset="-122"/>
                <a:cs typeface="Arial" pitchFamily="34" charset="-120"/>
              </a:rPr>
              <a:t>WHAT IT ESTABLISHES</a:t>
            </a:r>
            <a:endParaRPr lang="en-US" sz="1650" dirty="0"/>
          </a:p>
        </p:txBody>
      </p:sp>
      <p:sp>
        <p:nvSpPr>
          <p:cNvPr id="9" name="Shape 6"/>
          <p:cNvSpPr/>
          <p:nvPr/>
        </p:nvSpPr>
        <p:spPr>
          <a:xfrm>
            <a:off x="800100" y="3457575"/>
            <a:ext cx="7048500" cy="9525"/>
          </a:xfrm>
          <a:prstGeom prst="rect">
            <a:avLst/>
          </a:prstGeom>
          <a:solidFill>
            <a:srgbClr val="131313">
              <a:alpha val="14000"/>
            </a:srgbClr>
          </a:solidFill>
          <a:ln/>
        </p:spPr>
      </p:sp>
      <p:sp>
        <p:nvSpPr>
          <p:cNvPr id="10" name="Text 7"/>
          <p:cNvSpPr/>
          <p:nvPr/>
        </p:nvSpPr>
        <p:spPr>
          <a:xfrm>
            <a:off x="800100" y="2638425"/>
            <a:ext cx="6878955"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TA Digital Ascent – Navdeep</a:t>
            </a:r>
            <a:endParaRPr lang="en-US" sz="1800" dirty="0"/>
          </a:p>
        </p:txBody>
      </p:sp>
      <p:sp>
        <p:nvSpPr>
          <p:cNvPr id="11" name="Shape 8"/>
          <p:cNvSpPr/>
          <p:nvPr/>
        </p:nvSpPr>
        <p:spPr>
          <a:xfrm>
            <a:off x="7848600" y="3457575"/>
            <a:ext cx="9639300" cy="9525"/>
          </a:xfrm>
          <a:prstGeom prst="rect">
            <a:avLst/>
          </a:prstGeom>
          <a:solidFill>
            <a:srgbClr val="131313">
              <a:alpha val="14000"/>
            </a:srgbClr>
          </a:solidFill>
          <a:ln/>
        </p:spPr>
      </p:sp>
      <p:sp>
        <p:nvSpPr>
          <p:cNvPr id="12" name="Text 9"/>
          <p:cNvSpPr/>
          <p:nvPr/>
        </p:nvSpPr>
        <p:spPr>
          <a:xfrm>
            <a:off x="8229600" y="2638425"/>
            <a:ext cx="9547479"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Ascent definition and components · areas of specialization · feature-development contributions · technical review procedures</a:t>
            </a:r>
            <a:endParaRPr lang="en-US" sz="1800" dirty="0"/>
          </a:p>
        </p:txBody>
      </p:sp>
      <p:sp>
        <p:nvSpPr>
          <p:cNvPr id="13" name="Shape 10"/>
          <p:cNvSpPr/>
          <p:nvPr/>
        </p:nvSpPr>
        <p:spPr>
          <a:xfrm>
            <a:off x="800100" y="4476750"/>
            <a:ext cx="7048500" cy="9525"/>
          </a:xfrm>
          <a:prstGeom prst="rect">
            <a:avLst/>
          </a:prstGeom>
          <a:solidFill>
            <a:srgbClr val="131313">
              <a:alpha val="14000"/>
            </a:srgbClr>
          </a:solidFill>
          <a:ln/>
        </p:spPr>
      </p:sp>
      <p:sp>
        <p:nvSpPr>
          <p:cNvPr id="14" name="Text 11"/>
          <p:cNvSpPr/>
          <p:nvPr/>
        </p:nvSpPr>
        <p:spPr>
          <a:xfrm>
            <a:off x="800100" y="3657600"/>
            <a:ext cx="6878955"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TA Digital Ascent Offering</a:t>
            </a:r>
            <a:endParaRPr lang="en-US" sz="1800" dirty="0"/>
          </a:p>
        </p:txBody>
      </p:sp>
      <p:sp>
        <p:nvSpPr>
          <p:cNvPr id="15" name="Shape 12"/>
          <p:cNvSpPr/>
          <p:nvPr/>
        </p:nvSpPr>
        <p:spPr>
          <a:xfrm>
            <a:off x="7848600" y="4476750"/>
            <a:ext cx="9639300" cy="9525"/>
          </a:xfrm>
          <a:prstGeom prst="rect">
            <a:avLst/>
          </a:prstGeom>
          <a:solidFill>
            <a:srgbClr val="131313">
              <a:alpha val="14000"/>
            </a:srgbClr>
          </a:solidFill>
          <a:ln/>
        </p:spPr>
      </p:sp>
      <p:sp>
        <p:nvSpPr>
          <p:cNvPr id="16" name="Text 13"/>
          <p:cNvSpPr/>
          <p:nvPr/>
        </p:nvSpPr>
        <p:spPr>
          <a:xfrm>
            <a:off x="8229600" y="3657600"/>
            <a:ext cx="9547479"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Commercial packaging · technical scope · implementation duration · staffing model · delivery phasing</a:t>
            </a:r>
            <a:endParaRPr lang="en-US" sz="1800" dirty="0"/>
          </a:p>
        </p:txBody>
      </p:sp>
      <p:sp>
        <p:nvSpPr>
          <p:cNvPr id="17" name="Shape 14"/>
          <p:cNvSpPr/>
          <p:nvPr/>
        </p:nvSpPr>
        <p:spPr>
          <a:xfrm>
            <a:off x="800100" y="5181600"/>
            <a:ext cx="7048500" cy="9525"/>
          </a:xfrm>
          <a:prstGeom prst="rect">
            <a:avLst/>
          </a:prstGeom>
          <a:solidFill>
            <a:srgbClr val="131313">
              <a:alpha val="14000"/>
            </a:srgbClr>
          </a:solidFill>
          <a:ln/>
        </p:spPr>
      </p:sp>
      <p:sp>
        <p:nvSpPr>
          <p:cNvPr id="18" name="Text 15"/>
          <p:cNvSpPr/>
          <p:nvPr/>
        </p:nvSpPr>
        <p:spPr>
          <a:xfrm>
            <a:off x="800100" y="4676775"/>
            <a:ext cx="687895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Adobe Ascent B2B and B2C Offering</a:t>
            </a:r>
            <a:endParaRPr lang="en-US" sz="1800" dirty="0"/>
          </a:p>
        </p:txBody>
      </p:sp>
      <p:sp>
        <p:nvSpPr>
          <p:cNvPr id="19" name="Shape 16"/>
          <p:cNvSpPr/>
          <p:nvPr/>
        </p:nvSpPr>
        <p:spPr>
          <a:xfrm>
            <a:off x="7848600" y="5181600"/>
            <a:ext cx="9639300" cy="9525"/>
          </a:xfrm>
          <a:prstGeom prst="rect">
            <a:avLst/>
          </a:prstGeom>
          <a:solidFill>
            <a:srgbClr val="131313">
              <a:alpha val="14000"/>
            </a:srgbClr>
          </a:solidFill>
          <a:ln/>
        </p:spPr>
      </p:sp>
      <p:sp>
        <p:nvSpPr>
          <p:cNvPr id="20" name="Text 17"/>
          <p:cNvSpPr/>
          <p:nvPr/>
        </p:nvSpPr>
        <p:spPr>
          <a:xfrm>
            <a:off x="8229600" y="4676775"/>
            <a:ext cx="954747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Component architecture · packaged scope · journey and measurement design</a:t>
            </a:r>
            <a:endParaRPr lang="en-US" sz="1800" dirty="0"/>
          </a:p>
        </p:txBody>
      </p:sp>
      <p:sp>
        <p:nvSpPr>
          <p:cNvPr id="21" name="Shape 18"/>
          <p:cNvSpPr/>
          <p:nvPr/>
        </p:nvSpPr>
        <p:spPr>
          <a:xfrm>
            <a:off x="800100" y="5886450"/>
            <a:ext cx="7048500" cy="9525"/>
          </a:xfrm>
          <a:prstGeom prst="rect">
            <a:avLst/>
          </a:prstGeom>
          <a:solidFill>
            <a:srgbClr val="131313">
              <a:alpha val="14000"/>
            </a:srgbClr>
          </a:solidFill>
          <a:ln/>
        </p:spPr>
      </p:sp>
      <p:sp>
        <p:nvSpPr>
          <p:cNvPr id="22" name="Text 19"/>
          <p:cNvSpPr/>
          <p:nvPr/>
        </p:nvSpPr>
        <p:spPr>
          <a:xfrm>
            <a:off x="800100" y="5381625"/>
            <a:ext cx="687895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Data Practice Materials</a:t>
            </a:r>
            <a:endParaRPr lang="en-US" sz="1800" dirty="0"/>
          </a:p>
        </p:txBody>
      </p:sp>
      <p:sp>
        <p:nvSpPr>
          <p:cNvPr id="23" name="Shape 20"/>
          <p:cNvSpPr/>
          <p:nvPr/>
        </p:nvSpPr>
        <p:spPr>
          <a:xfrm>
            <a:off x="7848600" y="5886450"/>
            <a:ext cx="9639300" cy="9525"/>
          </a:xfrm>
          <a:prstGeom prst="rect">
            <a:avLst/>
          </a:prstGeom>
          <a:solidFill>
            <a:srgbClr val="131313">
              <a:alpha val="14000"/>
            </a:srgbClr>
          </a:solidFill>
          <a:ln/>
        </p:spPr>
      </p:sp>
      <p:sp>
        <p:nvSpPr>
          <p:cNvPr id="24" name="Text 21"/>
          <p:cNvSpPr/>
          <p:nvPr/>
        </p:nvSpPr>
        <p:spPr>
          <a:xfrm>
            <a:off x="8229600" y="5381625"/>
            <a:ext cx="954747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Practice structure · capability taxonomy · technology stack · initiative ownership</a:t>
            </a:r>
            <a:endParaRPr lang="en-US" sz="1800" dirty="0"/>
          </a:p>
        </p:txBody>
      </p:sp>
      <p:sp>
        <p:nvSpPr>
          <p:cNvPr id="25" name="Shape 22"/>
          <p:cNvSpPr/>
          <p:nvPr/>
        </p:nvSpPr>
        <p:spPr>
          <a:xfrm>
            <a:off x="800100" y="6591300"/>
            <a:ext cx="7048500" cy="9525"/>
          </a:xfrm>
          <a:prstGeom prst="rect">
            <a:avLst/>
          </a:prstGeom>
          <a:solidFill>
            <a:srgbClr val="131313">
              <a:alpha val="14000"/>
            </a:srgbClr>
          </a:solidFill>
          <a:ln/>
        </p:spPr>
      </p:sp>
      <p:sp>
        <p:nvSpPr>
          <p:cNvPr id="26" name="Text 23"/>
          <p:cNvSpPr/>
          <p:nvPr/>
        </p:nvSpPr>
        <p:spPr>
          <a:xfrm>
            <a:off x="800100" y="6086475"/>
            <a:ext cx="687895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State of South Carolina Ascent Proposal</a:t>
            </a:r>
            <a:endParaRPr lang="en-US" sz="1800" dirty="0"/>
          </a:p>
        </p:txBody>
      </p:sp>
      <p:sp>
        <p:nvSpPr>
          <p:cNvPr id="27" name="Shape 24"/>
          <p:cNvSpPr/>
          <p:nvPr/>
        </p:nvSpPr>
        <p:spPr>
          <a:xfrm>
            <a:off x="7848600" y="6591300"/>
            <a:ext cx="9639300" cy="9525"/>
          </a:xfrm>
          <a:prstGeom prst="rect">
            <a:avLst/>
          </a:prstGeom>
          <a:solidFill>
            <a:srgbClr val="131313">
              <a:alpha val="14000"/>
            </a:srgbClr>
          </a:solidFill>
          <a:ln/>
        </p:spPr>
      </p:sp>
      <p:sp>
        <p:nvSpPr>
          <p:cNvPr id="28" name="Text 25"/>
          <p:cNvSpPr/>
          <p:nvPr/>
        </p:nvSpPr>
        <p:spPr>
          <a:xfrm>
            <a:off x="8229600" y="6086475"/>
            <a:ext cx="9547479"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Ascent as a commercially deployed offering with defined scope, duration and staffing</a:t>
            </a:r>
            <a:endParaRPr lang="en-US" sz="1800" dirty="0"/>
          </a:p>
        </p:txBody>
      </p:sp>
      <p:sp>
        <p:nvSpPr>
          <p:cNvPr id="29" name="Shape 26"/>
          <p:cNvSpPr/>
          <p:nvPr/>
        </p:nvSpPr>
        <p:spPr>
          <a:xfrm>
            <a:off x="800100" y="7610475"/>
            <a:ext cx="7048500" cy="9525"/>
          </a:xfrm>
          <a:prstGeom prst="rect">
            <a:avLst/>
          </a:prstGeom>
          <a:solidFill>
            <a:srgbClr val="131313">
              <a:alpha val="14000"/>
            </a:srgbClr>
          </a:solidFill>
          <a:ln/>
        </p:spPr>
      </p:sp>
      <p:sp>
        <p:nvSpPr>
          <p:cNvPr id="30" name="Text 27"/>
          <p:cNvSpPr/>
          <p:nvPr/>
        </p:nvSpPr>
        <p:spPr>
          <a:xfrm>
            <a:off x="800100" y="6791325"/>
            <a:ext cx="6878955"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Adobe partner announcements</a:t>
            </a:r>
            <a:endParaRPr lang="en-US" sz="1800" dirty="0"/>
          </a:p>
        </p:txBody>
      </p:sp>
      <p:sp>
        <p:nvSpPr>
          <p:cNvPr id="31" name="Shape 28"/>
          <p:cNvSpPr/>
          <p:nvPr/>
        </p:nvSpPr>
        <p:spPr>
          <a:xfrm>
            <a:off x="7848600" y="7610475"/>
            <a:ext cx="9639300" cy="9525"/>
          </a:xfrm>
          <a:prstGeom prst="rect">
            <a:avLst/>
          </a:prstGeom>
          <a:solidFill>
            <a:srgbClr val="131313">
              <a:alpha val="14000"/>
            </a:srgbClr>
          </a:solidFill>
          <a:ln/>
        </p:spPr>
      </p:sp>
      <p:sp>
        <p:nvSpPr>
          <p:cNvPr id="32" name="Text 29"/>
          <p:cNvSpPr/>
          <p:nvPr/>
        </p:nvSpPr>
        <p:spPr>
          <a:xfrm>
            <a:off x="8229600" y="6791325"/>
            <a:ext cx="9547479"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Adobe Accredited Partner Solution status · technical verification by Adobe · Adobe Summit showcase</a:t>
            </a:r>
            <a:endParaRPr lang="en-US" sz="1800" dirty="0"/>
          </a:p>
        </p:txBody>
      </p:sp>
      <p:sp>
        <p:nvSpPr>
          <p:cNvPr id="33" name="Shape 30"/>
          <p:cNvSpPr/>
          <p:nvPr/>
        </p:nvSpPr>
        <p:spPr>
          <a:xfrm>
            <a:off x="800100" y="8629650"/>
            <a:ext cx="7048500" cy="9525"/>
          </a:xfrm>
          <a:prstGeom prst="rect">
            <a:avLst/>
          </a:prstGeom>
          <a:solidFill>
            <a:srgbClr val="131313">
              <a:alpha val="14000"/>
            </a:srgbClr>
          </a:solidFill>
          <a:ln/>
        </p:spPr>
      </p:sp>
      <p:sp>
        <p:nvSpPr>
          <p:cNvPr id="34" name="Text 31"/>
          <p:cNvSpPr/>
          <p:nvPr/>
        </p:nvSpPr>
        <p:spPr>
          <a:xfrm>
            <a:off x="800100" y="7810500"/>
            <a:ext cx="6878955"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131313"/>
                </a:solidFill>
                <a:latin typeface="Arial" pitchFamily="34" charset="0"/>
                <a:ea typeface="Arial" pitchFamily="34" charset="-122"/>
                <a:cs typeface="Arial" pitchFamily="34" charset="-120"/>
              </a:rPr>
              <a:t>Credera Adobe Ascent B2C materials</a:t>
            </a:r>
            <a:endParaRPr lang="en-US" sz="1800" dirty="0"/>
          </a:p>
        </p:txBody>
      </p:sp>
      <p:sp>
        <p:nvSpPr>
          <p:cNvPr id="35" name="Shape 32"/>
          <p:cNvSpPr/>
          <p:nvPr/>
        </p:nvSpPr>
        <p:spPr>
          <a:xfrm>
            <a:off x="7848600" y="8629650"/>
            <a:ext cx="9639300" cy="9525"/>
          </a:xfrm>
          <a:prstGeom prst="rect">
            <a:avLst/>
          </a:prstGeom>
          <a:solidFill>
            <a:srgbClr val="131313">
              <a:alpha val="14000"/>
            </a:srgbClr>
          </a:solidFill>
          <a:ln/>
        </p:spPr>
      </p:sp>
      <p:sp>
        <p:nvSpPr>
          <p:cNvPr id="36" name="Text 33"/>
          <p:cNvSpPr/>
          <p:nvPr/>
        </p:nvSpPr>
        <p:spPr>
          <a:xfrm>
            <a:off x="8229600" y="7810500"/>
            <a:ext cx="9547479" cy="6667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31313"/>
                </a:solidFill>
                <a:latin typeface="Arial" pitchFamily="34" charset="0"/>
                <a:ea typeface="Arial" pitchFamily="34" charset="-122"/>
                <a:cs typeface="Arial" pitchFamily="34" charset="-120"/>
              </a:rPr>
              <a:t>Continued evolution of Ascent onto Adobe Experience Platform, Customer Journey Analytics and Adobe Journey Optimizer</a:t>
            </a:r>
            <a:endParaRPr lang="en-US" sz="1800" dirty="0"/>
          </a:p>
        </p:txBody>
      </p:sp>
      <p:sp>
        <p:nvSpPr>
          <p:cNvPr id="37" name="Text 34"/>
          <p:cNvSpPr/>
          <p:nvPr/>
        </p:nvSpPr>
        <p:spPr>
          <a:xfrm>
            <a:off x="800100" y="9820275"/>
            <a:ext cx="2494955" cy="200025"/>
          </a:xfrm>
          <a:prstGeom prst="rect">
            <a:avLst/>
          </a:prstGeom>
          <a:noFill/>
          <a:ln/>
        </p:spPr>
        <p:txBody>
          <a:bodyPr wrap="square" lIns="25400" tIns="25400" rIns="25400" bIns="25400" rtlCol="0" anchor="t">
            <a:normAutofit/>
          </a:bodyPr>
          <a:lstStyle/>
          <a:p>
            <a:pPr algn="l" indent="0" marL="0">
              <a:buNone/>
            </a:pPr>
            <a:r>
              <a:rPr lang="en-US" sz="1125" spc="38" kern="0" dirty="0">
                <a:solidFill>
                  <a:srgbClr val="777777"/>
                </a:solidFill>
                <a:latin typeface="Arial" pitchFamily="34" charset="0"/>
                <a:ea typeface="Arial" pitchFamily="34" charset="-122"/>
                <a:cs typeface="Arial" pitchFamily="34" charset="-120"/>
              </a:rPr>
              <a:t>Navdeep Pandey · Data Architect</a:t>
            </a:r>
            <a:endParaRPr lang="en-US" sz="1125" dirty="0"/>
          </a:p>
        </p:txBody>
      </p:sp>
      <p:sp>
        <p:nvSpPr>
          <p:cNvPr id="38" name="Text 35"/>
          <p:cNvSpPr/>
          <p:nvPr/>
        </p:nvSpPr>
        <p:spPr>
          <a:xfrm>
            <a:off x="16335226" y="9820275"/>
            <a:ext cx="1238399" cy="200025"/>
          </a:xfrm>
          <a:prstGeom prst="rect">
            <a:avLst/>
          </a:prstGeom>
          <a:noFill/>
          <a:ln/>
        </p:spPr>
        <p:txBody>
          <a:bodyPr wrap="square" lIns="25400" tIns="25400" rIns="25400" bIns="25400" rtlCol="0" anchor="t">
            <a:normAutofit/>
          </a:bodyPr>
          <a:lstStyle/>
          <a:p>
            <a:pPr algn="l" indent="0" marL="0">
              <a:buNone/>
            </a:pPr>
            <a:r>
              <a:rPr lang="en-US" sz="1125" spc="75" kern="0" dirty="0">
                <a:solidFill>
                  <a:srgbClr val="777777"/>
                </a:solidFill>
                <a:latin typeface="Arial" pitchFamily="34" charset="0"/>
                <a:ea typeface="Arial" pitchFamily="34" charset="-122"/>
                <a:cs typeface="Arial" pitchFamily="34" charset="-120"/>
              </a:rPr>
              <a:t>CONFIDENTIAL</a:t>
            </a:r>
            <a:endParaRPr lang="en-US" sz="1125" dirty="0"/>
          </a:p>
        </p:txBody>
      </p:sp>
      <p:sp>
        <p:nvSpPr>
          <p:cNvPr id="39" name="Text 36"/>
          <p:cNvSpPr/>
          <p:nvPr/>
        </p:nvSpPr>
        <p:spPr>
          <a:xfrm>
            <a:off x="17786152" y="9820275"/>
            <a:ext cx="23514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777777"/>
                </a:solidFill>
                <a:latin typeface="Arial" pitchFamily="34" charset="0"/>
                <a:ea typeface="Arial" pitchFamily="34" charset="-122"/>
                <a:cs typeface="Arial" pitchFamily="34" charset="-120"/>
              </a:rPr>
              <a:t>63</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2026-08-09T21:17:05Z</dcterms:created>
  <dcterms:modified xsi:type="dcterms:W3CDTF">2026-08-09T21:17:05Z</dcterms:modified>
</cp:coreProperties>
</file>